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4494e012-fe95-aa49-a71e-7abb30476596}">
          <p14:sldIdLst>
            <p14:sldId id="256"/>
            <p14:sldId id="257"/>
            <p14:sldId id="258"/>
            <p14:sldId id="259"/>
            <p14:sldId id="260"/>
          </p14:sldIdLst>
        </p14:section>
        <p14:section name="Desafíos" id="{4f445a1f-64f4-64d7-26ea-2e397fbc8787}">
          <p14:sldIdLst>
            <p14:sldId id="261"/>
            <p14:sldId id="262"/>
          </p14:sldIdLst>
        </p14:section>
        <p14:section name="Escenarios y meta" id="{45d7f877-e6b4-95f3-bbd9-3393ef7166cd}">
          <p14:sldIdLst>
            <p14:sldId id="263"/>
            <p14:sldId id="264"/>
          </p14:sldIdLst>
        </p14:section>
        <p14:section name="Plan y recomendación" id="{1d41c62d-710a-84ed-599a-3095b31a3d53}">
          <p14:sldIdLst>
            <p14:sldId id="265"/>
            <p14:sldId id="266"/>
            <p14:sldId id="267"/>
            <p14:sldId id="268"/>
          </p14:sldIdLst>
        </p14:section>
        <p14:section name="Anexo" id="{41f2cca8-bbb9-305a-cf0a-f94a11cfe9bc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8731</c:v>
                </c:pt>
                <c:pt idx="1">
                  <c:v>38798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Electores por ciudad (2024)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Electores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Philadelphia</c:v>
                  </c:pt>
                  <c:pt idx="1">
                    <c:v>Reading</c:v>
                  </c:pt>
                  <c:pt idx="2">
                    <c:v>Allentown</c:v>
                  </c:pt>
                  <c:pt idx="3">
                    <c:v>Hazleton</c:v>
                  </c:pt>
                  <c:pt idx="4">
                    <c:v>Resto (9 ciudades)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16237</c:v>
                </c:pt>
                <c:pt idx="1">
                  <c:v>8368</c:v>
                </c:pt>
                <c:pt idx="2">
                  <c:v>8183</c:v>
                </c:pt>
                <c:pt idx="3">
                  <c:v>6520</c:v>
                </c:pt>
                <c:pt idx="4">
                  <c:v>8221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registrados en Pennsylvania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INDEX, dic. 2022</c:v>
                  </c:pt>
                  <c:pt idx="1">
                    <c:v>INDEX, último informe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Votos PRM en la seccional (con 60 % de apoyo)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 PRM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PRM 2024*</c:v>
                  </c:pt>
                  <c:pt idx="1">
                    <c:v>Meta 2028 (+10 %)</c:v>
                  </c:pt>
                  <c:pt idx="2">
                    <c:v>Adverso</c:v>
                  </c:pt>
                  <c:pt idx="3">
                    <c:v>Inercial</c:v>
                  </c:pt>
                  <c:pt idx="4">
                    <c:v>Realista (abst. 78 %)</c:v>
                  </c:pt>
                  <c:pt idx="5">
                    <c:v>Favorable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5239</c:v>
                </c:pt>
                <c:pt idx="1">
                  <c:v>5763</c:v>
                </c:pt>
                <c:pt idx="2">
                  <c:v>3422</c:v>
                </c:pt>
                <c:pt idx="3">
                  <c:v>5247</c:v>
                </c:pt>
                <c:pt idx="4">
                  <c:v>6274</c:v>
                </c:pt>
                <c:pt idx="5">
                  <c:v>6930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13 ciudades de PA y Wilmington (DE). 47,529 electores en 84 mesas y 18 recintos (documento de apoyo de la seccional; coincide con los 84 colegios del CAD y con el corte preliminar JCE de 47,604). Votaron 8,731 (dato CAD; confirmar en la Relación de votación JCE, OCLEE 614). Participación 18.4 %.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para quien solo lea una. Problema: participación de 18.4 % (8,731 de 47,529) y riesgo de la nueva cédula. Plan: 8 zonas, 400 líderes con 10 personas cada uno (4,000 personas). Meta: superar en al menos 10 % los votos estimados del PRM en 2024 (unos 5,239 → 5,763). Decisión: aprobar, nombrar coordinadores e iniciar en noviembre.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Concentrar el esfuerzo solo en la ciudad deja fuera al 66 % del padrón. Reading suma 4 recintos (La Senda I, II, III y Asociación de Pennsylvania). Allentown concentra 14 mesas en Castle of Events. Hazleton, 11 mesas en el Community Center Integration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del este de Pennsylvania con las 13 ciudades de la seccional (12 en Pennsylvania y Wilmington, Delaware). El recuadro muestra la ubicación dentro del estado. Zonas: 1 Philadelphia Noreste, 2 Philadelphia Kensington, 3 Berks (Reading), 4 Lehigh Valley (Allentown), 5 Hazleton, 6 Wilkes-Barre y Scranton, 7 Centro-Sur (Harrisburg, Lancaster, York y Lebanon), 8 Delaware (Wilmington). Philadelphia, Reading y Allentown (zonas 1 a 4) suman 32,788 electores, el 69 % del padrón. Líderes: red de 400 líderes de 10 personas, repartida según los electores.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último informe del INDEX reporta 227,647 (+36,553 en el último año, +19.1 %, el mayor aumento absoluto de todos los estados).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Potencial: 47,529 inscritos son el 21 % de los 227,647 dominicanos que registra el INDEX en el estado (la cifra del INDEX incluye a menores de edad y a personas sin cédula, por lo que no todos pueden votar, pero muestra el tamaño del potencial).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Desafección: la abstención en el exterior pasó de 51 % (2016) a 81 % (2024); el estudio IIDH/CAPEL para la JCE analiza desafección, desinformación y logística. Nueva cédula: según la JCE, quien no renueve no podrá votar; en el exterior es por cita y culmina en enero de 2028. Centros: Philadelphia (1500 JFK Blvd, 2.º piso) y Consulado de Allentown (1710 Union Blvd). Dispersión: Reading, Noreste y Centro-Sur suman unos 22,100 electores a 40 millas o más de un centro (aproximado).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cifra pública de cédulas renovadas en Pennsylvania; a nivel nacional la JCE reporta 4,009,576 entregadas (45.9 % de 8,730,372) al 13 de octubre de 2026. Pedir el dato a la JCE y a los consulados de Filadelfia y Allentown y medirlo en la red de líderes. Escenarios de habilitación: proyección propia sobre el padrón de la seccional. La JCE ya hizo operativos de empadronamiento en Lancaster y Lebanon en 2023; la entrega en el exterior se ampliará a más locales cuando los consulados obtengan autorización del Departamento de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publicado un resultado presidencial o del PRM específico de la OCLEE Philadelphia. Referencias: en la Circunscripción 1, el PRM tenía entre 59.75 % y 60.22 % de los votos de diputados en los conteos preliminares (Diario Libre; Hoy, con 45 % de colegios); a nivel nacional Abinader obtuvo 57.44 %. Se usa 60 % sobre los 8,731 votos emitidos: unos 5,239 votos PRM en 2024 (estimado; los votos válidos son algo menos que los emitidos). Meta mínima 2028: +10 % = 5,763. Escenarios con 60 % de apoyo: Adverso 5,703 votos totales → 3,422; Inercial 8,745 → 5,247 (no alcanza); Realista (abstención 78 %) 10,456 → 6,274 (+20 %); Favorable 11,550 → 6,930 (+32 %). Dos caminos para el +10 %: 9,605 votos totales (participación 20.2 %) con 60 %, o 66 % de apoyo con 8,731 votantes. Red: 4,000 personas × 85 % = 3,400 votos, el 59 % de 5,763. Tres niveles: piso igualar 2024 (≈5,240), meta +10 % (≈5,760), techo +20 % (≈6,270). Desgaste: un tercer período consecutivo del PRM sin Abinader en la boleta y el malestar social que muestran las encuestas hacen prudente suponer menos apoyo; con 55 % de apoyo la meta exige 10,478 votos totales (22.0 % de participación; 19.7 % si el padrón crece 12 %); con 50 %, 11,526 votos (24.3 %; 21.7 % con padrón +12 %). Supuestos de los escenarios: Adverso, 60 % renueva la cédula y vota el 20 % de los habilitados; Inercial, 80 % y 23 %; Realista, abstención del 78 % sobre el padrón; Favorable, 90 % y 27 %. Sustituir el estimado por el resultado real de las actas de la seccional.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 de organización: una red de 4,000 personas comprometidas a votar, con 400 líderes de 10 personas cada uno. Es equivalente a la meta de la carpeta CAD (362 comités de 11 = 3,982 personas, 40 % de los votos de 2024 por colegio con redondeo), pero más fácil de explicar. Si vota el 85 % de la red, son unos 3,400 votos, el 59 % de la meta de 5,760. Los líderes se reparten por zona en proporción a los electores. La agrupación en 8 zonas es una propuesta: ajustar si la seccional usa otra división.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Organigrama operativo propuesto. La dirección ejecutiva coordina con la Seccional PRM Pennsylvania y conduce 5 áreas de apoyo: Asuntos Electorales (cédula, padrón, renovación y traslado de recién llegados), Tecnología y Datos (base de datos, registros únicos y tablero), Comunicaciones (agenda de la diáspora), Logística y Movilización (transporte, delegados y día de la elección) y Finanzas y Legal (recursos y cumplimiento de las leyes 20-23 y 33-18). Cada una de las 8 zonas tiene un coordinador; los números son los líderes (de 10 personas cada uno) que necesita cada zona.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de arranque de 30 días con entregables verificables. Ritmo de la meta: 400 líderes en unas 13 semanas, unos 31 por semana; si en la semana 4 hay menos de 90 líderes, se reasignan recursos y se replanifica. Después siguen las 4 etapas hasta mayo de 2028. La fecha legal de primarias es el 3 de octubre de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Tablero: 4 indicadores con umbrales de semáforo, reportados por zona cada semana. Riesgos: cada uno con su mitigación y un área responsable del organigrama.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Votos 2024 por zona: estimados al repartir los 8,731 votos reales de la seccional en proporción a los electores; por eso la abstención aparece igual (81.6 %) en todas las zonas. Para medir la abstención real de cada zona hacen falta los votos por mesa: actas de los delegados del partido o la Relación de votación JCE (OCLEE 614). Meta realista: participación del 22 % (abstención 78 %), +1,725 votos (≈ 21 por mesa). Meta ambiciosa: 25 % (abstención 75 %), +3,151 votos (≈ 38 por mesa). Referencias: abstención en el exterior 51 % en 2016; Canadá 2024 con 29 % de participación.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r"/>
          <p:cNvSpPr txBox="1"/>
          <p:nvPr/>
        </p:nvSpPr>
        <p:spPr>
          <a:xfrm>
            <a:off x="548640" y="68580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Pennsylvania 2028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Preparado por Orlando Castillo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4"/>
                </a:solidFill>
              </a:rPr>
              <a:t>PROPUESTA PARA EL EQUIPO DE DAVID COLLADO · SECCIONAL PENNSYLVANIA</a:t>
            </a:r>
            <a:endParaRPr lang="en-US" sz="1300" dirty="0"/>
          </a:p>
        </p:txBody>
      </p:sp>
      <p:sp>
        <p:nvSpPr>
          <p:cNvPr id="4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47,529 electores, solo 8,731 votaron: 8 de cada 10 se quedaron en casa</a:t>
            </a:r>
            <a:endParaRPr lang="en-US" sz="3800" dirty="0"/>
          </a:p>
        </p:txBody>
      </p:sp>
      <p:graphicFrame>
        <p:nvGraphicFramePr>
          <p:cNvPr id="5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18.4 %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7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mesas electorales</a:t>
            </a:r>
            <a:endParaRPr lang="en-US" sz="3000" dirty="0"/>
          </a:p>
        </p:txBody>
      </p:sp>
      <p:sp>
        <p:nvSpPr>
          <p:cNvPr id="9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zonas de trabajo</a:t>
            </a:r>
            <a:endParaRPr lang="en-US" sz="3000" dirty="0"/>
          </a:p>
        </p:txBody>
      </p:sp>
      <p:sp>
        <p:nvSpPr>
          <p:cNvPr id="11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13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ciudades (PA y DE)</a:t>
            </a:r>
            <a:endParaRPr lang="en-US" sz="3000" dirty="0"/>
          </a:p>
        </p:txBody>
      </p:sp>
      <p:sp>
        <p:nvSpPr>
          <p:cNvPr id="13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38,798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padrón electoral, Seccional PRM Pennsylvania (2024) · Votos emitidos JCE 2024 (OCLEE Philadelphia)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Resumen: con 8 zonas y una red de 4,000 votantes podemos superar en 10 % al PRM de 2024</a:t>
            </a:r>
            <a:endParaRPr lang="en-US" sz="2800" dirty="0"/>
          </a:p>
        </p:txBody>
      </p:sp>
      <p:sp>
        <p:nvSpPr>
          <p:cNvPr id="3" name="Cifra 1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47,529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electores en 13 ciudades</a:t>
            </a:r>
            <a:endParaRPr lang="en-US" sz="3400" dirty="0"/>
          </a:p>
        </p:txBody>
      </p:sp>
      <p:sp>
        <p:nvSpPr>
          <p:cNvPr id="5" name="Cifra 2"/>
          <p:cNvSpPr/>
          <p:nvPr/>
        </p:nvSpPr>
        <p:spPr>
          <a:xfrm>
            <a:off x="548640" y="3044952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136392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18.4 %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votó en 2024</a:t>
            </a:r>
            <a:endParaRPr lang="en-US" sz="3400" dirty="0"/>
          </a:p>
        </p:txBody>
      </p:sp>
      <p:sp>
        <p:nvSpPr>
          <p:cNvPr id="7" name="Cifra 3"/>
          <p:cNvSpPr/>
          <p:nvPr/>
        </p:nvSpPr>
        <p:spPr>
          <a:xfrm>
            <a:off x="548640" y="4489704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4581144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227,647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dominicanos en PA (INDEX)</a:t>
            </a:r>
            <a:endParaRPr lang="en-US" sz="3400" dirty="0"/>
          </a:p>
        </p:txBody>
      </p:sp>
      <p:sp>
        <p:nvSpPr>
          <p:cNvPr id="9" name="El problema"/>
          <p:cNvSpPr/>
          <p:nvPr/>
        </p:nvSpPr>
        <p:spPr>
          <a:xfrm>
            <a:off x="4160520" y="1600200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89120" y="1600200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problema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600200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de cada 10 inscritos no votaron y la nueva cédula puede dejar fuera a miles de electores más.</a:t>
            </a:r>
            <a:endParaRPr lang="en-US" sz="1500" dirty="0"/>
          </a:p>
        </p:txBody>
      </p:sp>
      <p:sp>
        <p:nvSpPr>
          <p:cNvPr id="12" name="El plan"/>
          <p:cNvSpPr/>
          <p:nvPr/>
        </p:nvSpPr>
        <p:spPr>
          <a:xfrm>
            <a:off x="4160520" y="2670048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89120" y="2670048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plan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670048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zonas, 8 coordinadores y 400 líderes con 10 personas cada uno. La cédula y el traslado de los recién llegados son la puerta de entrada.</a:t>
            </a:r>
            <a:endParaRPr lang="en-US" sz="1500" dirty="0"/>
          </a:p>
        </p:txBody>
      </p:sp>
      <p:sp>
        <p:nvSpPr>
          <p:cNvPr id="15" name="La meta"/>
          <p:cNvSpPr/>
          <p:nvPr/>
        </p:nvSpPr>
        <p:spPr>
          <a:xfrm>
            <a:off x="4160520" y="3739896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373989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La meta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739896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5,760 votos para David Collado y el PRM (+10 % sobre 2024). Aun con desgaste, se logra con un 22 % de participación.</a:t>
            </a:r>
            <a:endParaRPr lang="en-US" sz="1500" dirty="0"/>
          </a:p>
        </p:txBody>
      </p:sp>
      <p:sp>
        <p:nvSpPr>
          <p:cNvPr id="18" name="La decisión"/>
          <p:cNvSpPr/>
          <p:nvPr/>
        </p:nvSpPr>
        <p:spPr>
          <a:xfrm>
            <a:off x="4160520" y="4809744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9120" y="4809744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La decisión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4809744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Aprobar el plan, nombrar a los 8 coordinadores de zona e iniciar en noviembre.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Seccional PRM Pennsylvania (padrón electoral); JCE 2024; INDEX (Registro Sociodemográfico). Meta PRM: estimación propia, ver diapositiva de la meta.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El 66 % del electorado vive fuera de Philadelphia: Reading, Allentown y Hazleton deciden la seccional</a:t>
            </a:r>
            <a:endParaRPr lang="en-US" sz="2800" dirty="0"/>
          </a:p>
        </p:txBody>
      </p:sp>
      <p:graphicFrame>
        <p:nvGraphicFramePr>
          <p:cNvPr id="3" name="Electores por ciudad" descr=""/>
          <p:cNvGraphicFramePr/>
          <p:nvPr/>
        </p:nvGraphicFramePr>
        <p:xfrm>
          <a:off x="548640" y="160020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rjeta 1"/>
          <p:cNvSpPr/>
          <p:nvPr/>
        </p:nvSpPr>
        <p:spPr>
          <a:xfrm>
            <a:off x="7726680" y="1691640"/>
            <a:ext cx="39136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955280" y="180136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48.5 %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del padrón está en Reading, Allentown y Hazleton: 23,071 electores, más que toda la ciudad de Philadelphia</a:t>
            </a:r>
            <a:endParaRPr lang="en-US" sz="3600" dirty="0"/>
          </a:p>
        </p:txBody>
      </p:sp>
      <p:sp>
        <p:nvSpPr>
          <p:cNvPr id="6" name="Tarjeta 2"/>
          <p:cNvSpPr/>
          <p:nvPr/>
        </p:nvSpPr>
        <p:spPr>
          <a:xfrm>
            <a:off x="7726680" y="3794760"/>
            <a:ext cx="39136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55280" y="390448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25 mesas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concentradas en solo 2 ciudades: Allentown (14) y Hazleton (11). Máxima cobertura con mínima estructura</a:t>
            </a:r>
            <a:endParaRPr lang="en-US" sz="3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Seccional PRM Pennsylvania, padrón electoral 2024 (84 mesas, 47,529 electores, 13 ciudades)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Mapa territorial: 8 zonas en el este de Pennsylvania; 4 de ellas concentran el 69 % del padrón</a:t>
            </a:r>
            <a:endParaRPr lang="en-US" sz="2800" dirty="0"/>
          </a:p>
        </p:txBody>
      </p:sp>
      <p:pic>
        <p:nvPicPr>
          <p:cNvPr id="3" name="Mapa base" descr="/tmp/claude-0/-home-user-pdf-toolkit/a67bee5e-d5f3-51b1-8612-3e4feb352169/scratchpad/img/mapa_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949440" cy="4297680"/>
          </a:xfrm>
          <a:prstGeom prst="rect">
            <a:avLst/>
          </a:prstGeom>
        </p:spPr>
      </p:pic>
      <p:sp>
        <p:nvSpPr>
          <p:cNvPr id="4" name="Ciudad Philadelphia"/>
          <p:cNvSpPr/>
          <p:nvPr/>
        </p:nvSpPr>
        <p:spPr>
          <a:xfrm>
            <a:off x="5101338" y="4862814"/>
            <a:ext cx="566928" cy="566928"/>
          </a:xfrm>
          <a:prstGeom prst="ellipse">
            <a:avLst/>
          </a:prstGeom>
          <a:solidFill>
            <a:schemeClr val="tx2">
              <a:alpha val="8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723130" y="503197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Philadelphia</a:t>
            </a:r>
            <a:endParaRPr lang="en-US" sz="1100" dirty="0"/>
          </a:p>
        </p:txBody>
      </p:sp>
      <p:sp>
        <p:nvSpPr>
          <p:cNvPr id="6" name="Ciudad Reading"/>
          <p:cNvSpPr/>
          <p:nvPr/>
        </p:nvSpPr>
        <p:spPr>
          <a:xfrm>
            <a:off x="3923602" y="4110191"/>
            <a:ext cx="437947" cy="437947"/>
          </a:xfrm>
          <a:prstGeom prst="ellipse">
            <a:avLst/>
          </a:prstGeom>
          <a:solidFill>
            <a:schemeClr val="tx2">
              <a:alpha val="8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416414" y="4214865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Reading</a:t>
            </a:r>
            <a:endParaRPr lang="en-US" sz="1100" dirty="0"/>
          </a:p>
        </p:txBody>
      </p:sp>
      <p:sp>
        <p:nvSpPr>
          <p:cNvPr id="8" name="Ciudad Allentown"/>
          <p:cNvSpPr/>
          <p:nvPr/>
        </p:nvSpPr>
        <p:spPr>
          <a:xfrm>
            <a:off x="4668283" y="3540281"/>
            <a:ext cx="434299" cy="434299"/>
          </a:xfrm>
          <a:prstGeom prst="ellipse">
            <a:avLst/>
          </a:prstGeom>
          <a:solidFill>
            <a:schemeClr val="tx2">
              <a:alpha val="8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157446" y="364313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Allentown</a:t>
            </a:r>
            <a:endParaRPr lang="en-US" sz="1100" dirty="0"/>
          </a:p>
        </p:txBody>
      </p:sp>
      <p:sp>
        <p:nvSpPr>
          <p:cNvPr id="10" name="Ciudad Hazleton"/>
          <p:cNvSpPr/>
          <p:nvPr/>
        </p:nvSpPr>
        <p:spPr>
          <a:xfrm>
            <a:off x="3865060" y="2790754"/>
            <a:ext cx="399447" cy="399447"/>
          </a:xfrm>
          <a:prstGeom prst="ellipse">
            <a:avLst/>
          </a:prstGeom>
          <a:solidFill>
            <a:schemeClr val="tx2">
              <a:alpha val="8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319371" y="2876177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Hazleton</a:t>
            </a:r>
            <a:endParaRPr lang="en-US" sz="1100" dirty="0"/>
          </a:p>
        </p:txBody>
      </p:sp>
      <p:sp>
        <p:nvSpPr>
          <p:cNvPr id="12" name="Ciudad Wilkes-Barre"/>
          <p:cNvSpPr/>
          <p:nvPr/>
        </p:nvSpPr>
        <p:spPr>
          <a:xfrm>
            <a:off x="4096924" y="2248230"/>
            <a:ext cx="240037" cy="240037"/>
          </a:xfrm>
          <a:prstGeom prst="ellipse">
            <a:avLst/>
          </a:prstGeom>
          <a:solidFill>
            <a:schemeClr val="tx2">
              <a:alpha val="8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036220" y="2253949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Wilkes-Barre</a:t>
            </a:r>
            <a:endParaRPr lang="en-US" sz="1100" dirty="0"/>
          </a:p>
        </p:txBody>
      </p:sp>
      <p:sp>
        <p:nvSpPr>
          <p:cNvPr id="14" name="Ciudad Scranton"/>
          <p:cNvSpPr/>
          <p:nvPr/>
        </p:nvSpPr>
        <p:spPr>
          <a:xfrm>
            <a:off x="4481102" y="1921203"/>
            <a:ext cx="185672" cy="185672"/>
          </a:xfrm>
          <a:prstGeom prst="ellipse">
            <a:avLst/>
          </a:prstGeom>
          <a:solidFill>
            <a:schemeClr val="tx2">
              <a:alpha val="8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721638" y="189973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Scranton</a:t>
            </a:r>
            <a:endParaRPr lang="en-US" sz="1100" dirty="0"/>
          </a:p>
        </p:txBody>
      </p:sp>
      <p:sp>
        <p:nvSpPr>
          <p:cNvPr id="16" name="Ciudad Harrisburg"/>
          <p:cNvSpPr/>
          <p:nvPr/>
        </p:nvSpPr>
        <p:spPr>
          <a:xfrm>
            <a:off x="2449100" y="4334430"/>
            <a:ext cx="256354" cy="256354"/>
          </a:xfrm>
          <a:prstGeom prst="ellipse">
            <a:avLst/>
          </a:prstGeom>
          <a:solidFill>
            <a:schemeClr val="tx2">
              <a:alpha val="8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388396" y="4348307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Harrisburg</a:t>
            </a:r>
            <a:endParaRPr lang="en-US" sz="1100" dirty="0"/>
          </a:p>
        </p:txBody>
      </p:sp>
      <p:sp>
        <p:nvSpPr>
          <p:cNvPr id="18" name="Ciudad Lancaster"/>
          <p:cNvSpPr/>
          <p:nvPr/>
        </p:nvSpPr>
        <p:spPr>
          <a:xfrm>
            <a:off x="3394856" y="4834416"/>
            <a:ext cx="260552" cy="260552"/>
          </a:xfrm>
          <a:prstGeom prst="ellipse">
            <a:avLst/>
          </a:prstGeom>
          <a:solidFill>
            <a:schemeClr val="tx2">
              <a:alpha val="8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710273" y="4850392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Lancaster</a:t>
            </a:r>
            <a:endParaRPr lang="en-US" sz="1100" dirty="0"/>
          </a:p>
        </p:txBody>
      </p:sp>
      <p:sp>
        <p:nvSpPr>
          <p:cNvPr id="20" name="Ciudad York"/>
          <p:cNvSpPr/>
          <p:nvPr/>
        </p:nvSpPr>
        <p:spPr>
          <a:xfrm>
            <a:off x="2718955" y="5007373"/>
            <a:ext cx="235257" cy="235257"/>
          </a:xfrm>
          <a:prstGeom prst="ellipse">
            <a:avLst/>
          </a:prstGeom>
          <a:solidFill>
            <a:schemeClr val="tx2">
              <a:alpha val="8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333663" y="5270062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York</a:t>
            </a:r>
            <a:endParaRPr lang="en-US" sz="1100" dirty="0"/>
          </a:p>
        </p:txBody>
      </p:sp>
      <p:sp>
        <p:nvSpPr>
          <p:cNvPr id="22" name="Ciudad Lebanon"/>
          <p:cNvSpPr/>
          <p:nvPr/>
        </p:nvSpPr>
        <p:spPr>
          <a:xfrm>
            <a:off x="3247331" y="4212569"/>
            <a:ext cx="210512" cy="210512"/>
          </a:xfrm>
          <a:prstGeom prst="ellipse">
            <a:avLst/>
          </a:prstGeom>
          <a:solidFill>
            <a:schemeClr val="tx2">
              <a:alpha val="8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849667" y="3956537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Lebanon</a:t>
            </a:r>
            <a:endParaRPr lang="en-US" sz="1100" dirty="0"/>
          </a:p>
        </p:txBody>
      </p:sp>
      <p:sp>
        <p:nvSpPr>
          <p:cNvPr id="24" name="Ciudad Wilmington"/>
          <p:cNvSpPr/>
          <p:nvPr/>
        </p:nvSpPr>
        <p:spPr>
          <a:xfrm>
            <a:off x="4662173" y="5488075"/>
            <a:ext cx="223417" cy="223417"/>
          </a:xfrm>
          <a:prstGeom prst="ellipse">
            <a:avLst/>
          </a:prstGeom>
          <a:solidFill>
            <a:schemeClr val="tx2">
              <a:alpha val="8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940454" y="5485484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Wilmington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366514" y="4533630"/>
            <a:ext cx="310896" cy="31089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366514" y="453363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732274" y="4789662"/>
            <a:ext cx="310896" cy="31089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732274" y="478966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3575648" y="4036557"/>
            <a:ext cx="310896" cy="31089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575648" y="403655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4318504" y="3464822"/>
            <a:ext cx="310896" cy="31089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318504" y="34648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3497856" y="2743589"/>
            <a:ext cx="310896" cy="31089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3497856" y="2743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4464210" y="2304241"/>
            <a:ext cx="310896" cy="31089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464210" y="230424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2916936" y="4562856"/>
            <a:ext cx="310896" cy="31089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916936" y="4562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4234386" y="5398616"/>
            <a:ext cx="310896" cy="31089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4234386" y="53986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8275320" y="1554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Zona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744200" y="1554480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Líderes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818120" y="193852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781812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8275320" y="1847088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Philadelphia Noreste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9,649 electores · 20.3 %</a:t>
            </a:r>
            <a:endParaRPr lang="en-US" sz="1300" dirty="0"/>
          </a:p>
        </p:txBody>
      </p:sp>
      <p:sp>
        <p:nvSpPr>
          <p:cNvPr id="47" name="Text 44"/>
          <p:cNvSpPr txBox="1"/>
          <p:nvPr/>
        </p:nvSpPr>
        <p:spPr>
          <a:xfrm>
            <a:off x="10744200" y="184708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81</a:t>
            </a:r>
            <a:endParaRPr lang="en-US" sz="1800" dirty="0"/>
          </a:p>
        </p:txBody>
      </p:sp>
      <p:sp>
        <p:nvSpPr>
          <p:cNvPr id="48" name="Shape 45"/>
          <p:cNvSpPr/>
          <p:nvPr/>
        </p:nvSpPr>
        <p:spPr>
          <a:xfrm>
            <a:off x="7818120" y="244602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7818120" y="24460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8275320" y="2354580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Philadelphia Kensington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6,588 electores · 13.9 %</a:t>
            </a:r>
            <a:endParaRPr lang="en-US" sz="1300" dirty="0"/>
          </a:p>
        </p:txBody>
      </p:sp>
      <p:sp>
        <p:nvSpPr>
          <p:cNvPr id="51" name="Text 48"/>
          <p:cNvSpPr txBox="1"/>
          <p:nvPr/>
        </p:nvSpPr>
        <p:spPr>
          <a:xfrm>
            <a:off x="10744200" y="235458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52" name="Shape 49"/>
          <p:cNvSpPr/>
          <p:nvPr/>
        </p:nvSpPr>
        <p:spPr>
          <a:xfrm>
            <a:off x="7818120" y="295351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781812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8275320" y="2862072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Berks (Reading)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8,368 electores · 17.6 %</a:t>
            </a:r>
            <a:endParaRPr lang="en-US" sz="1300" dirty="0"/>
          </a:p>
        </p:txBody>
      </p:sp>
      <p:sp>
        <p:nvSpPr>
          <p:cNvPr id="55" name="Text 52"/>
          <p:cNvSpPr txBox="1"/>
          <p:nvPr/>
        </p:nvSpPr>
        <p:spPr>
          <a:xfrm>
            <a:off x="10744200" y="286207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70</a:t>
            </a:r>
            <a:endParaRPr lang="en-US" sz="1800" dirty="0"/>
          </a:p>
        </p:txBody>
      </p:sp>
      <p:sp>
        <p:nvSpPr>
          <p:cNvPr id="56" name="Shape 53"/>
          <p:cNvSpPr/>
          <p:nvPr/>
        </p:nvSpPr>
        <p:spPr>
          <a:xfrm>
            <a:off x="7818120" y="3461004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7818120" y="34610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8" name="Text 55"/>
          <p:cNvSpPr txBox="1"/>
          <p:nvPr/>
        </p:nvSpPr>
        <p:spPr>
          <a:xfrm>
            <a:off x="8275320" y="3369564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Lehigh Valley (Allentown)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8,183 electores · 17.2 %</a:t>
            </a:r>
            <a:endParaRPr lang="en-US" sz="1300" dirty="0"/>
          </a:p>
        </p:txBody>
      </p:sp>
      <p:sp>
        <p:nvSpPr>
          <p:cNvPr id="59" name="Text 56"/>
          <p:cNvSpPr txBox="1"/>
          <p:nvPr/>
        </p:nvSpPr>
        <p:spPr>
          <a:xfrm>
            <a:off x="10744200" y="336956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69</a:t>
            </a:r>
            <a:endParaRPr lang="en-US" sz="1800" dirty="0"/>
          </a:p>
        </p:txBody>
      </p:sp>
      <p:sp>
        <p:nvSpPr>
          <p:cNvPr id="60" name="Shape 57"/>
          <p:cNvSpPr/>
          <p:nvPr/>
        </p:nvSpPr>
        <p:spPr>
          <a:xfrm>
            <a:off x="7818120" y="39684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7818120" y="3968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62" name="Text 59"/>
          <p:cNvSpPr txBox="1"/>
          <p:nvPr/>
        </p:nvSpPr>
        <p:spPr>
          <a:xfrm>
            <a:off x="8275320" y="3877056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Hazleton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6,520 electores · 13.7 %</a:t>
            </a:r>
            <a:endParaRPr lang="en-US" sz="1300" dirty="0"/>
          </a:p>
        </p:txBody>
      </p:sp>
      <p:sp>
        <p:nvSpPr>
          <p:cNvPr id="63" name="Text 60"/>
          <p:cNvSpPr txBox="1"/>
          <p:nvPr/>
        </p:nvSpPr>
        <p:spPr>
          <a:xfrm>
            <a:off x="10744200" y="3877056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64" name="Shape 61"/>
          <p:cNvSpPr/>
          <p:nvPr/>
        </p:nvSpPr>
        <p:spPr>
          <a:xfrm>
            <a:off x="7818120" y="447598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7818120" y="4475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66" name="Text 63"/>
          <p:cNvSpPr txBox="1"/>
          <p:nvPr/>
        </p:nvSpPr>
        <p:spPr>
          <a:xfrm>
            <a:off x="8275320" y="4384548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Wilkes-Barre y Scranton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1,767 electores · 3.7 %</a:t>
            </a:r>
            <a:endParaRPr lang="en-US" sz="1300" dirty="0"/>
          </a:p>
        </p:txBody>
      </p:sp>
      <p:sp>
        <p:nvSpPr>
          <p:cNvPr id="67" name="Text 64"/>
          <p:cNvSpPr txBox="1"/>
          <p:nvPr/>
        </p:nvSpPr>
        <p:spPr>
          <a:xfrm>
            <a:off x="10744200" y="438454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15</a:t>
            </a:r>
            <a:endParaRPr lang="en-US" sz="1800" dirty="0"/>
          </a:p>
        </p:txBody>
      </p:sp>
      <p:sp>
        <p:nvSpPr>
          <p:cNvPr id="68" name="Shape 65"/>
          <p:cNvSpPr/>
          <p:nvPr/>
        </p:nvSpPr>
        <p:spPr>
          <a:xfrm>
            <a:off x="7818120" y="49834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7818120" y="4983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70" name="Text 67"/>
          <p:cNvSpPr txBox="1"/>
          <p:nvPr/>
        </p:nvSpPr>
        <p:spPr>
          <a:xfrm>
            <a:off x="8275320" y="4892040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Centro-Sur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5,450 electores · 11.5 %</a:t>
            </a:r>
            <a:endParaRPr lang="en-US" sz="1300" dirty="0"/>
          </a:p>
        </p:txBody>
      </p:sp>
      <p:sp>
        <p:nvSpPr>
          <p:cNvPr id="71" name="Text 68"/>
          <p:cNvSpPr txBox="1"/>
          <p:nvPr/>
        </p:nvSpPr>
        <p:spPr>
          <a:xfrm>
            <a:off x="10744200" y="489204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46</a:t>
            </a:r>
            <a:endParaRPr lang="en-US" sz="1800" dirty="0"/>
          </a:p>
        </p:txBody>
      </p:sp>
      <p:sp>
        <p:nvSpPr>
          <p:cNvPr id="72" name="Shape 69"/>
          <p:cNvSpPr/>
          <p:nvPr/>
        </p:nvSpPr>
        <p:spPr>
          <a:xfrm>
            <a:off x="7818120" y="549097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7818120" y="54909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74" name="Text 71"/>
          <p:cNvSpPr txBox="1"/>
          <p:nvPr/>
        </p:nvSpPr>
        <p:spPr>
          <a:xfrm>
            <a:off x="8275320" y="5399532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Delaware (Wilmington)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1,004 electores · 2.1 %</a:t>
            </a:r>
            <a:endParaRPr lang="en-US" sz="1300" dirty="0"/>
          </a:p>
        </p:txBody>
      </p:sp>
      <p:sp>
        <p:nvSpPr>
          <p:cNvPr id="75" name="Text 72"/>
          <p:cNvSpPr txBox="1"/>
          <p:nvPr/>
        </p:nvSpPr>
        <p:spPr>
          <a:xfrm>
            <a:off x="10744200" y="539953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9</a:t>
            </a:r>
            <a:endParaRPr lang="en-US" sz="1800" dirty="0"/>
          </a:p>
        </p:txBody>
      </p:sp>
      <p:sp>
        <p:nvSpPr>
          <p:cNvPr id="76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Electores: Seccional PRM Pennsylvania (2024). Tamaño del círculo según electores de cada ciudad. Zonas: agrupación propuesta. Cartografía: US Census (us-atlas).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Pennsylvania tiene 227,647 dominicanos y solo 47,529 están inscritos para votar aquí: el potencial es enorme</a:t>
            </a:r>
            <a:endParaRPr lang="en-US" sz="2800" dirty="0"/>
          </a:p>
        </p:txBody>
      </p:sp>
      <p:graphicFrame>
        <p:nvGraphicFramePr>
          <p:cNvPr id="3" name="Crecimiento poblacion" descr=""/>
          <p:cNvGraphicFramePr/>
          <p:nvPr/>
        </p:nvGraphicFramePr>
        <p:xfrm>
          <a:off x="548640" y="1600200"/>
          <a:ext cx="420624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Oportunidad 1"/>
          <p:cNvSpPr/>
          <p:nvPr/>
        </p:nvSpPr>
        <p:spPr>
          <a:xfrm>
            <a:off x="5074920" y="1600200"/>
            <a:ext cx="32461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257800" y="1673352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Solo 1 de cada 5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dominicanos del estado está inscrito para votar en la seccional (21 %). Y la comunidad creció un 26 % desde 2022</a:t>
            </a:r>
            <a:endParaRPr lang="en-US" sz="2200" dirty="0"/>
          </a:p>
        </p:txBody>
      </p:sp>
      <p:sp>
        <p:nvSpPr>
          <p:cNvPr id="6" name="Oportunidad 2"/>
          <p:cNvSpPr/>
          <p:nvPr/>
        </p:nvSpPr>
        <p:spPr>
          <a:xfrm>
            <a:off x="5074920" y="3017520"/>
            <a:ext cx="32461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257800" y="3090672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8" name="Dos tramites"/>
          <p:cNvSpPr/>
          <p:nvPr/>
        </p:nvSpPr>
        <p:spPr>
          <a:xfrm>
            <a:off x="5074920" y="4434840"/>
            <a:ext cx="3246120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57800" y="4498848"/>
            <a:ext cx="29260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Dos trámites, una sola cita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Cédula nueva + domicilio electoral en Pennsylvania. Aprovechar la renovación para hacer ambos (confirmar con la JCE).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641080" y="160020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Padrón de la seccional en 2028 (proyección)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41080" y="2011680"/>
          <a:ext cx="2999232" cy="914400"/>
        </p:xfrm>
        <a:graphic>
          <a:graphicData uri="http://schemas.openxmlformats.org/drawingml/2006/table">
            <a:tbl>
              <a:tblPr/>
              <a:tblGrid>
                <a:gridCol w="1764792"/>
                <a:gridCol w="12344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Escenario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2024 (real)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Conservador +5 %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49,905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Base +12 %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53,232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Alto +26 %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59,887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8641080" y="4251960"/>
            <a:ext cx="299923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Escenario Base: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unos 5,700 electores nuevos; con 22 % de participación, </a:t>
            </a:r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+1,250 votos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adicionales.</a:t>
            </a:r>
            <a:endParaRPr lang="en-US" sz="1400" dirty="0"/>
          </a:p>
        </p:txBody>
      </p:sp>
      <p:sp>
        <p:nvSpPr>
          <p:cNvPr id="13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(181,156 a dic. 2022; 227,647 en el último informe); Consulado RD en Filadelfia. Padrón 2028: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Tres obstáculos pueden reducir el voto de 2028: desafección, nueva cédula y dispersión</a:t>
            </a:r>
            <a:endParaRPr lang="en-US" sz="2800" dirty="0"/>
          </a:p>
        </p:txBody>
      </p:sp>
      <p:sp>
        <p:nvSpPr>
          <p:cNvPr id="3" name="Desafio 1"/>
          <p:cNvSpPr/>
          <p:nvPr/>
        </p:nvSpPr>
        <p:spPr>
          <a:xfrm>
            <a:off x="548640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99339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Desafección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51 % → 81 %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abstención en el exterior, 2016 frente a 2024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 la seccional, el 81.6 % no votó en 2024. El votante no ve relación entre su voto y su vida en EE. UU.</a:t>
            </a:r>
            <a:endParaRPr lang="en-US" sz="1500" dirty="0"/>
          </a:p>
        </p:txBody>
      </p:sp>
      <p:sp>
        <p:nvSpPr>
          <p:cNvPr id="9" name="Desafio 2"/>
          <p:cNvSpPr/>
          <p:nvPr/>
        </p:nvSpPr>
        <p:spPr>
          <a:xfrm>
            <a:off x="4334256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08576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19933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22976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Nueva cédula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608576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Enero 2028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cierre de la renovación en el exterior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4608576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Sin cédula nueva no se vota. Solo por cita y con 2 centros en la zona: Philadelphia y Allentown.</a:t>
            </a:r>
            <a:endParaRPr lang="en-US" sz="1500" dirty="0"/>
          </a:p>
        </p:txBody>
      </p:sp>
      <p:sp>
        <p:nvSpPr>
          <p:cNvPr id="15" name="Desafio 3"/>
          <p:cNvSpPr/>
          <p:nvPr/>
        </p:nvSpPr>
        <p:spPr>
          <a:xfrm>
            <a:off x="8119872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94192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8784" y="1993392"/>
            <a:ext cx="402336" cy="40233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308592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Dispersión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394192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46 %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del padrón vive a 40 millas o más de un centro de cedulación</a:t>
            </a:r>
            <a:endParaRPr lang="en-US" sz="3400" dirty="0"/>
          </a:p>
        </p:txBody>
      </p:sp>
      <p:sp>
        <p:nvSpPr>
          <p:cNvPr id="20" name="Text 15"/>
          <p:cNvSpPr txBox="1"/>
          <p:nvPr/>
        </p:nvSpPr>
        <p:spPr>
          <a:xfrm>
            <a:off x="8394192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13 ciudades en unas 150 millas. Cada voto cuesta más tiempo y más transporte.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estudio IIDH/CAPEL para la JCE (abstención 2024); JCE, calendario de la nueva cédula en el exterior; distancias aproximadas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elector sin cédula nueva es un voto perdido: la renovación en el exterior cierra en enero de 2028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280160" y="1965960"/>
            <a:ext cx="96926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214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May 2026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Inicia la renovación en el exterior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57530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0604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Oct 2026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Arranque del plan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9846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Abr 2027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Cédula antigua deja de aceptarse en RD*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21624" y="183794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5236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Ene 2028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Cierre de la renovación en el exterior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84478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87552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May 2028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Elecciones generales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2918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Escenarios de habilitación (proyección)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63093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10312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Renovación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Habilitados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No podrán votar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42,776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4,753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33,270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14,259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23,765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23,764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6" name="Acciones cedula"/>
          <p:cNvSpPr/>
          <p:nvPr/>
        </p:nvSpPr>
        <p:spPr>
          <a:xfrm>
            <a:off x="7223760" y="3291840"/>
            <a:ext cx="4416552" cy="26060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52360" y="3429000"/>
            <a:ext cx="3977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Primer paso: medir el avance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hay cifra pública de cuántos ya renovaron en PA. En todo el país va el 46 %.</a:t>
            </a:r>
            <a:endParaRPr lang="en-US" sz="22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Pedir a la JCE y a los consulados el número de cédulas entregadas en PA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Operativos móviles en Hazleton, Reading y Lancaster y viajes en grupo con cita</a:t>
            </a:r>
            <a:endParaRPr lang="en-US" sz="2200" dirty="0"/>
          </a:p>
        </p:txBody>
      </p:sp>
      <p:sp>
        <p:nvSpPr>
          <p:cNvPr id="1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JCE, nueva cédula en el exterior (por cita, cierre en enero de 2028). *Confirmar con la JCE si el corte de abril de 2027 aplica al exterior.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Aun con desgaste, superar en 10 % al PRM de 2024 es alcanzable: hace falta un 22 % de participación</a:t>
            </a:r>
            <a:endParaRPr lang="en-US" sz="2800" dirty="0"/>
          </a:p>
        </p:txBody>
      </p:sp>
      <p:graphicFrame>
        <p:nvGraphicFramePr>
          <p:cNvPr id="3" name="Comparacion PRM" descr=""/>
          <p:cNvGraphicFramePr/>
          <p:nvPr/>
        </p:nvGraphicFramePr>
        <p:xfrm>
          <a:off x="548640" y="1600200"/>
          <a:ext cx="667512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res niveles"/>
          <p:cNvSpPr/>
          <p:nvPr/>
        </p:nvSpPr>
        <p:spPr>
          <a:xfrm>
            <a:off x="7589520" y="1600200"/>
            <a:ext cx="405079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18120" y="1691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Tres niveles de meta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818120" y="21214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Piso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igualar 2024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005840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5,240 votos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25511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Meta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+10 %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058400" y="2551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5,760 votos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29809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+20 %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0" y="2980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6,270 votos</a:t>
            </a:r>
            <a:endParaRPr lang="en-US" sz="1500" dirty="0"/>
          </a:p>
        </p:txBody>
      </p:sp>
      <p:sp>
        <p:nvSpPr>
          <p:cNvPr id="12" name="Desgaste"/>
          <p:cNvSpPr/>
          <p:nvPr/>
        </p:nvSpPr>
        <p:spPr>
          <a:xfrm>
            <a:off x="7589520" y="3657600"/>
            <a:ext cx="4050792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818120" y="37490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 hay desgaste: participación necesaria para la meta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818120" y="43708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Apoyo 60 % (igual que 2024)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0515600" y="43708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20.2 %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7818120" y="4828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Apoyo 55 % (desgaste moderado)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0515600" y="48280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22.0 %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818120" y="52852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Apoyo 50 % (desgaste fuerte)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0515600" y="52852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24.3 %</a:t>
            </a:r>
            <a:endParaRPr lang="en-US" sz="1600" dirty="0"/>
          </a:p>
        </p:txBody>
      </p:sp>
      <p:sp>
        <p:nvSpPr>
          <p:cNvPr id="20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*PRM 2024 estimado: 60 % (diputados C1) × 8,731 votos. Escenarios: renovación de cédula y participación supuestas (ver notas). Reemplazar con actas por mesa.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 de organización: una red de 4,000 votantes comprometidos, con 400 líderes de 10 personas cada uno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5895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822960"/>
                <a:gridCol w="1051560"/>
                <a:gridCol w="960120"/>
                <a:gridCol w="11887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Mesas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Líderes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Personas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Noreste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9,649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Kensington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6,588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Berks (Reading)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Lehigh Valley (Allentown)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690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Wilkes-Barre y Scranton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Centro-Sur (Harrisburg, Lancaster, York, Lebanon)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46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460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Delaware (Wilmington)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Total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400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4,000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Como se lee"/>
          <p:cNvSpPr/>
          <p:nvPr/>
        </p:nvSpPr>
        <p:spPr>
          <a:xfrm>
            <a:off x="8503920" y="1600200"/>
            <a:ext cx="3136392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737360"/>
            <a:ext cx="26974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Cómo se lee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Cada líder se compromete a llevar a votar a 10 personas de su entorno.</a:t>
            </a:r>
            <a:endParaRPr lang="en-US" sz="18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Ejemplo: Hazleton necesita 55 líderes, es decir, 550 personas. Solo cuenta quien ya tenga la cédula nueva.</a:t>
            </a:r>
            <a:endParaRPr lang="en-US" sz="1800" dirty="0"/>
          </a:p>
        </p:txBody>
      </p:sp>
      <p:sp>
        <p:nvSpPr>
          <p:cNvPr id="6" name="Regla cedula"/>
          <p:cNvSpPr/>
          <p:nvPr/>
        </p:nvSpPr>
        <p:spPr>
          <a:xfrm>
            <a:off x="8503920" y="4343400"/>
            <a:ext cx="3136392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732520" y="4434840"/>
            <a:ext cx="2697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¿Por qué 4,000?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 vota el 85 %, son unos 3,400 votos: el 59 % de la meta de 5,760.</a:t>
            </a:r>
            <a:endParaRPr lang="en-US" sz="1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Mesas y electores: Seccional PRM Pennsylvania. Líderes repartidos en proporción a los electores; zonas agrupadas por cercanía geográfica (propuesta).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estructura clara: dirección ejecutiva, 5 áreas de apoyo y 8 coordinadores de zona</a:t>
            </a:r>
            <a:endParaRPr lang="en-US" sz="2800" dirty="0"/>
          </a:p>
        </p:txBody>
      </p:sp>
      <p:sp>
        <p:nvSpPr>
          <p:cNvPr id="3" name="Direccion ejecutiva"/>
          <p:cNvSpPr/>
          <p:nvPr/>
        </p:nvSpPr>
        <p:spPr>
          <a:xfrm>
            <a:off x="4498848" y="1508760"/>
            <a:ext cx="3200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498848" y="1508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Dirección ejecutiva</a:t>
            </a:r>
            <a:endParaRPr lang="en-US" sz="1800" dirty="0"/>
          </a:p>
        </p:txBody>
      </p:sp>
      <p:sp>
        <p:nvSpPr>
          <p:cNvPr id="5" name="Seccional PRM"/>
          <p:cNvSpPr/>
          <p:nvPr/>
        </p:nvSpPr>
        <p:spPr>
          <a:xfrm>
            <a:off x="8412480" y="1554480"/>
            <a:ext cx="3227832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8503920" y="155448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Coordinación con la Seccional PRM Pennsylvania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99248" y="1874520"/>
            <a:ext cx="7132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99048" y="2240280"/>
            <a:ext cx="0" cy="27432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2514600"/>
            <a:ext cx="903427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5920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Area Asuntos Electorales"/>
          <p:cNvSpPr/>
          <p:nvPr/>
        </p:nvSpPr>
        <p:spPr>
          <a:xfrm>
            <a:off x="548640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Asuntos Electorales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904488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4" name="Area Tecnología y Datos"/>
          <p:cNvSpPr/>
          <p:nvPr/>
        </p:nvSpPr>
        <p:spPr>
          <a:xfrm>
            <a:off x="2807208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807208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Tecnología y Datos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63056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7" name="Area Comunicaciones"/>
          <p:cNvSpPr/>
          <p:nvPr/>
        </p:nvSpPr>
        <p:spPr>
          <a:xfrm>
            <a:off x="5065776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65776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Comunicaciones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421624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0" name="Area Logística y Movilización"/>
          <p:cNvSpPr/>
          <p:nvPr/>
        </p:nvSpPr>
        <p:spPr>
          <a:xfrm>
            <a:off x="7324344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24344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Logística y Movilización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680192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3" name="Area Finanzas y Legal"/>
          <p:cNvSpPr/>
          <p:nvPr/>
        </p:nvSpPr>
        <p:spPr>
          <a:xfrm>
            <a:off x="9582912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82912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Finanzas y Legal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Áreas de apoyo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coordinadores de zona · líderes que necesita cada zona</a:t>
            </a:r>
            <a:endParaRPr lang="en-US" sz="1300" dirty="0"/>
          </a:p>
        </p:txBody>
      </p:sp>
      <p:sp>
        <p:nvSpPr>
          <p:cNvPr id="27" name="Zona Phila. Noreste"/>
          <p:cNvSpPr/>
          <p:nvPr/>
        </p:nvSpPr>
        <p:spPr>
          <a:xfrm>
            <a:off x="54864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0350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81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Noreste</a:t>
            </a:r>
            <a:endParaRPr lang="en-US" sz="2200" dirty="0"/>
          </a:p>
        </p:txBody>
      </p:sp>
      <p:sp>
        <p:nvSpPr>
          <p:cNvPr id="29" name="Zona Phila. Kensington"/>
          <p:cNvSpPr/>
          <p:nvPr/>
        </p:nvSpPr>
        <p:spPr>
          <a:xfrm>
            <a:off x="194767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00253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Kensington</a:t>
            </a:r>
            <a:endParaRPr lang="en-US" sz="2200" dirty="0"/>
          </a:p>
        </p:txBody>
      </p:sp>
      <p:sp>
        <p:nvSpPr>
          <p:cNvPr id="31" name="Zona Reading"/>
          <p:cNvSpPr/>
          <p:nvPr/>
        </p:nvSpPr>
        <p:spPr>
          <a:xfrm>
            <a:off x="334670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156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70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Reading</a:t>
            </a:r>
            <a:endParaRPr lang="en-US" sz="2200" dirty="0"/>
          </a:p>
        </p:txBody>
      </p:sp>
      <p:sp>
        <p:nvSpPr>
          <p:cNvPr id="33" name="Zona Allentown"/>
          <p:cNvSpPr/>
          <p:nvPr/>
        </p:nvSpPr>
        <p:spPr>
          <a:xfrm>
            <a:off x="4745736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Allentown</a:t>
            </a:r>
            <a:endParaRPr lang="en-US" sz="2200" dirty="0"/>
          </a:p>
        </p:txBody>
      </p:sp>
      <p:sp>
        <p:nvSpPr>
          <p:cNvPr id="35" name="Zona Hazleton"/>
          <p:cNvSpPr/>
          <p:nvPr/>
        </p:nvSpPr>
        <p:spPr>
          <a:xfrm>
            <a:off x="6144768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99632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Hazleton</a:t>
            </a:r>
            <a:endParaRPr lang="en-US" sz="2200" dirty="0"/>
          </a:p>
        </p:txBody>
      </p:sp>
      <p:sp>
        <p:nvSpPr>
          <p:cNvPr id="37" name="Zona W-Barre / Scranton"/>
          <p:cNvSpPr/>
          <p:nvPr/>
        </p:nvSpPr>
        <p:spPr>
          <a:xfrm>
            <a:off x="754380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9866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W-Barre / Scranton</a:t>
            </a:r>
            <a:endParaRPr lang="en-US" sz="2200" dirty="0"/>
          </a:p>
        </p:txBody>
      </p:sp>
      <p:sp>
        <p:nvSpPr>
          <p:cNvPr id="39" name="Zona Centro-Sur"/>
          <p:cNvSpPr/>
          <p:nvPr/>
        </p:nvSpPr>
        <p:spPr>
          <a:xfrm>
            <a:off x="894283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99769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46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Centro-Sur</a:t>
            </a:r>
            <a:endParaRPr lang="en-US" sz="2200" dirty="0"/>
          </a:p>
        </p:txBody>
      </p:sp>
      <p:sp>
        <p:nvSpPr>
          <p:cNvPr id="41" name="Zona Delaware"/>
          <p:cNvSpPr/>
          <p:nvPr/>
        </p:nvSpPr>
        <p:spPr>
          <a:xfrm>
            <a:off x="1034186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39672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Delaware</a:t>
            </a:r>
            <a:endParaRPr lang="en-US" sz="2200" dirty="0"/>
          </a:p>
        </p:txBody>
      </p:sp>
      <p:sp>
        <p:nvSpPr>
          <p:cNvPr id="43" name="Base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51206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400 líderes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4,000 votantes comprometidos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84 mesas con delegado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Primeros 30 días: estructura instalada y primer corte del tablero en la semana 4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755648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556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600200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Nombrar a los 8 coordinadores de zona y a los responsables de las 5 áreas de apoyo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25496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82549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670048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Formar el equipo de cada zona y pedir a la JCE y a los consulados el dato de cédulas renovadas en PA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895344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739896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Verificar quién en la red ya tiene la cédula nueva y quién necesita cita; primeros líderes reclutados; reunión de coordinación con la Seccional PRM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965192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9651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809744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Primer corte del tablero por zona: al menos 90 líderes reclutados; informe a la dirección de campaña</a:t>
            </a:r>
            <a:endParaRPr lang="en-US" sz="1600" dirty="0"/>
          </a:p>
        </p:txBody>
      </p:sp>
      <p:sp>
        <p:nvSpPr>
          <p:cNvPr id="15" name="Ruta 2028"/>
          <p:cNvSpPr/>
          <p:nvPr/>
        </p:nvSpPr>
        <p:spPr>
          <a:xfrm>
            <a:off x="7498080" y="1600200"/>
            <a:ext cx="4142232" cy="4224528"/>
          </a:xfrm>
          <a:prstGeom prst="roundRect">
            <a:avLst>
              <a:gd name="adj" fmla="val 17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Después: ruta hasta mayo de 2028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240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Instalar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nov 2026 – feb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Estructura completa; red de líderes con cédula nueva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31272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Habilitar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 – sep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400 líderes y 4,000 personas; 60 % del padrón renovado; recién llegados trasladados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401421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Consolidar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oct 2027 – ene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Proceso interno del partido; 90 % renovado antes del cierre del padrón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49011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Movilizar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feb – may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Delegados en las 84 mesas, transporte y día de la elección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semana, un tablero por zona; cada riesgo, un responsable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Tablero semanal por zona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5394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868680"/>
                <a:gridCol w="868680"/>
                <a:gridCol w="868680"/>
                <a:gridCol w="8686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Indicador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Meta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Verde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Amarillo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Rojo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Líderes nuevos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31 / sem.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31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 – 30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20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Red con cédula nueva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90 %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 – 89 %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60 %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Recién llegados trasladados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Por zona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90 %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 – 89 %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60 %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Mesas con delegado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 – 83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70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6177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Se reporta cada semana por zona; el corte mensual va a la dirección de campaña.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554480"/>
            <a:ext cx="5376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Riesgos y cómo los mitigamos</a:t>
            </a:r>
            <a:endParaRPr lang="en-US" sz="16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965960"/>
          <a:ext cx="537667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496312"/>
                <a:gridCol w="14630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Riesgo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Mitigación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Responsable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Nueva cédula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Operativos móviles y viajes en grupo con cita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Asuntos Electorales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Desafección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Agenda de la diáspora; 8 encuentros de escucha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Comunicaciones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Datos incompletos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CRM con registros únicos; actas por mesa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Tecnología y Datos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División interna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Una sola estructura con la Seccional PRM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Dirección ejecutiva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Cumplimiento legal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Revisión de actividades; datos con consentimiento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Finanzas y Legal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"/>
          <p:cNvSpPr txBox="1"/>
          <p:nvPr/>
        </p:nvSpPr>
        <p:spPr>
          <a:xfrm>
            <a:off x="548640" y="36576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Collado encabeza las preferencias internas del PRM (48.8 %, Markestrategia, oct. 2026). Esa ventaja solo cuenta si los electores pueden votar.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8 encuentros de escucha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Allentown y Hazleton (25 mesas en 2 ciudades) y Reading (18 % del padrón)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Iglesias, asociaciones y comercios dominicanos: de ahí salen los líderes de cada zona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2" name="Shape 14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5" name="Decision"/>
          <p:cNvSpPr/>
          <p:nvPr/>
        </p:nvSpPr>
        <p:spPr>
          <a:xfrm>
            <a:off x="6217920" y="4800600"/>
            <a:ext cx="5422392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6446520" y="484632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Decisión que se pide hoy</a:t>
            </a:r>
            <a:endParaRPr lang="en-US" sz="16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Aprobar el plan con la meta de al menos 5,760 votos (+10 % sobre el PRM 2024), nombrar a los 8 coordinadores e iniciar en noviembre.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Anexo · Bajar la abstención de 81.6 % a 78 % suma unos 1,700 votos; llegar a 75 % suma 3,150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8638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914400"/>
                <a:gridCol w="1051560"/>
                <a:gridCol w="1051560"/>
                <a:gridCol w="1417320"/>
                <a:gridCol w="1463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Votaron 2024*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Abstención*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Realista: 78 %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Ambiciosa: 75 %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Noreste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9,649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1,773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2,123 (+350)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2,412 (+639)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Kensington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6,588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1,210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1,449 (+239)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1,647 (+437)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Berks (Reading)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1,537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1,841 (+304)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2,092 (+555)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Lehigh Valley (Allentown)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1,503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1,800 (+297)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2,046 (+543)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1,198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1,434 (+236)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1,630 (+432)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Wilkes-Barre y Scranton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325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389 (+64)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442 (+117)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Centro-Sur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1,199 (+198)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1,362 (+361)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Delaware (Wilmington)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221 (+37)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251 (+67)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Seccional (real)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8,731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10,456 (+1,725)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11,882 (+3,151)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Por que realista"/>
          <p:cNvSpPr/>
          <p:nvPr/>
        </p:nvSpPr>
        <p:spPr>
          <a:xfrm>
            <a:off x="8732520" y="1600200"/>
            <a:ext cx="290779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15400" y="1691640"/>
            <a:ext cx="25603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¿Por qué 78 % es realista?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Exterior 2016: 51 % de abstención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Canadá 2024: 71 %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Solo hay que recuperar 3.6 puntos: unos 21 votos más por mesa</a:t>
            </a:r>
            <a:endParaRPr lang="en-US" sz="1600" dirty="0"/>
          </a:p>
        </p:txBody>
      </p:sp>
      <p:sp>
        <p:nvSpPr>
          <p:cNvPr id="6" name="Dato real por zona"/>
          <p:cNvSpPr/>
          <p:nvPr/>
        </p:nvSpPr>
        <p:spPr>
          <a:xfrm>
            <a:off x="8732520" y="4023360"/>
            <a:ext cx="2907792" cy="18288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15400" y="411480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Para tener el dato real por zona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Usar las actas de cada mesa (delegados del partido) o la Relación de votación JCE, OCLEE 614.</a:t>
            </a:r>
            <a:endParaRPr lang="en-US" sz="15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*Por zona: estimado con la participación real de la seccional (18.4 %), a falta de actas por mesa. Total seccional: dato real JCE 2024. Metas: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4F75AE"/>
      </a:hlink>
      <a:folHlink>
        <a:srgbClr val="9AA7BD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Seccional Pennsylvania · Plan 2028</dc:title>
  <dc:subject>PptxGenJS Presentation</dc:subject>
  <dc:creator>Orlando Castillo</dc:creator>
  <cp:lastModifiedBy>Orlando Castillo</cp:lastModifiedBy>
  <cp:revision>1</cp:revision>
  <dcterms:created xsi:type="dcterms:W3CDTF">2026-10-21T04:34:20Z</dcterms:created>
  <dcterms:modified xsi:type="dcterms:W3CDTF">2026-10-21T04:34:20Z</dcterms:modified>
</cp:coreProperties>
</file>