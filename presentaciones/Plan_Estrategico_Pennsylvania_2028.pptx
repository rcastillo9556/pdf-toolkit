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6949b90b-538a-956c-c232-cabb67d52ee0}">
          <p14:sldIdLst>
            <p14:sldId id="256"/>
            <p14:sldId id="257"/>
            <p14:sldId id="258"/>
          </p14:sldIdLst>
        </p14:section>
        <p14:section name="Desafíos" id="{a621f767-cd5b-8945-6891-ddc85095b92a}">
          <p14:sldIdLst>
            <p14:sldId id="259"/>
            <p14:sldId id="260"/>
          </p14:sldIdLst>
        </p14:section>
        <p14:section name="Escenarios y meta" id="{be5c0a65-75eb-6a25-3b04-b8e4ae1c578d}">
          <p14:sldIdLst>
            <p14:sldId id="261"/>
            <p14:sldId id="262"/>
            <p14:sldId id="263"/>
            <p14:sldId id="264"/>
          </p14:sldIdLst>
        </p14:section>
        <p14:section name="Plan y recomendación" id="{04b4bd84-abad-7a36-e2e7-8a1287f1ab36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proyectados 2028 en la seccional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2024 real</c:v>
                  </c:pt>
                  <c:pt idx="1">
                    <c:v>Adverso</c:v>
                  </c:pt>
                  <c:pt idx="2">
                    <c:v>Inercial</c:v>
                  </c:pt>
                  <c:pt idx="3">
                    <c:v>Favorable (con el plan)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8731</c:v>
                </c:pt>
                <c:pt idx="1">
                  <c:v>5703</c:v>
                </c:pt>
                <c:pt idx="2">
                  <c:v>8745</c:v>
                </c:pt>
                <c:pt idx="3">
                  <c:v>11550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1+10.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Cálculo: Adverso 47,529 × 60 % × 20 % ≈ 5,700. Inercial 47,529 × 80 % × 23 % ≈ 8,750. Favorable 47,529 × 90 % × 27 % ≈ 11,550. Referencia 2024: 8,731 votos. Son supuestos de trabajo, no datos de la JCE.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 1+10: 3,982 personas × 85 % = 3,385 votos, el 59 % de 5,763.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1+10 de la seccional (CAD): 362 comités = 3,982 personas, calculada como 40 % de los votos emitidos por colegio, redondeado al comité completo. El reparto por zona es proporcional a los electores porque no hay votos por recinto; con los votos JCE por colegio se puede afinar.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Ritmo de la meta: 362 comités en ~13 semanas = 28 comités por semana. Semáforo semanal: verde 28 o más, amarillo 18–27, rojo menos de 18. La fecha del 3 de octubre de 2027 es la fecha legal para primarias; el método del PRM para escoger candidato presidencial aún no está aprobado formalmente.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SECCIONAL PENNSYLVANIA · CIRCUNSCRIPCIÓN I · RUMBO A MAYO 2028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recintos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por recinto,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solo 2 recintos: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Recintos y Colegios Electorales 2024 (18 recintos, 84 mesas, 47,529 electores)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Sin un plan, la seccional puede perder un tercio de sus votos; con el plan, puede crecer un 32 %</a:t>
            </a:r>
            <a:endParaRPr lang="en-US" sz="2800" dirty="0"/>
          </a:p>
        </p:txBody>
      </p:sp>
      <p:graphicFrame>
        <p:nvGraphicFramePr>
          <p:cNvPr id="3" name="Escenarios" descr=""/>
          <p:cNvGraphicFramePr/>
          <p:nvPr/>
        </p:nvGraphicFramePr>
        <p:xfrm>
          <a:off x="548640" y="1600200"/>
          <a:ext cx="60350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scenario Adverso"/>
          <p:cNvSpPr/>
          <p:nvPr/>
        </p:nvSpPr>
        <p:spPr>
          <a:xfrm>
            <a:off x="6949440" y="1691640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132320" y="16916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−35 %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1691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Adverso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60 % renueva la cédula · vota el 20 % de los habilitados</a:t>
            </a:r>
            <a:endParaRPr lang="en-US" sz="1600" dirty="0"/>
          </a:p>
        </p:txBody>
      </p:sp>
      <p:sp>
        <p:nvSpPr>
          <p:cNvPr id="7" name="Escenario Inercial"/>
          <p:cNvSpPr/>
          <p:nvPr/>
        </p:nvSpPr>
        <p:spPr>
          <a:xfrm>
            <a:off x="6949440" y="2770632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0" y="2770632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≈ 0 %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770632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Inercial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80 % renueva · vota el 23 %</a:t>
            </a:r>
            <a:endParaRPr lang="en-US" sz="1600" dirty="0"/>
          </a:p>
        </p:txBody>
      </p:sp>
      <p:sp>
        <p:nvSpPr>
          <p:cNvPr id="10" name="Escenario Favorable"/>
          <p:cNvSpPr/>
          <p:nvPr/>
        </p:nvSpPr>
        <p:spPr>
          <a:xfrm>
            <a:off x="6949440" y="3849624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3849624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+32 %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3849624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Favorable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90 % renueva · vota el 27 % (con el plan en marcha)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5029200"/>
            <a:ext cx="4690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 que más separa un escenario de otro es la </a:t>
            </a:r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renovación de la cédula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no la persuasión.</a:t>
            </a:r>
            <a:endParaRPr lang="en-US" sz="1600" dirty="0"/>
          </a:p>
        </p:txBody>
      </p:sp>
      <p:sp>
        <p:nvSpPr>
          <p:cNvPr id="14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Proyección propia sobre 47,529 electores. Supuestos de renovación y participación explícitos; actualizar con el avance real de la cédula.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Para superar en 10 % al PRM de 2024 hacen falta unos 5,760 votos: el escenario realista lo logra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os caminos"/>
          <p:cNvSpPr/>
          <p:nvPr/>
        </p:nvSpPr>
        <p:spPr>
          <a:xfrm>
            <a:off x="7589520" y="1600200"/>
            <a:ext cx="405079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73736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Dos caminos para el +10 %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Más votantes: subir la participación al 20.2 % (unos 9,600 votos) con el mismo 60 % de apoyo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Más apoyo: con los mismos 8,731 votantes, subir el apoyo al PRM del 60 % al 66 %</a:t>
            </a:r>
            <a:endParaRPr lang="en-US" sz="1700" dirty="0"/>
          </a:p>
        </p:txBody>
      </p:sp>
      <p:sp>
        <p:nvSpPr>
          <p:cNvPr id="6" name="Aporte red"/>
          <p:cNvSpPr/>
          <p:nvPr/>
        </p:nvSpPr>
        <p:spPr>
          <a:xfrm>
            <a:off x="7589520" y="4389120"/>
            <a:ext cx="4050792" cy="1463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4462272"/>
            <a:ext cx="36118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59 % de la meta</a:t>
            </a:r>
            <a:endParaRPr lang="en-US" sz="2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lo cubre la red 1+10: 3,982 personas, de las que se espera que voten unas 3,385</a:t>
            </a:r>
            <a:endParaRPr lang="en-US" sz="24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*Estimado: 60 % (PRM en el conteo de diputados de la C1, Hoy y Diario Libre) × 8,731 votos de la seccional. Nacional: Abinader 57.4 %.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362 equipos de 11 personas (3,982 en total) repartidos en 8 zonas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Equipos 1+10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 (3 recintos)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 (2 recintos)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3,982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equipo = 1 dirigente + 10 personas que se comprometen a votar.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debe formar 50 equipos, es decir, 550 personas.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Regla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persona cuenta solo si ya tiene la cédula nueva.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Comités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Cuatro etapas hacia mayo de 2028: habilitar primero, movilizar al final</a:t>
            </a:r>
            <a:endParaRPr lang="en-US" sz="2800" dirty="0"/>
          </a:p>
        </p:txBody>
      </p:sp>
      <p:sp>
        <p:nvSpPr>
          <p:cNvPr id="3" name="Etapa 1"/>
          <p:cNvSpPr/>
          <p:nvPr/>
        </p:nvSpPr>
        <p:spPr>
          <a:xfrm>
            <a:off x="548640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Instalar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Nov 2026 – feb 2027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8 coordinadores de zona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18 responsables de recinto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100 % de la red 1+10 con cédula nueva</a:t>
            </a:r>
            <a:endParaRPr lang="en-US" sz="1400" dirty="0"/>
          </a:p>
        </p:txBody>
      </p:sp>
      <p:sp>
        <p:nvSpPr>
          <p:cNvPr id="8" name="Etapa 2"/>
          <p:cNvSpPr/>
          <p:nvPr/>
        </p:nvSpPr>
        <p:spPr>
          <a:xfrm>
            <a:off x="3364992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93592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3592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Habilitar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Mar – sep 2027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362 comités validados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60 % o más del padrón renovado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Recién llegados trasladados a PA</a:t>
            </a:r>
            <a:endParaRPr lang="en-US" sz="1400" dirty="0"/>
          </a:p>
        </p:txBody>
      </p:sp>
      <p:sp>
        <p:nvSpPr>
          <p:cNvPr id="13" name="Etapa 3"/>
          <p:cNvSpPr/>
          <p:nvPr/>
        </p:nvSpPr>
        <p:spPr>
          <a:xfrm>
            <a:off x="6181344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9944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994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Consolidar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Oct 2027 – ene 2028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Proceso interno del partido (fecha legal: 3 oct 2027)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90 % o más renovado antes del cierre del padrón</a:t>
            </a:r>
            <a:endParaRPr lang="en-US" sz="1400" dirty="0"/>
          </a:p>
        </p:txBody>
      </p:sp>
      <p:sp>
        <p:nvSpPr>
          <p:cNvPr id="18" name="Etapa 4"/>
          <p:cNvSpPr/>
          <p:nvPr/>
        </p:nvSpPr>
        <p:spPr>
          <a:xfrm>
            <a:off x="8997696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26296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26296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226296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Movilizar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Feb – may 2028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26296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Delegado y suplente en las 84 mesas (168)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Transporte por zona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Plan del día de la elección</a:t>
            </a:r>
            <a:endParaRPr lang="en-US" sz="1400" dirty="0"/>
          </a:p>
        </p:txBody>
      </p:sp>
      <p:sp>
        <p:nvSpPr>
          <p:cNvPr id="23" name="Indicadores"/>
          <p:cNvSpPr/>
          <p:nvPr/>
        </p:nvSpPr>
        <p:spPr>
          <a:xfrm>
            <a:off x="548640" y="521208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21208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Corte semanal: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comités validados · cédulas renovadas en la red · mesas con delegado · semáforo por zona. 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Alerta: menos de 80 comités en la semana 4 → reasignar recursos y replanificar.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mesas, 2 recintos)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 de 18 recintos son iglesias y centros comunitarios: de ahí salen los responsables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2026-10-21T02:17:52Z</dcterms:created>
  <dcterms:modified xsi:type="dcterms:W3CDTF">2026-10-21T02:17:52Z</dcterms:modified>
</cp:coreProperties>
</file>