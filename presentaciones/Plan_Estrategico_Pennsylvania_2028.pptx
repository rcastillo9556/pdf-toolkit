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770550ac-2178-0370-1ca7-d5d2935e5818}">
          <p14:sldIdLst>
            <p14:sldId id="256"/>
            <p14:sldId id="257"/>
            <p14:sldId id="258"/>
            <p14:sldId id="259"/>
          </p14:sldIdLst>
        </p14:section>
        <p14:section name="Riesgos" id="{8c29e526-e0b9-5335-1d35-c479a938cacc}">
          <p14:sldIdLst>
            <p14:sldId id="260"/>
          </p14:sldIdLst>
        </p14:section>
        <p14:section name="Meta" id="{fc4e4b0b-cc12-351d-3f0e-fd96ae7cabf1}">
          <p14:sldIdLst>
            <p14:sldId id="261"/>
          </p14:sldIdLst>
        </p14:section>
        <p14:section name="Plan y recomendación" id="{2a94e95b-52f0-9d8e-e9a7-84900b1ddc6d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8939</c:v>
                </c:pt>
                <c:pt idx="1">
                  <c:v>38590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Votos para David Collado por escenario (63 % de apoyo, como el PRM y aliados en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y aliados 2024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5581</c:v>
                </c:pt>
                <c:pt idx="1">
                  <c:v>6139</c:v>
                </c:pt>
                <c:pt idx="2">
                  <c:v>3564</c:v>
                </c:pt>
                <c:pt idx="3">
                  <c:v>5465</c:v>
                </c:pt>
                <c:pt idx="4">
                  <c:v>6534</c:v>
                </c:pt>
                <c:pt idx="5">
                  <c:v>7217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12 ciudades de Pennsylvania y Wilmington (Delaware). 47,529 electores en 84 mesas (padrón de la seccional; la JCE divulgó 47,604 en el corte preliminar). Votos 2024, dato oficial JCE a nivel presidencial: 8,939 emitidos (8,810 válidos y 129 nulos). Participación: 18.8 %; no votaron 38,590. Es la 4.ª seccional más grande de la Circunscripción I, después de Nueva York, Nueva Jersey y Boston; según el INDEX, Pennsylvania tuvo en 2025 el mayor aumento de dominicanos de EE. UU. (+36,553).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18.8 % (8,939 de 47,529, dato oficial JCE) y riesgo de la nueva cédula. Plan: 8 zonas, 400 líderes con 10 personas cada uno (4,000 personas). Meta: 6,140 votos para David Collado, un 10 % más que los 5,581 votos del PRM y aliados en 2024 (63.4 % de los válidos). Próximo paso: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Nueva cédula: según la JCE, quien no renueve no podrá votar. En el exterior se renueva solo por cita y el ciclo termina en enero de 2028, antes del cierre del padrón. Centros: Philadelphia (1500 JFK Blvd, 2.º piso) y Consulado de Allentown (1710 Union Blvd). Confirmar con la JCE si el corte de abril de 2027 para la cédula antigua aplica al exterior. Escenarios de habilitación sobre 47,529 electores: 90 % renueva → 42,776 habilitados; 70 % → 33,270; 50 % → 23,765. Desafección: la abstención en el exterior pasó de 51 % (2016) a 81 % (2024); en la seccional, 38,590 de 47,529 no votaron (81.2 %). La dispersión geográfica (13 ciudades) se ve en el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oficial JCE 2024 (nivel presidencial, OCLEE Philadelphia, colegios 1253 a 1336): 8,939 votos emitidos, 8,810 válidos, 129 nulos. PRM y aliados 5,581 (63.35 % de los válidos; PRM solo 4,996), Fuerza del Pueblo y aliados 1,852 (21.02 %), PED 687 (7.80 %), PLD 540 (6.13 %). En la seccional el PRM y aliados sacaron 5.9 puntos más que su resultado nacional (57.44 %). Meta 2028: +10 % = 6,139 votos (≈6,140); techo +20 % = 6,697 (≈6,700). Escenarios con 63.4 % de apoyo sobre los votos válidos (98.6 % de los emitidos): Adverso, 60 % renueva la cédula y vota el 20 % de los habilitados (5,703 votos totales → 3,564); Inercial, 80 % y 23 % (8,745 → 5,465, por debajo de 2024); Realista, participación del 22 % sobre el padrón (10,456 → 6,534, +17 %); Favorable, 90 % y 27 % (11,550 → 7,217, +29 %). Desgaste (tercer período del PRM sin Abinader en la boleta y malestar social en las encuestas): con 58 % de apoyo la meta exige 10,740 votos totales (22.6 % de participación; 20.2 % si el padrón crece 12 %); con 53 %, 11,753 (24.7 %; 22.1 %). Red: 4,000 personas × 85 % = 3,400 votos, el 55 % de la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Tablero: 4 indicadores con umbrales de semáforo, reportados por zona cada semana. Riesgos: cada uno con su mitigación y un área responsable del organigrama.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CAD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8,939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18.8 %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38,590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votantes, David Collado puede superar en 10 % al PRM y aliados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18.8 %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6,140 votos para David Collado: un 10 % más que el PRM y aliados en 2024 (5,581, dato oficial JCE).</a:t>
            </a:r>
            <a:endParaRPr lang="en-US" sz="1500" dirty="0"/>
          </a:p>
        </p:txBody>
      </p:sp>
      <p:sp>
        <p:nvSpPr>
          <p:cNvPr id="18" name="Próximo paso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Próximo paso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el 66 % del padrón vive fuera de Philadelphia, repartido en 8 zonas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8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2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6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0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4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8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2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4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6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8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0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2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4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8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0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20.3 %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13.9 %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2" name="Shape 59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17.6 %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6" name="Shape 63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17.2 %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2" name="Text 69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13.7 %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4" name="Shape 71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3.7 %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8" name="Shape 75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11.5 %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2" name="Shape 79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4" name="Text 81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2.1 %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6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53035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6172200" y="160020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0" y="167335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dominicanos del estado está inscrito para votar en la seccional (21 %). Y la comunidad creció un 26 %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6172200" y="306324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0" y="313639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6172200" y="452628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459943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Dos trámites, una sola cita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800" dirty="0"/>
          </a:p>
        </p:txBody>
      </p:sp>
      <p:sp>
        <p:nvSpPr>
          <p:cNvPr id="1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Dos riesgos pueden reducir el voto de 2028: la nueva cédula y la desafección</a:t>
            </a:r>
            <a:endParaRPr lang="en-US" sz="2800" dirty="0"/>
          </a:p>
        </p:txBody>
      </p:sp>
      <p:sp>
        <p:nvSpPr>
          <p:cNvPr id="3" name="Riesgo Nueva cédula"/>
          <p:cNvSpPr/>
          <p:nvPr/>
        </p:nvSpPr>
        <p:spPr>
          <a:xfrm>
            <a:off x="548640" y="160020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10512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965960"/>
            <a:ext cx="374904" cy="3749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8105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566160" y="1755648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Enero 2028</a:t>
            </a:r>
            <a:endParaRPr lang="en-US" sz="3000" dirty="0"/>
          </a:p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8892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Sin cédula nueva no se vota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Solo por cita; 2 centros en la zona: Philadelphia y Allentown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hay cifra pública de renovaciones en PA (en todo el país va el 46 %)</a:t>
            </a:r>
            <a:endParaRPr lang="en-US" sz="1500" dirty="0"/>
          </a:p>
        </p:txBody>
      </p:sp>
      <p:sp>
        <p:nvSpPr>
          <p:cNvPr id="9" name="Riesgo Desafección"/>
          <p:cNvSpPr/>
          <p:nvPr/>
        </p:nvSpPr>
        <p:spPr>
          <a:xfrm>
            <a:off x="6227064" y="160020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01384" y="1810512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1965960"/>
            <a:ext cx="374904" cy="37490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70064" y="18105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9244584" y="1755648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51 % → 81 %</a:t>
            </a:r>
            <a:endParaRPr lang="en-US" sz="3000" dirty="0"/>
          </a:p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abstención en el exterior, 2016 frente a 2024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6501384" y="278892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 la seccional, el 81 % no votó en 2024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El votante no ve relación entre su voto y su vida en EE. UU.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Respuesta: agenda de la diáspora y encuentros de escucha por zona</a:t>
            </a:r>
            <a:endParaRPr lang="en-US" sz="1500" dirty="0"/>
          </a:p>
        </p:txBody>
      </p:sp>
      <p:sp>
        <p:nvSpPr>
          <p:cNvPr id="15" name="Acciones"/>
          <p:cNvSpPr/>
          <p:nvPr/>
        </p:nvSpPr>
        <p:spPr>
          <a:xfrm>
            <a:off x="548640" y="50292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" y="5029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Acciones: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pedir a la JCE y a los consulados el dato de cédulas renovadas en PA · operativos móviles en Hazleton, Reading y Lancaster · viajes en grupo con cita</a:t>
            </a:r>
            <a:endParaRPr lang="en-US" sz="1400" dirty="0"/>
          </a:p>
        </p:txBody>
      </p:sp>
      <p:sp>
        <p:nvSpPr>
          <p:cNvPr id="17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 (nueva cédula en el exterior: por cita, cierre en enero de 2028; 4,009,576 entregadas en el país al 13-oct-2026); estudio IIDH/CAPEL para la JCE; JCE 2024.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6,140 votos para David Collado, un 10 % más que el PRM y aliados en 2024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Red de 4,000 votantes comprometidos: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votos, el 55 % de la meta.</a:t>
            </a:r>
            <a:endParaRPr lang="en-US" sz="1400" dirty="0"/>
          </a:p>
        </p:txBody>
      </p:sp>
      <p:sp>
        <p:nvSpPr>
          <p:cNvPr id="5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5,581 votos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6,140 votos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6,700 votos</a:t>
            </a:r>
            <a:endParaRPr lang="en-US" sz="1500" dirty="0"/>
          </a:p>
        </p:txBody>
      </p:sp>
      <p:sp>
        <p:nvSpPr>
          <p:cNvPr id="13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63 % (como 2024)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20.7 %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58 % (desgaste)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22.6 %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53 % (desgaste fuerte)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24.7 %</a:t>
            </a:r>
            <a:endParaRPr lang="en-US" sz="16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 2024: JCE, resultado presidencial por colegios, OCLEE Philadelphia (PRM y aliados 5,581 votos, 63.4 % de los válidos). Escenarios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 (≈ 3,400 votos)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semana, un tablero por zona; cada riesgo, un responsable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Tablero semanal por zona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68680"/>
                <a:gridCol w="86868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Meta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Verde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Amarillo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Rojo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Líderes nuevos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 / sem.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31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 – 30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20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 con cédula nueva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Recién llegados trasladados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 zona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Mesas con delegado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 – 83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177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Se reporta cada semana por zona; el corte mensual va a la dirección de campaña.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554480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Riesgos y cómo los mitigamos</a:t>
            </a:r>
            <a:endParaRPr lang="en-US" sz="16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5376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96312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Riesgo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Mitigación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Nueva cédula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Operativos móviles y viajes en grupo con cita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Asuntos Electorales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Desafección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Agenda de la diáspora; 8 encuentros de escucha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Comunicaciones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incompletos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CRM con registros únicos; actas por mesa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Tecnología y Datos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División interna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sola estructura con la Seccional PRM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Dirección ejecutiva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Cumplimiento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Revisión de actividades; datos con consentimiento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Finanzas y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En 2024 el PRM y aliados sacaron el 63 % en la seccional, 6 puntos más que en el país. Collado encabeza las preferencias internas del PRM (48.8 %, oct. 2026).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 en 2 ciudades)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2026-10-21T05:22:31Z</dcterms:created>
  <dcterms:modified xsi:type="dcterms:W3CDTF">2026-10-21T05:22:31Z</dcterms:modified>
</cp:coreProperties>
</file>