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iagnóstico" id="{778caba7-ace0-b31e-59f6-569254a404b8}">
          <p14:sldIdLst>
            <p14:sldId id="256"/>
            <p14:sldId id="257"/>
            <p14:sldId id="258"/>
            <p14:sldId id="259"/>
          </p14:sldIdLst>
        </p14:section>
        <p14:section name="Desafíos" id="{878a704d-febb-609c-1322-5cf6c9cdf36e}">
          <p14:sldIdLst>
            <p14:sldId id="260"/>
            <p14:sldId id="261"/>
          </p14:sldIdLst>
        </p14:section>
        <p14:section name="Escenarios y meta" id="{ead50a3b-991f-5d08-c3f3-a0e2ba855187}">
          <p14:sldIdLst>
            <p14:sldId id="262"/>
            <p14:sldId id="263"/>
          </p14:sldIdLst>
        </p14:section>
        <p14:section name="Plan y recomendación" id="{73c9cfe9-6ef9-d9f1-a30c-1a23d549ea8c}">
          <p14:sldIdLst>
            <p14:sldId id="264"/>
            <p14:sldId id="265"/>
            <p14:sldId id="266"/>
            <p14:sldId id="267"/>
          </p14:sldIdLst>
        </p14:section>
        <p14:section name="Anexo" id="{6afe78bb-5508-20e9-9968-c66be43437b4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DA1822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4F75AE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Votaron</c:v>
                </c:pt>
                <c:pt idx="1">
                  <c:v>No votaron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8731</c:v>
                </c:pt>
                <c:pt idx="1">
                  <c:v>38798</c:v>
                </c:pt>
              </c:numCache>
            </c:numRef>
          </c:val>
        </c:ser>
        <c:firstSliceAng val="0"/>
        <c:holeSize val="7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Electores por ciudad (2024)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Electores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Philadelphia</c:v>
                  </c:pt>
                  <c:pt idx="1">
                    <c:v>Reading</c:v>
                  </c:pt>
                  <c:pt idx="2">
                    <c:v>Allentown</c:v>
                  </c:pt>
                  <c:pt idx="3">
                    <c:v>Hazleton</c:v>
                  </c:pt>
                  <c:pt idx="4">
                    <c:v>Resto (9 ciudades)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16237</c:v>
                </c:pt>
                <c:pt idx="1">
                  <c:v>8368</c:v>
                </c:pt>
                <c:pt idx="2">
                  <c:v>8183</c:v>
                </c:pt>
                <c:pt idx="3">
                  <c:v>6520</c:v>
                </c:pt>
                <c:pt idx="4">
                  <c:v>8221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Dominicanos registrados en Pennsylvania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Dominicanos registrados en Pennsylvania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Dic. 2022</c:v>
                  </c:pt>
                  <c:pt idx="1">
                    <c:v>Registro más reciente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181156</c:v>
                </c:pt>
                <c:pt idx="1">
                  <c:v>227647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Votos PRM en la seccional (con 60 % de apoyo)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Votos PRM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9A23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F75A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PRM 2024*</c:v>
                  </c:pt>
                  <c:pt idx="1">
                    <c:v>Meta 2028 (+10 %)</c:v>
                  </c:pt>
                  <c:pt idx="2">
                    <c:v>Adverso</c:v>
                  </c:pt>
                  <c:pt idx="3">
                    <c:v>Inercial</c:v>
                  </c:pt>
                  <c:pt idx="4">
                    <c:v>Realista (abst. 78 %)</c:v>
                  </c:pt>
                  <c:pt idx="5">
                    <c:v>Favorable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5239</c:v>
                </c:pt>
                <c:pt idx="1">
                  <c:v>5763</c:v>
                </c:pt>
                <c:pt idx="2">
                  <c:v>3422</c:v>
                </c:pt>
                <c:pt idx="3">
                  <c:v>5247</c:v>
                </c:pt>
                <c:pt idx="4">
                  <c:v>6274</c:v>
                </c:pt>
                <c:pt idx="5">
                  <c:v>6930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OCLEE Philadelphia es en realidad la Seccional Pennsylvania: incluye 13 ciudades de PA y Wilmington (DE). 47,529 electores en 84 mesas y 18 recintos (documento de apoyo de la seccional; coincide con los 84 colegios del CAD y con el corte preliminar JCE de 47,604). Votaron 8,731 (dato CAD; confirmar en la Relación de votación JCE, OCLEE 614). Participación 18.4 %.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diapositiva para quien solo lea una. Problema: participación de 18.4 % (8,731 de 47,529) y riesgo de la nueva cédula. Plan: 8 zonas, 362 equipos 1+10 (3,982 personas). Meta: superar en al menos 10 % los votos estimados del PRM en 2024 (unos 5,239 → 5,763). Decisión: aprobar, nombrar coordinadores e iniciar en noviembre.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Concentrar el esfuerzo solo en la ciudad deja fuera al 66 % del padrón. Reading suma 4 recintos (La Senda I, II, III y Asociación de Pennsylvania). Allentown concentra 14 mesas en Castle of Events. Hazleton, 11 mesas en el Community Center Integration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Crecimiento: el Registro Sociodemográfico del INDEX contaba 181,156 dominicanos en Pennsylvania al 31 de diciembre de 2022; el registro más reciente, citado en prensa, reporta 227,647 (+36,553 en el último año, +19.1 %, el mayor aumento absoluto de todos los estados). El Consulado en Filadelfia atiende a más de 191 mil y afirma que llega un dominicano más cada día, muchos desde Nueva York. Hazleton ya tiene cerca de 43 % de población dominicana (Censo). Implicación: quien se mudó desde NY/NJ sigue empadronado en su OCLEE anterior; hay que trasladar su registro a Pennsylvania antes del cierre del padrón (enero de 2028), idealmente en la misma cita de la nueva cédula; confirmar el procedimiento con la JCE. Escenarios de padrón: proyección propia (+5 %, +12 %, +26 %; el alto replica el crecimiento de la población).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Desafección: la abstención en el exterior pasó de 51 % (2016) a 81 % (2024); el estudio IIDH/CAPEL para la JCE analiza desafección, desinformación y logística. Nueva cédula: según la JCE, quien no renueve no podrá votar; en el exterior es por cita y culmina en enero de 2028. Centros: Philadelphia (1500 JFK Blvd, 2.º piso) y Consulado de Allentown (1710 Union Blvd). Dispersión: Reading, Noreste y Centro-Sur suman unos 22,100 electores a 40 millas o más de un centro (aproximado).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hay cifra pública de cédulas renovadas en Pennsylvania; a nivel nacional la JCE reporta 4,009,576 entregadas (45.9 % de 8,730,372) al 13 de octubre de 2026. Pedir el dato a la JCE y a los consulados de Filadelfia y Allentown y medirlo en la red 1+10. Escenarios de habilitación: proyección propia sobre el padrón de la seccional. La JCE ya hizo operativos de empadronamiento en Lancaster y Lebanon en 2023; la entrega en el exterior se ampliará a más locales cuando los consulados obtengan autorización del Departamento de Estado.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hay publicado un resultado presidencial o del PRM específico de la OCLEE Philadelphia. Referencias: en la Circunscripción 1, el PRM tenía entre 59.75 % y 60.22 % de los votos de diputados en los conteos preliminares (Diario Libre; Hoy, con 45 % de colegios); a nivel nacional Abinader obtuvo 57.44 %. Se usa 60 % sobre los 8,731 votos emitidos: unos 5,239 votos PRM en 2024 (estimado; los votos válidos son algo menos que los emitidos). Meta mínima 2028: +10 % = 5,763. Escenarios con 60 % de apoyo: Adverso 5,703 votos totales → 3,422; Inercial 8,745 → 5,247 (no alcanza); Realista (abstención 78 %) 10,456 → 6,274 (+20 %); Favorable 11,550 → 6,930 (+32 %). Dos caminos para el +10 %: 9,605 votos totales (participación 20.2 %) con 60 %, o 66 % de apoyo con 8,731 votantes. Red 1+10: 3,982 personas × 85 % = 3,385 votos, el 59 % de 5,763. Tres niveles: piso igualar 2024 (≈5,240), meta +10 % (≈5,760), techo +20 % (≈6,270). Desgaste: un tercer período consecutivo del PRM sin Abinader en la boleta y el malestar social que muestran las encuestas hacen prudente suponer menos apoyo; con 55 % de apoyo la meta exige 10,478 votos totales (22.0 % de participación; 19.7 % si el padrón crece 12 %); con 50 %, 11,526 votos (24.3 %; 21.7 % con padrón +12 %). Supuestos de los escenarios: Adverso, 60 % renueva la cédula y vota el 20 % de los habilitados; Inercial, 80 % y 23 %; Realista, abstención del 78 % sobre el padrón; Favorable, 90 % y 27 %. Sustituir el estimado por el resultado real de las actas de la seccional.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Meta 1+10 de la seccional (CAD): 362 comités = 3,982 personas, calculada como 40 % de los votos emitidos por colegio, redondeado al comité completo. El reparto por zona es proporcional a los electores porque no hay votos por recinto; con los votos JCE por colegio se puede afinar. La agrupación en 8 zonas es una propuesta: ajustar si la seccional usa otra división.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Organigrama operativo propuesto. La dirección ejecutiva coordina con la Seccional PRM Pennsylvania y conduce 5 áreas de apoyo: cédula y padrón (renovación y traslado de recién llegados), datos y CRM (registros únicos y tablero), comunicación (agenda de la diáspora), logística del día de la elección (transporte y delegados) y legal y finanzas (cumplimiento de las leyes 20-23 y 33-18). Cada una de las 8 zonas tiene un coordinador; los números son los equipos 1+10 que debe formar cada zona.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 de arranque de 30 días con entregables verificables. Ritmo de la meta: 362 equipos en unas 13 semanas, unos 28 por semana; si en la semana 4 hay menos de 80 equipos en marcha, se reasignan recursos y se replanifica. Después siguen las 4 etapas hasta mayo de 2028. La fecha legal de primarias es el 3 de octubre de 2027.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Tablero: 4 indicadores con umbrales de semáforo, reportados por zona cada semana. Riesgos: cada uno con su mitigación y un área responsable del organigrama.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Encuestas internas PRM: Markestrategia (2–4 oct. 2026) 48.8 %; RD Elige (sept. 2026) 66.5 % entre simpatizantes. Collado ha dicho que aún no inicia recorridos como aspirante. Respetar los plazos de precampaña y campaña (Ley 20-23 de Régimen Electoral y Ley 33-18 de Partidos), no usar recursos públicos y obtener consentimiento expreso para los datos personales.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Votos 2024 por zona: estimados al repartir los 8,731 votos reales de la seccional en proporción a los electores; por eso la abstención aparece igual (81.6 %) en todas las zonas. Para medir la abstención real de cada zona hacen falta los votos por mesa: actas de los delegados del partido o la Relación de votación JCE (OCLEE 614). Meta realista: participación del 22 % (abstención 78 %), +1,725 votos (≈ 21 por mesa). Meta ambiciosa: 25 % (abstención 75 %), +3,151 votos (≈ 38 por mesa). Referencias: abstención en el exterior 51 % en 2016; Canadá 2024 con 29 % de participación.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Pennsylvania 2028 · Preparado por Orlando Castillo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Pennsylvania 2028 · Preparado por Orlando Castillo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r"/>
          <p:cNvSpPr txBox="1"/>
          <p:nvPr/>
        </p:nvSpPr>
        <p:spPr>
          <a:xfrm>
            <a:off x="548640" y="685800"/>
            <a:ext cx="7223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Plan Estratégico Pennsylvania 2028</a:t>
            </a:r>
            <a:endParaRPr lang="en-US" sz="24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Preparado por Orlando Castillo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57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4"/>
                </a:solidFill>
              </a:rPr>
              <a:t>PROPUESTA PARA EL EQUIPO DE DAVID COLLADO · SECCIONAL PENNSYLVANIA</a:t>
            </a:r>
            <a:endParaRPr lang="en-US" sz="1300" dirty="0"/>
          </a:p>
        </p:txBody>
      </p:sp>
      <p:sp>
        <p:nvSpPr>
          <p:cNvPr id="4" name="Titulo"/>
          <p:cNvSpPr txBox="1"/>
          <p:nvPr/>
        </p:nvSpPr>
        <p:spPr>
          <a:xfrm>
            <a:off x="548640" y="2468880"/>
            <a:ext cx="7223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47,529 electores, solo 8,731 votaron: 8 de cada 10 se quedaron en casa</a:t>
            </a:r>
            <a:endParaRPr lang="en-US" sz="3800" dirty="0"/>
          </a:p>
        </p:txBody>
      </p:sp>
      <p:graphicFrame>
        <p:nvGraphicFramePr>
          <p:cNvPr id="5" name="Participacion" descr=""/>
          <p:cNvGraphicFramePr/>
          <p:nvPr/>
        </p:nvGraphicFramePr>
        <p:xfrm>
          <a:off x="8092440" y="822960"/>
          <a:ext cx="35661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732520" y="20574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18.4 %</a:t>
            </a:r>
            <a:endParaRPr lang="en-US" sz="40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participación 2024</a:t>
            </a:r>
            <a:endParaRPr lang="en-US" sz="4000" dirty="0"/>
          </a:p>
        </p:txBody>
      </p:sp>
      <p:sp>
        <p:nvSpPr>
          <p:cNvPr id="7" name="Dato 1"/>
          <p:cNvSpPr/>
          <p:nvPr/>
        </p:nvSpPr>
        <p:spPr>
          <a:xfrm>
            <a:off x="548640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84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mesas electorales</a:t>
            </a:r>
            <a:endParaRPr lang="en-US" sz="3000" dirty="0"/>
          </a:p>
        </p:txBody>
      </p:sp>
      <p:sp>
        <p:nvSpPr>
          <p:cNvPr id="9" name="Dato 2"/>
          <p:cNvSpPr/>
          <p:nvPr/>
        </p:nvSpPr>
        <p:spPr>
          <a:xfrm>
            <a:off x="3364992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593592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8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zonas de trabajo</a:t>
            </a:r>
            <a:endParaRPr lang="en-US" sz="3000" dirty="0"/>
          </a:p>
        </p:txBody>
      </p:sp>
      <p:sp>
        <p:nvSpPr>
          <p:cNvPr id="11" name="Dato 3"/>
          <p:cNvSpPr/>
          <p:nvPr/>
        </p:nvSpPr>
        <p:spPr>
          <a:xfrm>
            <a:off x="6181344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9944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13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ciudades (PA y DE)</a:t>
            </a:r>
            <a:endParaRPr lang="en-US" sz="3000" dirty="0"/>
          </a:p>
        </p:txBody>
      </p:sp>
      <p:sp>
        <p:nvSpPr>
          <p:cNvPr id="13" name="Dato 4"/>
          <p:cNvSpPr/>
          <p:nvPr/>
        </p:nvSpPr>
        <p:spPr>
          <a:xfrm>
            <a:off x="8997696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226296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38,798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inscritos no votaron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Fuente: padrón electoral, Seccional PRM Pennsylvania (2024) · Votos emitidos JCE 2024 (OCLEE Philadelphia)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Resumen: con 8 zonas y 362 equipos podemos superar en 10 % al PRM de 2024 en Pennsylvania</a:t>
            </a:r>
            <a:endParaRPr lang="en-US" sz="2800" dirty="0"/>
          </a:p>
        </p:txBody>
      </p:sp>
      <p:sp>
        <p:nvSpPr>
          <p:cNvPr id="3" name="Cifra 1"/>
          <p:cNvSpPr/>
          <p:nvPr/>
        </p:nvSpPr>
        <p:spPr>
          <a:xfrm>
            <a:off x="548640" y="1600200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47,529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electores en 13 ciudades</a:t>
            </a:r>
            <a:endParaRPr lang="en-US" sz="3400" dirty="0"/>
          </a:p>
        </p:txBody>
      </p:sp>
      <p:sp>
        <p:nvSpPr>
          <p:cNvPr id="5" name="Cifra 2"/>
          <p:cNvSpPr/>
          <p:nvPr/>
        </p:nvSpPr>
        <p:spPr>
          <a:xfrm>
            <a:off x="548640" y="3044952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3136392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18.4 %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votó en 2024</a:t>
            </a:r>
            <a:endParaRPr lang="en-US" sz="3400" dirty="0"/>
          </a:p>
        </p:txBody>
      </p:sp>
      <p:sp>
        <p:nvSpPr>
          <p:cNvPr id="7" name="Cifra 3"/>
          <p:cNvSpPr/>
          <p:nvPr/>
        </p:nvSpPr>
        <p:spPr>
          <a:xfrm>
            <a:off x="548640" y="4489704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4581144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+26 %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dominicanos en PA desde 2022</a:t>
            </a:r>
            <a:endParaRPr lang="en-US" sz="3400" dirty="0"/>
          </a:p>
        </p:txBody>
      </p:sp>
      <p:sp>
        <p:nvSpPr>
          <p:cNvPr id="9" name="El problema"/>
          <p:cNvSpPr/>
          <p:nvPr/>
        </p:nvSpPr>
        <p:spPr>
          <a:xfrm>
            <a:off x="4160520" y="1600200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389120" y="1600200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problema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1600200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de cada 10 inscritos no votaron y la nueva cédula puede dejar fuera a miles de electores más.</a:t>
            </a:r>
            <a:endParaRPr lang="en-US" sz="1500" dirty="0"/>
          </a:p>
        </p:txBody>
      </p:sp>
      <p:sp>
        <p:nvSpPr>
          <p:cNvPr id="12" name="El plan"/>
          <p:cNvSpPr/>
          <p:nvPr/>
        </p:nvSpPr>
        <p:spPr>
          <a:xfrm>
            <a:off x="4160520" y="2670048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89120" y="2670048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plan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172200" y="2670048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zonas, 8 coordinadores y 362 equipos 1+10. La cédula y el traslado de los recién llegados son la puerta de entrada.</a:t>
            </a:r>
            <a:endParaRPr lang="en-US" sz="1500" dirty="0"/>
          </a:p>
        </p:txBody>
      </p:sp>
      <p:sp>
        <p:nvSpPr>
          <p:cNvPr id="15" name="La meta"/>
          <p:cNvSpPr/>
          <p:nvPr/>
        </p:nvSpPr>
        <p:spPr>
          <a:xfrm>
            <a:off x="4160520" y="3739896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9120" y="3739896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La meta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3739896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5,760 votos para David Collado y el PRM (+10 % sobre 2024). Aun con desgaste, se logra con un 22 % de participación.</a:t>
            </a:r>
            <a:endParaRPr lang="en-US" sz="1500" dirty="0"/>
          </a:p>
        </p:txBody>
      </p:sp>
      <p:sp>
        <p:nvSpPr>
          <p:cNvPr id="18" name="La decisión"/>
          <p:cNvSpPr/>
          <p:nvPr/>
        </p:nvSpPr>
        <p:spPr>
          <a:xfrm>
            <a:off x="4160520" y="4809744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389120" y="4809744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La decisión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172200" y="4809744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Aprobar el plan, nombrar a los 8 coordinadores de zona e iniciar en noviembre.</a:t>
            </a:r>
            <a:endParaRPr lang="en-US" sz="1500" dirty="0"/>
          </a:p>
        </p:txBody>
      </p:sp>
      <p:sp>
        <p:nvSpPr>
          <p:cNvPr id="21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Seccional PRM Pennsylvania (padrón electoral); JCE 2024; INDEX (Registro Sociodemográfico). Meta PRM: estimación propia, ver diapositiva de la meta.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El 66 % del electorado vive fuera de Philadelphia: Reading, Allentown y Hazleton deciden la seccional</a:t>
            </a:r>
            <a:endParaRPr lang="en-US" sz="2800" dirty="0"/>
          </a:p>
        </p:txBody>
      </p:sp>
      <p:graphicFrame>
        <p:nvGraphicFramePr>
          <p:cNvPr id="3" name="Electores por ciudad" descr=""/>
          <p:cNvGraphicFramePr/>
          <p:nvPr/>
        </p:nvGraphicFramePr>
        <p:xfrm>
          <a:off x="548640" y="1600200"/>
          <a:ext cx="67665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arjeta 1"/>
          <p:cNvSpPr/>
          <p:nvPr/>
        </p:nvSpPr>
        <p:spPr>
          <a:xfrm>
            <a:off x="7726680" y="1691640"/>
            <a:ext cx="3913632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955280" y="1801368"/>
            <a:ext cx="347472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48.5 %</a:t>
            </a:r>
            <a:endParaRPr lang="en-US" sz="36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del padrón está en Reading, Allentown y Hazleton: 23,071 electores, más que toda la ciudad de Philadelphia</a:t>
            </a:r>
            <a:endParaRPr lang="en-US" sz="3600" dirty="0"/>
          </a:p>
        </p:txBody>
      </p:sp>
      <p:sp>
        <p:nvSpPr>
          <p:cNvPr id="6" name="Tarjeta 2"/>
          <p:cNvSpPr/>
          <p:nvPr/>
        </p:nvSpPr>
        <p:spPr>
          <a:xfrm>
            <a:off x="7726680" y="3794760"/>
            <a:ext cx="3913632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955280" y="3904488"/>
            <a:ext cx="347472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25 mesas</a:t>
            </a:r>
            <a:endParaRPr lang="en-US" sz="36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concentradas en solo 2 ciudades: Allentown (14) y Hazleton (11). Máxima cobertura con mínima estructura</a:t>
            </a:r>
            <a:endParaRPr lang="en-US" sz="3600" dirty="0"/>
          </a:p>
        </p:txBody>
      </p:sp>
      <p:sp>
        <p:nvSpPr>
          <p:cNvPr id="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Fuente: Seccional PRM Pennsylvania, padrón electoral 2024 (84 mesas, 47,529 electores, 13 ciudades)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La comunidad dominicana en Pennsylvania creció un 26 % desde 2022: el padrón crecerá si los recién llegados se inscriben aquí</a:t>
            </a:r>
            <a:endParaRPr lang="en-US" sz="2800" dirty="0"/>
          </a:p>
        </p:txBody>
      </p:sp>
      <p:graphicFrame>
        <p:nvGraphicFramePr>
          <p:cNvPr id="3" name="Crecimiento poblacion" descr=""/>
          <p:cNvGraphicFramePr/>
          <p:nvPr/>
        </p:nvGraphicFramePr>
        <p:xfrm>
          <a:off x="548640" y="1600200"/>
          <a:ext cx="420624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Oportunidad 1"/>
          <p:cNvSpPr/>
          <p:nvPr/>
        </p:nvSpPr>
        <p:spPr>
          <a:xfrm>
            <a:off x="5074920" y="1600200"/>
            <a:ext cx="3246120" cy="1261872"/>
          </a:xfrm>
          <a:prstGeom prst="roundRect">
            <a:avLst>
              <a:gd name="adj" fmla="val 57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257800" y="1673352"/>
            <a:ext cx="29260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+46,500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dominicanos más en el estado. El consulado reporta que «cada día llega un dominicano más», muchos desde Nueva York</a:t>
            </a:r>
            <a:endParaRPr lang="en-US" sz="2200" dirty="0"/>
          </a:p>
        </p:txBody>
      </p:sp>
      <p:sp>
        <p:nvSpPr>
          <p:cNvPr id="6" name="Oportunidad 2"/>
          <p:cNvSpPr/>
          <p:nvPr/>
        </p:nvSpPr>
        <p:spPr>
          <a:xfrm>
            <a:off x="5074920" y="3017520"/>
            <a:ext cx="3246120" cy="1261872"/>
          </a:xfrm>
          <a:prstGeom prst="roundRect">
            <a:avLst>
              <a:gd name="adj" fmla="val 57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257800" y="3090672"/>
            <a:ext cx="29260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Inscritos en NY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Quien llegó de Nueva York o Nueva Jersey sigue empadronado allá: si no traslada su registro, su voto no cuenta en Pennsylvania</a:t>
            </a:r>
            <a:endParaRPr lang="en-US" sz="2200" dirty="0"/>
          </a:p>
        </p:txBody>
      </p:sp>
      <p:sp>
        <p:nvSpPr>
          <p:cNvPr id="8" name="Dos tramites"/>
          <p:cNvSpPr/>
          <p:nvPr/>
        </p:nvSpPr>
        <p:spPr>
          <a:xfrm>
            <a:off x="5074920" y="4434840"/>
            <a:ext cx="3246120" cy="1417320"/>
          </a:xfrm>
          <a:prstGeom prst="roundRect">
            <a:avLst>
              <a:gd name="adj" fmla="val 516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257800" y="4498848"/>
            <a:ext cx="292608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Dos trámites, una sola cita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Cédula nueva + domicilio electoral en Pennsylvania. Aprovechar la renovación para hacer ambos (confirmar con la JCE).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641080" y="1600200"/>
            <a:ext cx="2999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Padrón de la seccional en 2028 (proyección)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641080" y="2011680"/>
          <a:ext cx="2999232" cy="914400"/>
        </p:xfrm>
        <a:graphic>
          <a:graphicData uri="http://schemas.openxmlformats.org/drawingml/2006/table">
            <a:tbl>
              <a:tblPr/>
              <a:tblGrid>
                <a:gridCol w="1764792"/>
                <a:gridCol w="12344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Escenario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Electores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2024 (real)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47,529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Conservador +5 %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49,905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Base +12 %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53,232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Alto +26 %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59,887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8641080" y="4251960"/>
            <a:ext cx="299923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Escenario Base: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unos 5,700 electores nuevos; con 22 % de participación, </a:t>
            </a:r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+1,250 votos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adicionales.</a:t>
            </a:r>
            <a:endParaRPr lang="en-US" sz="1400" dirty="0"/>
          </a:p>
        </p:txBody>
      </p:sp>
      <p:sp>
        <p:nvSpPr>
          <p:cNvPr id="13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INDEX, Registro Sociodemográfico (181,156 a dic. 2022); registro más reciente citado en prensa (227,647); Consulado RD en Filadelfia. Padrón 2028: proyección propia.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Tres obstáculos pueden reducir el voto de 2028: desafección, nueva cédula y dispersión</a:t>
            </a:r>
            <a:endParaRPr lang="en-US" sz="2800" dirty="0"/>
          </a:p>
        </p:txBody>
      </p:sp>
      <p:sp>
        <p:nvSpPr>
          <p:cNvPr id="3" name="Desafio 1"/>
          <p:cNvSpPr/>
          <p:nvPr/>
        </p:nvSpPr>
        <p:spPr>
          <a:xfrm>
            <a:off x="548640" y="1600200"/>
            <a:ext cx="3520440" cy="420624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82880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1993392"/>
            <a:ext cx="402336" cy="40233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8288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Desafección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78892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51 % → 81 %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abstención en el exterior, 2016 frente a 2024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2062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 la seccional, el 81.6 % no votó en 2024. El votante no ve relación entre su voto y su vida en EE. UU.</a:t>
            </a:r>
            <a:endParaRPr lang="en-US" sz="1500" dirty="0"/>
          </a:p>
        </p:txBody>
      </p:sp>
      <p:sp>
        <p:nvSpPr>
          <p:cNvPr id="9" name="Desafio 2"/>
          <p:cNvSpPr/>
          <p:nvPr/>
        </p:nvSpPr>
        <p:spPr>
          <a:xfrm>
            <a:off x="4334256" y="1600200"/>
            <a:ext cx="3520440" cy="420624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608576" y="182880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3168" y="199339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522976" y="18288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Nueva cédula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4608576" y="278892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Enero 2028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cierre de la renovación en el exterior</a:t>
            </a:r>
            <a:endParaRPr lang="en-US" sz="3400" dirty="0"/>
          </a:p>
        </p:txBody>
      </p:sp>
      <p:sp>
        <p:nvSpPr>
          <p:cNvPr id="14" name="Text 10"/>
          <p:cNvSpPr txBox="1"/>
          <p:nvPr/>
        </p:nvSpPr>
        <p:spPr>
          <a:xfrm>
            <a:off x="4608576" y="42062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Sin cédula nueva no se vota. Solo por cita y con 2 centros en la zona: Philadelphia y Allentown.</a:t>
            </a:r>
            <a:endParaRPr lang="en-US" sz="1500" dirty="0"/>
          </a:p>
        </p:txBody>
      </p:sp>
      <p:sp>
        <p:nvSpPr>
          <p:cNvPr id="15" name="Desafio 3"/>
          <p:cNvSpPr/>
          <p:nvPr/>
        </p:nvSpPr>
        <p:spPr>
          <a:xfrm>
            <a:off x="8119872" y="1600200"/>
            <a:ext cx="3520440" cy="420624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394192" y="182880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8784" y="1993392"/>
            <a:ext cx="402336" cy="402336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308592" y="18288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Dispersión</a:t>
            </a:r>
            <a:endParaRPr lang="en-US" sz="2200" dirty="0"/>
          </a:p>
        </p:txBody>
      </p:sp>
      <p:sp>
        <p:nvSpPr>
          <p:cNvPr id="19" name="Text 14"/>
          <p:cNvSpPr txBox="1"/>
          <p:nvPr/>
        </p:nvSpPr>
        <p:spPr>
          <a:xfrm>
            <a:off x="8394192" y="278892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46 %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del padrón vive a 40 millas o más de un centro de cedulación</a:t>
            </a:r>
            <a:endParaRPr lang="en-US" sz="3400" dirty="0"/>
          </a:p>
        </p:txBody>
      </p:sp>
      <p:sp>
        <p:nvSpPr>
          <p:cNvPr id="20" name="Text 15"/>
          <p:cNvSpPr txBox="1"/>
          <p:nvPr/>
        </p:nvSpPr>
        <p:spPr>
          <a:xfrm>
            <a:off x="8394192" y="42062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13 ciudades en unas 150 millas. Cada voto cuesta más tiempo y más transporte.</a:t>
            </a:r>
            <a:endParaRPr lang="en-US" sz="1500" dirty="0"/>
          </a:p>
        </p:txBody>
      </p:sp>
      <p:sp>
        <p:nvSpPr>
          <p:cNvPr id="21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estudio IIDH/CAPEL para la JCE (abstención 2024); JCE, calendario de la nueva cédula en el exterior; distancias aproximadas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Cada elector sin cédula nueva es un voto perdido: la renovación en el exterior cierra en enero de 2028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280160" y="1965960"/>
            <a:ext cx="969264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214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8288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May 2026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Inicia la renovación en el exterior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57530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60604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Oct 2026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Arranque del plan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99846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Abr 2027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Cédula antigua deja de aceptarse en RD*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21624" y="1837944"/>
            <a:ext cx="256032" cy="256032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5236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Ene 2028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Cierre de la renovación en el exterior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84478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87552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May 2028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Elecciones generales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29184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Escenarios de habilitación (proyección)</a:t>
            </a:r>
            <a:endParaRPr lang="en-US" sz="1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03320"/>
          <a:ext cx="63093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03120"/>
                <a:gridCol w="210312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Renovación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Habilitados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No podrán votar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90 %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42,776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4,753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70 %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33,270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</a:rPr>
                        <a:t>14,259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50 %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23,765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</a:rPr>
                        <a:t>23,764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16" name="Acciones cedula"/>
          <p:cNvSpPr/>
          <p:nvPr/>
        </p:nvSpPr>
        <p:spPr>
          <a:xfrm>
            <a:off x="7223760" y="3291840"/>
            <a:ext cx="4416552" cy="260604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452360" y="3429000"/>
            <a:ext cx="3977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Primer paso: medir el avance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No hay cifra pública de cuántos ya renovaron en PA. En todo el país va el 46 %.</a:t>
            </a:r>
            <a:endParaRPr lang="en-US" sz="22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2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Pedir a la JCE y a los consulados el número de cédulas entregadas en PA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Operativos móviles en Hazleton, Reading y Lancaster y viajes en grupo con cita</a:t>
            </a:r>
            <a:endParaRPr lang="en-US" sz="2200" dirty="0"/>
          </a:p>
        </p:txBody>
      </p:sp>
      <p:sp>
        <p:nvSpPr>
          <p:cNvPr id="1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JCE, nueva cédula en el exterior (por cita, cierre en enero de 2028). *Confirmar con la JCE si el corte de abril de 2027 aplica al exterior.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Aun con desgaste, superar en 10 % al PRM de 2024 es alcanzable: hace falta un 22 % de participación</a:t>
            </a:r>
            <a:endParaRPr lang="en-US" sz="2800" dirty="0"/>
          </a:p>
        </p:txBody>
      </p:sp>
      <p:graphicFrame>
        <p:nvGraphicFramePr>
          <p:cNvPr id="3" name="Comparacion PRM" descr=""/>
          <p:cNvGraphicFramePr/>
          <p:nvPr/>
        </p:nvGraphicFramePr>
        <p:xfrm>
          <a:off x="548640" y="1600200"/>
          <a:ext cx="667512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res niveles"/>
          <p:cNvSpPr/>
          <p:nvPr/>
        </p:nvSpPr>
        <p:spPr>
          <a:xfrm>
            <a:off x="7589520" y="1600200"/>
            <a:ext cx="4050792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818120" y="169164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Tres niveles de meta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7818120" y="212140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Piso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igualar 2024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0058400" y="212140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5,240 votos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818120" y="255117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Meta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+10 %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0058400" y="255117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5,760 votos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818120" y="298094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Techo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+20 %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0" y="298094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6,270 votos</a:t>
            </a:r>
            <a:endParaRPr lang="en-US" sz="1500" dirty="0"/>
          </a:p>
        </p:txBody>
      </p:sp>
      <p:sp>
        <p:nvSpPr>
          <p:cNvPr id="12" name="Desgaste"/>
          <p:cNvSpPr/>
          <p:nvPr/>
        </p:nvSpPr>
        <p:spPr>
          <a:xfrm>
            <a:off x="7589520" y="3657600"/>
            <a:ext cx="4050792" cy="2194560"/>
          </a:xfrm>
          <a:prstGeom prst="roundRect">
            <a:avLst>
              <a:gd name="adj" fmla="val 3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818120" y="374904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Si hay desgaste: participación necesaria para la meta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7818120" y="43708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Apoyo 60 % (igual que 2024)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10515600" y="43708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20.2 %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7818120" y="48280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Apoyo 55 % (desgaste moderado)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10515600" y="48280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22.0 %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818120" y="52852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Apoyo 50 % (desgaste fuerte)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0515600" y="52852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24.3 %</a:t>
            </a:r>
            <a:endParaRPr lang="en-US" sz="1600" dirty="0"/>
          </a:p>
        </p:txBody>
      </p:sp>
      <p:sp>
        <p:nvSpPr>
          <p:cNvPr id="20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*PRM 2024 estimado: 60 % (diputados C1) × 8,731 votos. Escenarios: renovación de cédula y participación supuestas (ver notas). Reemplazar con actas por mesa.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Meta de organización: 362 equipos de 11 personas (3,982 en total) repartidos en 8 zonas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758952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822960"/>
                <a:gridCol w="1051560"/>
                <a:gridCol w="960120"/>
                <a:gridCol w="11887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Zona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Mesas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Electores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Equipos 1+10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Personas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Philadelphia Noreste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17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9,649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73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803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Philadelphia Kensington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6,588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Berks (Reading)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8,368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704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Lehigh Valley (Allentown)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8,183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62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682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Hazleton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6,520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Wilkes-Barre y Scranton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1,767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13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143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Centro-Sur (Harrisburg, Lancaster, York, Lebanon)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5,450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42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462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Delaware (Wilmington)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1,004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88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Total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84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47,529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362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3,982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Como se lee"/>
          <p:cNvSpPr/>
          <p:nvPr/>
        </p:nvSpPr>
        <p:spPr>
          <a:xfrm>
            <a:off x="8503920" y="1600200"/>
            <a:ext cx="3136392" cy="2514600"/>
          </a:xfrm>
          <a:prstGeom prst="roundRect">
            <a:avLst>
              <a:gd name="adj" fmla="val 29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732520" y="1737360"/>
            <a:ext cx="269748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Cómo se lee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Cada equipo = 1 dirigente + 10 personas que se comprometen a votar.</a:t>
            </a:r>
            <a:endParaRPr lang="en-US" sz="18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Ejemplo: Hazleton debe formar 50 equipos, es decir, 550 personas.</a:t>
            </a:r>
            <a:endParaRPr lang="en-US" sz="1800" dirty="0"/>
          </a:p>
        </p:txBody>
      </p:sp>
      <p:sp>
        <p:nvSpPr>
          <p:cNvPr id="6" name="Regla cedula"/>
          <p:cNvSpPr/>
          <p:nvPr/>
        </p:nvSpPr>
        <p:spPr>
          <a:xfrm>
            <a:off x="8503920" y="4343400"/>
            <a:ext cx="3136392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732520" y="4434840"/>
            <a:ext cx="2697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Regla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Una persona cuenta solo si ya tiene la cédula nueva.</a:t>
            </a:r>
            <a:endParaRPr lang="en-US" sz="1600" dirty="0"/>
          </a:p>
        </p:txBody>
      </p:sp>
      <p:sp>
        <p:nvSpPr>
          <p:cNvPr id="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Mesas y electores: Seccional PRM Pennsylvania. Comités repartidos en proporción a los electores; zonas agrupadas por cercanía geográfica (propuesta).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Una estructura clara: dirección ejecutiva, 5 áreas de apoyo y 8 coordinadores de zona</a:t>
            </a:r>
            <a:endParaRPr lang="en-US" sz="2800" dirty="0"/>
          </a:p>
        </p:txBody>
      </p:sp>
      <p:sp>
        <p:nvSpPr>
          <p:cNvPr id="3" name="Direccion ejecutiva"/>
          <p:cNvSpPr/>
          <p:nvPr/>
        </p:nvSpPr>
        <p:spPr>
          <a:xfrm>
            <a:off x="4498848" y="1508760"/>
            <a:ext cx="320040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498848" y="15087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Dirección ejecutiva</a:t>
            </a:r>
            <a:endParaRPr lang="en-US" sz="1800" dirty="0"/>
          </a:p>
        </p:txBody>
      </p:sp>
      <p:sp>
        <p:nvSpPr>
          <p:cNvPr id="5" name="Seccional PRM"/>
          <p:cNvSpPr/>
          <p:nvPr/>
        </p:nvSpPr>
        <p:spPr>
          <a:xfrm>
            <a:off x="8412480" y="1554480"/>
            <a:ext cx="3227832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8503920" y="1554480"/>
            <a:ext cx="3044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Coordinación con la Seccional PRM Pennsylvania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699248" y="1874520"/>
            <a:ext cx="71323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99048" y="2240280"/>
            <a:ext cx="0" cy="27432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45920" y="2514600"/>
            <a:ext cx="903427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45920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1" name="Area Cédula y padrón"/>
          <p:cNvSpPr/>
          <p:nvPr/>
        </p:nvSpPr>
        <p:spPr>
          <a:xfrm>
            <a:off x="548640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Cédula y padrón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904488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4" name="Area Datos y CRM"/>
          <p:cNvSpPr/>
          <p:nvPr/>
        </p:nvSpPr>
        <p:spPr>
          <a:xfrm>
            <a:off x="2807208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807208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Datos y CRM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163056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7" name="Area Comunicación"/>
          <p:cNvSpPr/>
          <p:nvPr/>
        </p:nvSpPr>
        <p:spPr>
          <a:xfrm>
            <a:off x="5065776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65776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Comunicación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421624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0" name="Area Logística día E"/>
          <p:cNvSpPr/>
          <p:nvPr/>
        </p:nvSpPr>
        <p:spPr>
          <a:xfrm>
            <a:off x="7324344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24344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Logística día E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10680192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3" name="Area Legal y finanzas"/>
          <p:cNvSpPr/>
          <p:nvPr/>
        </p:nvSpPr>
        <p:spPr>
          <a:xfrm>
            <a:off x="9582912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582912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Legal y finanzas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Áreas de apoyo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3611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8 coordinadores de zona · equipos 1+10 a formar</a:t>
            </a:r>
            <a:endParaRPr lang="en-US" sz="1300" dirty="0"/>
          </a:p>
        </p:txBody>
      </p:sp>
      <p:sp>
        <p:nvSpPr>
          <p:cNvPr id="27" name="Zona Phila. Noreste"/>
          <p:cNvSpPr/>
          <p:nvPr/>
        </p:nvSpPr>
        <p:spPr>
          <a:xfrm>
            <a:off x="548640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03504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73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Phila. Noreste</a:t>
            </a:r>
            <a:endParaRPr lang="en-US" sz="2200" dirty="0"/>
          </a:p>
        </p:txBody>
      </p:sp>
      <p:sp>
        <p:nvSpPr>
          <p:cNvPr id="29" name="Zona Phila. Kensington"/>
          <p:cNvSpPr/>
          <p:nvPr/>
        </p:nvSpPr>
        <p:spPr>
          <a:xfrm>
            <a:off x="1947672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002536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50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Phila. Kensington</a:t>
            </a:r>
            <a:endParaRPr lang="en-US" sz="2200" dirty="0"/>
          </a:p>
        </p:txBody>
      </p:sp>
      <p:sp>
        <p:nvSpPr>
          <p:cNvPr id="31" name="Zona Reading"/>
          <p:cNvSpPr/>
          <p:nvPr/>
        </p:nvSpPr>
        <p:spPr>
          <a:xfrm>
            <a:off x="3346704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401568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64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Reading</a:t>
            </a:r>
            <a:endParaRPr lang="en-US" sz="2200" dirty="0"/>
          </a:p>
        </p:txBody>
      </p:sp>
      <p:sp>
        <p:nvSpPr>
          <p:cNvPr id="33" name="Zona Allentown"/>
          <p:cNvSpPr/>
          <p:nvPr/>
        </p:nvSpPr>
        <p:spPr>
          <a:xfrm>
            <a:off x="4745736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800600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62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Allentown</a:t>
            </a:r>
            <a:endParaRPr lang="en-US" sz="2200" dirty="0"/>
          </a:p>
        </p:txBody>
      </p:sp>
      <p:sp>
        <p:nvSpPr>
          <p:cNvPr id="35" name="Zona Hazleton"/>
          <p:cNvSpPr/>
          <p:nvPr/>
        </p:nvSpPr>
        <p:spPr>
          <a:xfrm>
            <a:off x="6144768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199632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50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Hazleton</a:t>
            </a:r>
            <a:endParaRPr lang="en-US" sz="2200" dirty="0"/>
          </a:p>
        </p:txBody>
      </p:sp>
      <p:sp>
        <p:nvSpPr>
          <p:cNvPr id="37" name="Zona W-Barre / Scranton"/>
          <p:cNvSpPr/>
          <p:nvPr/>
        </p:nvSpPr>
        <p:spPr>
          <a:xfrm>
            <a:off x="7543800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598664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13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W-Barre / Scranton</a:t>
            </a:r>
            <a:endParaRPr lang="en-US" sz="2200" dirty="0"/>
          </a:p>
        </p:txBody>
      </p:sp>
      <p:sp>
        <p:nvSpPr>
          <p:cNvPr id="39" name="Zona Centro-Sur"/>
          <p:cNvSpPr/>
          <p:nvPr/>
        </p:nvSpPr>
        <p:spPr>
          <a:xfrm>
            <a:off x="8942832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997696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42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Centro-Sur</a:t>
            </a:r>
            <a:endParaRPr lang="en-US" sz="2200" dirty="0"/>
          </a:p>
        </p:txBody>
      </p:sp>
      <p:sp>
        <p:nvSpPr>
          <p:cNvPr id="41" name="Zona Delaware"/>
          <p:cNvSpPr/>
          <p:nvPr/>
        </p:nvSpPr>
        <p:spPr>
          <a:xfrm>
            <a:off x="10341864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0396728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8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Delaware</a:t>
            </a:r>
            <a:endParaRPr lang="en-US" sz="2200" dirty="0"/>
          </a:p>
        </p:txBody>
      </p:sp>
      <p:sp>
        <p:nvSpPr>
          <p:cNvPr id="43" name="Base"/>
          <p:cNvSpPr/>
          <p:nvPr/>
        </p:nvSpPr>
        <p:spPr>
          <a:xfrm>
            <a:off x="548640" y="51206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51206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362 equipos 1+10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3,982 personas organizadas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84 mesas con delegado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Primeros 30 días: estructura instalada y primer corte del tablero en la semana 4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755648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5564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600200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1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Nombrar a los 8 coordinadores de zona y a los responsables de las 5 áreas de apoyo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825496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825496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670048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2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Formar el equipo de cada zona y pedir a la JCE y a los consulados el dato de cédulas renovadas en PA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895344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89534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739896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3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Censo de cédula en la red y primeros equipos 1+10 en formación; reunión de coordinación con la Seccional PRM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965192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9651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809744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4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Primer corte del tablero por zona: al menos 80 equipos en marcha; informe a la dirección de campaña</a:t>
            </a:r>
            <a:endParaRPr lang="en-US" sz="1600" dirty="0"/>
          </a:p>
        </p:txBody>
      </p:sp>
      <p:sp>
        <p:nvSpPr>
          <p:cNvPr id="15" name="Ruta 2028"/>
          <p:cNvSpPr/>
          <p:nvPr/>
        </p:nvSpPr>
        <p:spPr>
          <a:xfrm>
            <a:off x="7498080" y="1600200"/>
            <a:ext cx="4142232" cy="4224528"/>
          </a:xfrm>
          <a:prstGeom prst="roundRect">
            <a:avLst>
              <a:gd name="adj" fmla="val 176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17373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Después: ruta hasta mayo de 2028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726680" y="22402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Instalar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nov 2026 – feb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Estructura completa; red 1+10 con cédula nueva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3127248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Habilitar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mar – sep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362 equipos; 60 % del padrón renovado; recién llegados trasladados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4014216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Consolidar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oct 2027 – ene 2028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Proceso interno del partido; 90 % renovado antes del cierre del padrón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4901184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Movilizar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feb – may 2028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Delegados en las 84 mesas, transporte y día de la elección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Cada semana, un tablero por zona; cada riesgo, un responsable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Tablero semanal por zona</a:t>
            </a:r>
            <a:endParaRPr lang="en-US" sz="1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53949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868680"/>
                <a:gridCol w="868680"/>
                <a:gridCol w="868680"/>
                <a:gridCol w="86868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Indicador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Meta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Verde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Amarillo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Rojo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Equipos 1+10 nuevos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28 / sem.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≥ 28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18 – 27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18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Red con cédula nueva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≥ 90 %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60 – 89 %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60 %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Recién llegados trasladados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Por zona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≥ 90 %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60 – 89 %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60 %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Mesas con delegado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84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84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70 – 83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70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6177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3"/>
                </a:solidFill>
              </a:rPr>
              <a:t>Se reporta cada semana por zona; el corte mensual va a la dirección de campaña.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6263640" y="1554480"/>
            <a:ext cx="5376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Riesgos y cómo los mitigamos</a:t>
            </a:r>
            <a:endParaRPr lang="en-US" sz="1600" dirty="0"/>
          </a:p>
        </p:txBody>
      </p:sp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965960"/>
          <a:ext cx="537667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2496312"/>
                <a:gridCol w="14630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Riesgo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Mitigación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Responsable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Nueva cédula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Operativos móviles y viajes en grupo con cita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Cédula y padrón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Desafección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Agenda de la diáspora; 8 encuentros de escucha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Comunicación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Datos incompletos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CRM con registros únicos; actas por mesa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Datos y CRM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División interna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Una sola estructura con la Seccional PRM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Dirección ejecutiva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Cumplimiento legal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Revisión de actividades; datos con consentimiento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Legal y finanzas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ulo"/>
          <p:cNvSpPr txBox="1"/>
          <p:nvPr/>
        </p:nvSpPr>
        <p:spPr>
          <a:xfrm>
            <a:off x="548640" y="36576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ganar Pennsylvania con David Collado: primero habilitar, después convencer y finalmente movilizar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4"/>
                </a:solidFill>
              </a:rPr>
              <a:t>Collado encabeza las preferencias internas del PRM (48.8 %, Markestrategia, oct. 2026). Esa ventaja solo cuenta si los electores pueden votar.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227685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9844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cédula como puerta de entrada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Citas, viajes en grupo y traslado de los recién llegados al padrón de Pennsylvania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3191256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9844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Agenda de la diáspora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Consulados, remesas, vivienda e inversión; validarla en 8 encuentros de escucha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54864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410565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9844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Priorizar donde rinde más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Allentown y Hazleton (25 mesas en 2 ciudades) y Reading (18 % del padrón)</a:t>
            </a:r>
            <a:endParaRPr lang="en-US" sz="1600" dirty="0"/>
          </a:p>
        </p:txBody>
      </p:sp>
      <p:sp>
        <p:nvSpPr>
          <p:cNvPr id="13" name="Shape 8"/>
          <p:cNvSpPr/>
          <p:nvPr/>
        </p:nvSpPr>
        <p:spPr>
          <a:xfrm>
            <a:off x="548640" y="48737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5020056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298448" y="48006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Líderes con credibilidad local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Iglesias, asociaciones y comercios dominicanos: de ahí salen los líderes de cada zona</a:t>
            </a:r>
            <a:endParaRPr lang="en-US" sz="1600" dirty="0"/>
          </a:p>
        </p:txBody>
      </p:sp>
      <p:sp>
        <p:nvSpPr>
          <p:cNvPr id="16" name="Shape 10"/>
          <p:cNvSpPr/>
          <p:nvPr/>
        </p:nvSpPr>
        <p:spPr>
          <a:xfrm>
            <a:off x="621792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4224" y="2276856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96772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Una sola estructura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Coordinar con la Seccional PRM Pennsylvania; la división interna resta votos</a:t>
            </a:r>
            <a:endParaRPr lang="en-US" sz="1600" dirty="0"/>
          </a:p>
        </p:txBody>
      </p:sp>
      <p:sp>
        <p:nvSpPr>
          <p:cNvPr id="19" name="Shape 12"/>
          <p:cNvSpPr/>
          <p:nvPr/>
        </p:nvSpPr>
        <p:spPr>
          <a:xfrm>
            <a:off x="621792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4224" y="3191256"/>
            <a:ext cx="274320" cy="27432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96772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Medir cada semana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CRM con registros únicos y cédula verificada; corte semanal por zona</a:t>
            </a:r>
            <a:endParaRPr lang="en-US" sz="1600" dirty="0"/>
          </a:p>
        </p:txBody>
      </p:sp>
      <p:sp>
        <p:nvSpPr>
          <p:cNvPr id="22" name="Shape 14"/>
          <p:cNvSpPr/>
          <p:nvPr/>
        </p:nvSpPr>
        <p:spPr>
          <a:xfrm>
            <a:off x="621792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4224" y="4105656"/>
            <a:ext cx="274320" cy="274320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696772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Cumplir la ley en todo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Leyes 20-23 y 33-18, sin recursos públicos, datos con consentimiento expreso</a:t>
            </a:r>
            <a:endParaRPr lang="en-US" sz="1600" dirty="0"/>
          </a:p>
        </p:txBody>
      </p:sp>
      <p:sp>
        <p:nvSpPr>
          <p:cNvPr id="25" name="Decision"/>
          <p:cNvSpPr/>
          <p:nvPr/>
        </p:nvSpPr>
        <p:spPr>
          <a:xfrm>
            <a:off x="6217920" y="4800600"/>
            <a:ext cx="5422392" cy="1371600"/>
          </a:xfrm>
          <a:prstGeom prst="roundRect">
            <a:avLst>
              <a:gd name="adj" fmla="val 533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6" name="Text 17"/>
          <p:cNvSpPr txBox="1"/>
          <p:nvPr/>
        </p:nvSpPr>
        <p:spPr>
          <a:xfrm>
            <a:off x="6446520" y="484632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Decisión que se pide hoy</a:t>
            </a:r>
            <a:endParaRPr lang="en-US" sz="16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Aprobar el plan con la meta de al menos 5,760 votos (+10 % sobre el PRM 2024), nombrar a los 8 coordinadores e iniciar en noviembre.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Anexo · Bajar la abstención de 81.6 % a 78 % suma unos 1,700 votos; llegar a 75 % suma 3,150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786384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914400"/>
                <a:gridCol w="1051560"/>
                <a:gridCol w="1051560"/>
                <a:gridCol w="1417320"/>
                <a:gridCol w="14630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Zona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Electores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Votaron 2024*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Abstención*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Realista: 78 %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Ambiciosa: 75 %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Philadelphia Noreste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9,649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1,773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2,123 (+350)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2,412 (+639)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Philadelphia Kensington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6,588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1,210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1,449 (+239)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1,647 (+437)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Berks (Reading)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8,368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1,537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1,841 (+304)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2,092 (+555)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Lehigh Valley (Allentown)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8,183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1,503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1,800 (+297)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2,046 (+543)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Hazleton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6,520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1,198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1,434 (+236)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1,630 (+432)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Wilkes-Barre y Scranton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1,767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325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389 (+64)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442 (+117)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Centro-Sur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5,450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1,001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1,199 (+198)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1,362 (+361)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Delaware (Wilmington)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1,004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184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221 (+37)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251 (+67)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Seccional (real)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47,529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8,731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10,456 (+1,725)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11,882 (+3,151)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Por que realista"/>
          <p:cNvSpPr/>
          <p:nvPr/>
        </p:nvSpPr>
        <p:spPr>
          <a:xfrm>
            <a:off x="8732520" y="1600200"/>
            <a:ext cx="2907792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915400" y="1691640"/>
            <a:ext cx="25603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¿Por qué 78 % es realista?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Exterior 2016: 51 % de abstención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Canadá 2024: 71 %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Solo hay que recuperar 3.6 puntos: unos 21 votos más por mesa</a:t>
            </a:r>
            <a:endParaRPr lang="en-US" sz="1600" dirty="0"/>
          </a:p>
        </p:txBody>
      </p:sp>
      <p:sp>
        <p:nvSpPr>
          <p:cNvPr id="6" name="Dato real por zona"/>
          <p:cNvSpPr/>
          <p:nvPr/>
        </p:nvSpPr>
        <p:spPr>
          <a:xfrm>
            <a:off x="8732520" y="4023360"/>
            <a:ext cx="2907792" cy="1828800"/>
          </a:xfrm>
          <a:prstGeom prst="roundRect">
            <a:avLst>
              <a:gd name="adj" fmla="val 4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915400" y="411480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Para tener el dato real por zona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Usar las actas de cada mesa (delegados del partido) o la Relación de votación JCE, OCLEE 614.</a:t>
            </a:r>
            <a:endParaRPr lang="en-US" sz="1500" dirty="0"/>
          </a:p>
        </p:txBody>
      </p:sp>
      <p:sp>
        <p:nvSpPr>
          <p:cNvPr id="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*Por zona: estimado con la participación real de la seccional (18.4 %), a falta de actas por mesa. Total seccional: dato real JCE 2024. Metas: proyección propia.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D El Proximo">
  <a:themeElements>
    <a:clrScheme name="CAD El Proximo">
      <a:dk1>
        <a:srgbClr val="1B1F2A"/>
      </a:dk1>
      <a:lt1>
        <a:srgbClr val="FFFFFF"/>
      </a:lt1>
      <a:dk2>
        <a:srgbClr val="002B63"/>
      </a:dk2>
      <a:lt2>
        <a:srgbClr val="EEF2F8"/>
      </a:lt2>
      <a:accent1>
        <a:srgbClr val="002B63"/>
      </a:accent1>
      <a:accent2>
        <a:srgbClr val="DA1822"/>
      </a:accent2>
      <a:accent3>
        <a:srgbClr val="4F75AE"/>
      </a:accent3>
      <a:accent4>
        <a:srgbClr val="9AA7BD"/>
      </a:accent4>
      <a:accent5>
        <a:srgbClr val="E9A23B"/>
      </a:accent5>
      <a:accent6>
        <a:srgbClr val="2E8B57"/>
      </a:accent6>
      <a:hlink>
        <a:srgbClr val="4F75AE"/>
      </a:hlink>
      <a:folHlink>
        <a:srgbClr val="9AA7BD"/>
      </a:folHlink>
    </a:clrScheme>
    <a:fontScheme name="CAD El Proximo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Seccional Pennsylvania · Plan 2028</dc:title>
  <dc:subject>PptxGenJS Presentation</dc:subject>
  <dc:creator>Orlando Castillo</dc:creator>
  <cp:lastModifiedBy>Orlando Castillo</cp:lastModifiedBy>
  <cp:revision>1</cp:revision>
  <dcterms:created xsi:type="dcterms:W3CDTF">2026-10-21T03:58:41Z</dcterms:created>
  <dcterms:modified xsi:type="dcterms:W3CDTF">2026-10-21T03:58:41Z</dcterms:modified>
</cp:coreProperties>
</file>