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919cf088-f5c0-42e7-0f4e-535f43dfa251}">
          <p14:sldIdLst>
            <p14:sldId id="256"/>
            <p14:sldId id="257"/>
            <p14:sldId id="258"/>
          </p14:sldIdLst>
        </p14:section>
        <p14:section name="Desafíos" id="{2cfc1398-48d4-d350-576f-0345f826ec8e}">
          <p14:sldIdLst>
            <p14:sldId id="259"/>
            <p14:sldId id="260"/>
          </p14:sldIdLst>
        </p14:section>
        <p14:section name="Escenarios y meta" id="{32c8c99f-f9c2-6c2a-4377-10e17fdab2ee}">
          <p14:sldIdLst>
            <p14:sldId id="261"/>
            <p14:sldId id="262"/>
            <p14:sldId id="263"/>
          </p14:sldIdLst>
        </p14:section>
        <p14:section name="Plan y recomendación" id="{b1969fd8-4de2-1a86-7be0-f2dafc8e96d5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proyectados 2028 en la seccional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 real</c:v>
                  </c:pt>
                  <c:pt idx="1">
                    <c:v>Adverso</c:v>
                  </c:pt>
                  <c:pt idx="2">
                    <c:v>Inercial</c:v>
                  </c:pt>
                  <c:pt idx="3">
                    <c:v>Favorable (con el plan)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8731</c:v>
                </c:pt>
                <c:pt idx="1">
                  <c:v>5703</c:v>
                </c:pt>
                <c:pt idx="2">
                  <c:v>8745</c:v>
                </c:pt>
                <c:pt idx="3">
                  <c:v>11550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Adverso 47,529 × 60 % × 20 % ≈ 5,700. Inercial 47,529 × 80 % × 23 % ≈ 8,750. Favorable 47,529 × 90 % × 27 % ≈ 11,550. Referencia 2024: 8,731 votos. Son supuestos de trabajo, no datos de la JCE.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6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de la meta: 362 comités en ~13 semanas = 28 comités por semana. Semáforo semanal: verde 28 o más, amarillo 18–27, rojo menos de 18. La fecha del 3 de octubre de 2027 es la fecha legal para primarias; el método del PRM para escoger candidato presidencial aún no está aprobado formalmente.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SECCIONAL PENNSYLVANIA · CIRCUNSCRIPCIÓN I · RUMBO A MAYO 2028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Sin un plan, la seccional puede perder un tercio de sus votos; con el plan, puede crecer un 32 %</a:t>
            </a:r>
            <a:endParaRPr lang="en-US" sz="2800" dirty="0"/>
          </a:p>
        </p:txBody>
      </p:sp>
      <p:graphicFrame>
        <p:nvGraphicFramePr>
          <p:cNvPr id="3" name="Escenarios" descr=""/>
          <p:cNvGraphicFramePr/>
          <p:nvPr/>
        </p:nvGraphicFramePr>
        <p:xfrm>
          <a:off x="548640" y="1600200"/>
          <a:ext cx="60350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scenario Adverso"/>
          <p:cNvSpPr/>
          <p:nvPr/>
        </p:nvSpPr>
        <p:spPr>
          <a:xfrm>
            <a:off x="6949440" y="1691640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6916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−35 %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691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Adverso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60 % renueva la cédula · vota el 20 % de los habilitados</a:t>
            </a:r>
            <a:endParaRPr lang="en-US" sz="1600" dirty="0"/>
          </a:p>
        </p:txBody>
      </p:sp>
      <p:sp>
        <p:nvSpPr>
          <p:cNvPr id="7" name="Escenario Inercial"/>
          <p:cNvSpPr/>
          <p:nvPr/>
        </p:nvSpPr>
        <p:spPr>
          <a:xfrm>
            <a:off x="6949440" y="2770632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2770632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≈ 0 %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7706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Inercial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80 % renueva · vota el 23 %</a:t>
            </a:r>
            <a:endParaRPr lang="en-US" sz="1600" dirty="0"/>
          </a:p>
        </p:txBody>
      </p:sp>
      <p:sp>
        <p:nvSpPr>
          <p:cNvPr id="10" name="Escenario Favorable"/>
          <p:cNvSpPr/>
          <p:nvPr/>
        </p:nvSpPr>
        <p:spPr>
          <a:xfrm>
            <a:off x="6949440" y="3849624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849624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+32 %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84962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Favorable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90 % renueva · vota el 27 % (con el plan en marcha)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5029200"/>
            <a:ext cx="4690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que más separa un escenario de otro es la 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renovación de la cédula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no la persuasión.</a:t>
            </a:r>
            <a:endParaRPr lang="en-US" sz="1600" dirty="0"/>
          </a:p>
        </p:txBody>
      </p:sp>
      <p:sp>
        <p:nvSpPr>
          <p:cNvPr id="14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Proyección propia sobre 47,529 electores. Supuestos de renovación y participación explícitos; actualizar con el avance real de la cédula.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3,572 (+588)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4,059 (+1,075)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8,287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1,522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1,823 (+301)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2,072 (+550)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3,982 personas en 362 comités: cada zona sabe cuántas personas debe organizar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Comités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Personas 1+10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1,364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Noreste (Hazleton, Wilkes-Barre, Scranton)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8,287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451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Regla nueva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Regla nueva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 integrante cuenta como validado solo si tiene la cédula nueva.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La red 1+10 se convierte en el canal de renovación.</a:t>
            </a:r>
            <a:endParaRPr lang="en-US" sz="1800" dirty="0"/>
          </a:p>
        </p:txBody>
      </p:sp>
      <p:sp>
        <p:nvSpPr>
          <p:cNvPr id="6" name="Comites por mes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≈ 4.3</a:t>
            </a:r>
            <a:endParaRPr lang="en-US" sz="3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de 11 personas por mesa</a:t>
            </a:r>
            <a:endParaRPr lang="en-US" sz="32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Cuatro etapas hacia mayo de 2028: habilitar primero, movilizar al final</a:t>
            </a:r>
            <a:endParaRPr lang="en-US" sz="2800" dirty="0"/>
          </a:p>
        </p:txBody>
      </p:sp>
      <p:sp>
        <p:nvSpPr>
          <p:cNvPr id="3" name="Etapa 1"/>
          <p:cNvSpPr/>
          <p:nvPr/>
        </p:nvSpPr>
        <p:spPr>
          <a:xfrm>
            <a:off x="548640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Instalar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Nov 2026 – feb 2027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coordinadores de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 responsables de recinto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100 % de la red 1+10 con cédula nueva</a:t>
            </a:r>
            <a:endParaRPr lang="en-US" sz="1400" dirty="0"/>
          </a:p>
        </p:txBody>
      </p:sp>
      <p:sp>
        <p:nvSpPr>
          <p:cNvPr id="8" name="Etapa 2"/>
          <p:cNvSpPr/>
          <p:nvPr/>
        </p:nvSpPr>
        <p:spPr>
          <a:xfrm>
            <a:off x="3364992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93592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Habilitar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Mar – sep 2027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362 comités validados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60 % o más del padrón renovado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Recién llegados trasladados a PA</a:t>
            </a:r>
            <a:endParaRPr lang="en-US" sz="1400" dirty="0"/>
          </a:p>
        </p:txBody>
      </p:sp>
      <p:sp>
        <p:nvSpPr>
          <p:cNvPr id="13" name="Etapa 3"/>
          <p:cNvSpPr/>
          <p:nvPr/>
        </p:nvSpPr>
        <p:spPr>
          <a:xfrm>
            <a:off x="6181344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9944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Consolidar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Oct 2027 – ene 2028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Proceso interno del partido (fecha legal: 3 oct 2027)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90 % o más renovado antes del cierre del padrón</a:t>
            </a:r>
            <a:endParaRPr lang="en-US" sz="1400" dirty="0"/>
          </a:p>
        </p:txBody>
      </p:sp>
      <p:sp>
        <p:nvSpPr>
          <p:cNvPr id="18" name="Etapa 4"/>
          <p:cNvSpPr/>
          <p:nvPr/>
        </p:nvSpPr>
        <p:spPr>
          <a:xfrm>
            <a:off x="8997696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6296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Movilizar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Feb – may 2028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Delegado y suplente en las 84 mesas (168)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Transporte por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Plan del día de la elección</a:t>
            </a:r>
            <a:endParaRPr lang="en-US" sz="1400" dirty="0"/>
          </a:p>
        </p:txBody>
      </p:sp>
      <p:sp>
        <p:nvSpPr>
          <p:cNvPr id="23" name="Indicadores"/>
          <p:cNvSpPr/>
          <p:nvPr/>
        </p:nvSpPr>
        <p:spPr>
          <a:xfrm>
            <a:off x="548640" y="521208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21208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Corte semanal: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validados · cédulas renovadas en la red · mesas con delegado · semáforo por zona.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Alerta: menos de 80 comités en la semana 4 → reasignar recursos y replanificar.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6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plan, nombrar a los 6 coordinadores de zona e iniciar la Etapa 1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2026-10-21T01:59:55Z</dcterms:created>
  <dcterms:modified xsi:type="dcterms:W3CDTF">2026-10-21T01:59:55Z</dcterms:modified>
</cp:coreProperties>
</file>