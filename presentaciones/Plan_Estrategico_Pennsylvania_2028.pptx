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0171f33-3d2d-3c04-4483-833508b2004f}">
          <p14:sldIdLst>
            <p14:sldId id="256"/>
            <p14:sldId id="257"/>
            <p14:sldId id="258"/>
            <p14:sldId id="259"/>
          </p14:sldIdLst>
        </p14:section>
        <p14:section name="Riesgos" id="{baf8c4af-478d-0717-1be1-56cb052c291a}">
          <p14:sldIdLst>
            <p14:sldId id="260"/>
          </p14:sldIdLst>
        </p14:section>
        <p14:section name="Resultados 2024" id="{d078fc87-ea4c-2188-e311-8c4cf3bb0fb8}">
          <p14:sldIdLst>
            <p14:sldId id="261"/>
          </p14:sldIdLst>
        </p14:section>
        <p14:section name="Meta" id="{51e59234-60a7-eb5d-48ea-badc2b657f51}">
          <p14:sldIdLst>
            <p14:sldId id="262"/>
          </p14:sldIdLst>
        </p14:section>
        <p14:section name="Plan y recomendación" id="{f8cb1ee6-c199-9c65-179e-ccb18ae809b1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PRM y aliados: % de los votos válidos en cada uno de los 84 colegios (ordenados)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60 % o más</c:v>
                </c:pt>
              </c:strCache>
            </c:strRef>
          </c:tx>
          <c:spPr>
            <a:solidFill>
              <a:srgbClr val="002B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Sheet1!$A$2:$A$85</c:f>
              <c:multiLvlStrCache>
                <c:ptCount val="84"/>
                <c:lvl>
                  <c:pt idx="0">
                    <c:v>1326</c:v>
                  </c:pt>
                  <c:pt idx="1">
                    <c:v>1318</c:v>
                  </c:pt>
                  <c:pt idx="2">
                    <c:v>1284</c:v>
                  </c:pt>
                  <c:pt idx="3">
                    <c:v>1328</c:v>
                  </c:pt>
                  <c:pt idx="4">
                    <c:v>1279</c:v>
                  </c:pt>
                  <c:pt idx="5">
                    <c:v>1329</c:v>
                  </c:pt>
                  <c:pt idx="6">
                    <c:v>1312</c:v>
                  </c:pt>
                  <c:pt idx="7">
                    <c:v>1255</c:v>
                  </c:pt>
                  <c:pt idx="8">
                    <c:v>1322</c:v>
                  </c:pt>
                  <c:pt idx="9">
                    <c:v>1327</c:v>
                  </c:pt>
                  <c:pt idx="10">
                    <c:v>1305</c:v>
                  </c:pt>
                  <c:pt idx="11">
                    <c:v>1276</c:v>
                  </c:pt>
                  <c:pt idx="12">
                    <c:v>1271</c:v>
                  </c:pt>
                  <c:pt idx="13">
                    <c:v>1287</c:v>
                  </c:pt>
                  <c:pt idx="14">
                    <c:v>1270</c:v>
                  </c:pt>
                  <c:pt idx="15">
                    <c:v>1263</c:v>
                  </c:pt>
                  <c:pt idx="16">
                    <c:v>1268</c:v>
                  </c:pt>
                  <c:pt idx="17">
                    <c:v>1301</c:v>
                  </c:pt>
                  <c:pt idx="18">
                    <c:v>1314</c:v>
                  </c:pt>
                  <c:pt idx="19">
                    <c:v>1253</c:v>
                  </c:pt>
                  <c:pt idx="20">
                    <c:v>1323</c:v>
                  </c:pt>
                  <c:pt idx="21">
                    <c:v>1274</c:v>
                  </c:pt>
                  <c:pt idx="22">
                    <c:v>1277</c:v>
                  </c:pt>
                  <c:pt idx="23">
                    <c:v>1289</c:v>
                  </c:pt>
                  <c:pt idx="24">
                    <c:v>1315</c:v>
                  </c:pt>
                  <c:pt idx="25">
                    <c:v>1261</c:v>
                  </c:pt>
                  <c:pt idx="26">
                    <c:v>1303</c:v>
                  </c:pt>
                  <c:pt idx="27">
                    <c:v>1292</c:v>
                  </c:pt>
                  <c:pt idx="28">
                    <c:v>1317</c:v>
                  </c:pt>
                  <c:pt idx="29">
                    <c:v>1275</c:v>
                  </c:pt>
                  <c:pt idx="30">
                    <c:v>1316</c:v>
                  </c:pt>
                  <c:pt idx="31">
                    <c:v>1264</c:v>
                  </c:pt>
                  <c:pt idx="32">
                    <c:v>1296</c:v>
                  </c:pt>
                  <c:pt idx="33">
                    <c:v>1282</c:v>
                  </c:pt>
                  <c:pt idx="34">
                    <c:v>1256</c:v>
                  </c:pt>
                  <c:pt idx="35">
                    <c:v>1320</c:v>
                  </c:pt>
                  <c:pt idx="36">
                    <c:v>1299</c:v>
                  </c:pt>
                  <c:pt idx="37">
                    <c:v>1278</c:v>
                  </c:pt>
                  <c:pt idx="38">
                    <c:v>1288</c:v>
                  </c:pt>
                  <c:pt idx="39">
                    <c:v>1266</c:v>
                  </c:pt>
                  <c:pt idx="40">
                    <c:v>1310</c:v>
                  </c:pt>
                  <c:pt idx="41">
                    <c:v>1254</c:v>
                  </c:pt>
                  <c:pt idx="42">
                    <c:v>1280</c:v>
                  </c:pt>
                  <c:pt idx="43">
                    <c:v>1293</c:v>
                  </c:pt>
                  <c:pt idx="44">
                    <c:v>1306</c:v>
                  </c:pt>
                  <c:pt idx="45">
                    <c:v>1321</c:v>
                  </c:pt>
                  <c:pt idx="46">
                    <c:v>1290</c:v>
                  </c:pt>
                  <c:pt idx="47">
                    <c:v>1291</c:v>
                  </c:pt>
                  <c:pt idx="48">
                    <c:v>1262</c:v>
                  </c:pt>
                  <c:pt idx="49">
                    <c:v>1332</c:v>
                  </c:pt>
                  <c:pt idx="50">
                    <c:v>1311</c:v>
                  </c:pt>
                  <c:pt idx="51">
                    <c:v>1309</c:v>
                  </c:pt>
                  <c:pt idx="52">
                    <c:v>1283</c:v>
                  </c:pt>
                  <c:pt idx="53">
                    <c:v>1308</c:v>
                  </c:pt>
                  <c:pt idx="54">
                    <c:v>1272</c:v>
                  </c:pt>
                  <c:pt idx="55">
                    <c:v>1325</c:v>
                  </c:pt>
                  <c:pt idx="56">
                    <c:v>1324</c:v>
                  </c:pt>
                  <c:pt idx="57">
                    <c:v>1257</c:v>
                  </c:pt>
                  <c:pt idx="58">
                    <c:v>1273</c:v>
                  </c:pt>
                  <c:pt idx="59">
                    <c:v>1286</c:v>
                  </c:pt>
                  <c:pt idx="60">
                    <c:v>1260</c:v>
                  </c:pt>
                  <c:pt idx="61">
                    <c:v>1336</c:v>
                  </c:pt>
                  <c:pt idx="62">
                    <c:v>1335</c:v>
                  </c:pt>
                  <c:pt idx="63">
                    <c:v>1302</c:v>
                  </c:pt>
                  <c:pt idx="64">
                    <c:v>1334</c:v>
                  </c:pt>
                  <c:pt idx="65">
                    <c:v>1267</c:v>
                  </c:pt>
                  <c:pt idx="66">
                    <c:v>1258</c:v>
                  </c:pt>
                  <c:pt idx="67">
                    <c:v>1285</c:v>
                  </c:pt>
                  <c:pt idx="68">
                    <c:v>1313</c:v>
                  </c:pt>
                  <c:pt idx="69">
                    <c:v>1330</c:v>
                  </c:pt>
                  <c:pt idx="70">
                    <c:v>1295</c:v>
                  </c:pt>
                  <c:pt idx="71">
                    <c:v>1259</c:v>
                  </c:pt>
                  <c:pt idx="72">
                    <c:v>1319</c:v>
                  </c:pt>
                  <c:pt idx="73">
                    <c:v>1304</c:v>
                  </c:pt>
                  <c:pt idx="74">
                    <c:v>1297</c:v>
                  </c:pt>
                  <c:pt idx="75">
                    <c:v>1298</c:v>
                  </c:pt>
                  <c:pt idx="76">
                    <c:v>1269</c:v>
                  </c:pt>
                  <c:pt idx="77">
                    <c:v>1300</c:v>
                  </c:pt>
                  <c:pt idx="78">
                    <c:v>1265</c:v>
                  </c:pt>
                  <c:pt idx="79">
                    <c:v>1331</c:v>
                  </c:pt>
                  <c:pt idx="80">
                    <c:v>1333</c:v>
                  </c:pt>
                  <c:pt idx="81">
                    <c:v>1307</c:v>
                  </c:pt>
                  <c:pt idx="82">
                    <c:v>1281</c:v>
                  </c:pt>
                  <c:pt idx="83">
                    <c:v>1294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76.3</c:v>
                </c:pt>
                <c:pt idx="1">
                  <c:v>76.2</c:v>
                </c:pt>
                <c:pt idx="2">
                  <c:v>74.2</c:v>
                </c:pt>
                <c:pt idx="3">
                  <c:v>74.2</c:v>
                </c:pt>
                <c:pt idx="4">
                  <c:v>74</c:v>
                </c:pt>
                <c:pt idx="5">
                  <c:v>73.7</c:v>
                </c:pt>
                <c:pt idx="6">
                  <c:v>73.1</c:v>
                </c:pt>
                <c:pt idx="7">
                  <c:v>71.6</c:v>
                </c:pt>
                <c:pt idx="8">
                  <c:v>71.2</c:v>
                </c:pt>
                <c:pt idx="9">
                  <c:v>71.2</c:v>
                </c:pt>
                <c:pt idx="10">
                  <c:v>70.7</c:v>
                </c:pt>
                <c:pt idx="11">
                  <c:v>70.3</c:v>
                </c:pt>
                <c:pt idx="12">
                  <c:v>70.1</c:v>
                </c:pt>
                <c:pt idx="13">
                  <c:v>70.1</c:v>
                </c:pt>
                <c:pt idx="14">
                  <c:v>67.9</c:v>
                </c:pt>
                <c:pt idx="15">
                  <c:v>67.8</c:v>
                </c:pt>
                <c:pt idx="16">
                  <c:v>67.7</c:v>
                </c:pt>
                <c:pt idx="17">
                  <c:v>67.5</c:v>
                </c:pt>
                <c:pt idx="18">
                  <c:v>67.3</c:v>
                </c:pt>
                <c:pt idx="19">
                  <c:v>67.2</c:v>
                </c:pt>
                <c:pt idx="20">
                  <c:v>67.2</c:v>
                </c:pt>
                <c:pt idx="21">
                  <c:v>67</c:v>
                </c:pt>
                <c:pt idx="22">
                  <c:v>67</c:v>
                </c:pt>
                <c:pt idx="23">
                  <c:v>67</c:v>
                </c:pt>
                <c:pt idx="24">
                  <c:v>67</c:v>
                </c:pt>
                <c:pt idx="25">
                  <c:v>66.7</c:v>
                </c:pt>
                <c:pt idx="26">
                  <c:v>66.3</c:v>
                </c:pt>
                <c:pt idx="27">
                  <c:v>66.2</c:v>
                </c:pt>
                <c:pt idx="28">
                  <c:v>65.7</c:v>
                </c:pt>
                <c:pt idx="29">
                  <c:v>65.2</c:v>
                </c:pt>
                <c:pt idx="30">
                  <c:v>65.2</c:v>
                </c:pt>
                <c:pt idx="31">
                  <c:v>64.9</c:v>
                </c:pt>
                <c:pt idx="32">
                  <c:v>64.5</c:v>
                </c:pt>
                <c:pt idx="33">
                  <c:v>64.3</c:v>
                </c:pt>
                <c:pt idx="34">
                  <c:v>63.8</c:v>
                </c:pt>
                <c:pt idx="35">
                  <c:v>63.7</c:v>
                </c:pt>
                <c:pt idx="36">
                  <c:v>63.5</c:v>
                </c:pt>
                <c:pt idx="37">
                  <c:v>63.4</c:v>
                </c:pt>
                <c:pt idx="38">
                  <c:v>63.4</c:v>
                </c:pt>
                <c:pt idx="39">
                  <c:v>63.2</c:v>
                </c:pt>
                <c:pt idx="40">
                  <c:v>63.1</c:v>
                </c:pt>
                <c:pt idx="41">
                  <c:v>63</c:v>
                </c:pt>
                <c:pt idx="42">
                  <c:v>62.9</c:v>
                </c:pt>
                <c:pt idx="43">
                  <c:v>62.8</c:v>
                </c:pt>
                <c:pt idx="44">
                  <c:v>62.7</c:v>
                </c:pt>
                <c:pt idx="45">
                  <c:v>62.4</c:v>
                </c:pt>
                <c:pt idx="46">
                  <c:v>62.4</c:v>
                </c:pt>
                <c:pt idx="47">
                  <c:v>62.3</c:v>
                </c:pt>
                <c:pt idx="48">
                  <c:v>62.2</c:v>
                </c:pt>
                <c:pt idx="49">
                  <c:v>61.7</c:v>
                </c:pt>
                <c:pt idx="50">
                  <c:v>61.5</c:v>
                </c:pt>
                <c:pt idx="51">
                  <c:v>61.4</c:v>
                </c:pt>
                <c:pt idx="52">
                  <c:v>61.3</c:v>
                </c:pt>
                <c:pt idx="53">
                  <c:v>61.2</c:v>
                </c:pt>
                <c:pt idx="54">
                  <c:v>61.1</c:v>
                </c:pt>
                <c:pt idx="55">
                  <c:v>60.9</c:v>
                </c:pt>
                <c:pt idx="56">
                  <c:v>60.6</c:v>
                </c:pt>
                <c:pt idx="57">
                  <c:v>60.6</c:v>
                </c:pt>
                <c:pt idx="58">
                  <c:v>60.4</c:v>
                </c:pt>
                <c:pt idx="59">
                  <c:v>60.2</c:v>
                </c:pt>
                <c:pt idx="60">
                  <c:v>60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Menos de 60 %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Sheet1!$A$2:$A$85</c:f>
              <c:multiLvlStrCache>
                <c:ptCount val="84"/>
                <c:lvl>
                  <c:pt idx="0">
                    <c:v>1326</c:v>
                  </c:pt>
                  <c:pt idx="1">
                    <c:v>1318</c:v>
                  </c:pt>
                  <c:pt idx="2">
                    <c:v>1284</c:v>
                  </c:pt>
                  <c:pt idx="3">
                    <c:v>1328</c:v>
                  </c:pt>
                  <c:pt idx="4">
                    <c:v>1279</c:v>
                  </c:pt>
                  <c:pt idx="5">
                    <c:v>1329</c:v>
                  </c:pt>
                  <c:pt idx="6">
                    <c:v>1312</c:v>
                  </c:pt>
                  <c:pt idx="7">
                    <c:v>1255</c:v>
                  </c:pt>
                  <c:pt idx="8">
                    <c:v>1322</c:v>
                  </c:pt>
                  <c:pt idx="9">
                    <c:v>1327</c:v>
                  </c:pt>
                  <c:pt idx="10">
                    <c:v>1305</c:v>
                  </c:pt>
                  <c:pt idx="11">
                    <c:v>1276</c:v>
                  </c:pt>
                  <c:pt idx="12">
                    <c:v>1271</c:v>
                  </c:pt>
                  <c:pt idx="13">
                    <c:v>1287</c:v>
                  </c:pt>
                  <c:pt idx="14">
                    <c:v>1270</c:v>
                  </c:pt>
                  <c:pt idx="15">
                    <c:v>1263</c:v>
                  </c:pt>
                  <c:pt idx="16">
                    <c:v>1268</c:v>
                  </c:pt>
                  <c:pt idx="17">
                    <c:v>1301</c:v>
                  </c:pt>
                  <c:pt idx="18">
                    <c:v>1314</c:v>
                  </c:pt>
                  <c:pt idx="19">
                    <c:v>1253</c:v>
                  </c:pt>
                  <c:pt idx="20">
                    <c:v>1323</c:v>
                  </c:pt>
                  <c:pt idx="21">
                    <c:v>1274</c:v>
                  </c:pt>
                  <c:pt idx="22">
                    <c:v>1277</c:v>
                  </c:pt>
                  <c:pt idx="23">
                    <c:v>1289</c:v>
                  </c:pt>
                  <c:pt idx="24">
                    <c:v>1315</c:v>
                  </c:pt>
                  <c:pt idx="25">
                    <c:v>1261</c:v>
                  </c:pt>
                  <c:pt idx="26">
                    <c:v>1303</c:v>
                  </c:pt>
                  <c:pt idx="27">
                    <c:v>1292</c:v>
                  </c:pt>
                  <c:pt idx="28">
                    <c:v>1317</c:v>
                  </c:pt>
                  <c:pt idx="29">
                    <c:v>1275</c:v>
                  </c:pt>
                  <c:pt idx="30">
                    <c:v>1316</c:v>
                  </c:pt>
                  <c:pt idx="31">
                    <c:v>1264</c:v>
                  </c:pt>
                  <c:pt idx="32">
                    <c:v>1296</c:v>
                  </c:pt>
                  <c:pt idx="33">
                    <c:v>1282</c:v>
                  </c:pt>
                  <c:pt idx="34">
                    <c:v>1256</c:v>
                  </c:pt>
                  <c:pt idx="35">
                    <c:v>1320</c:v>
                  </c:pt>
                  <c:pt idx="36">
                    <c:v>1299</c:v>
                  </c:pt>
                  <c:pt idx="37">
                    <c:v>1278</c:v>
                  </c:pt>
                  <c:pt idx="38">
                    <c:v>1288</c:v>
                  </c:pt>
                  <c:pt idx="39">
                    <c:v>1266</c:v>
                  </c:pt>
                  <c:pt idx="40">
                    <c:v>1310</c:v>
                  </c:pt>
                  <c:pt idx="41">
                    <c:v>1254</c:v>
                  </c:pt>
                  <c:pt idx="42">
                    <c:v>1280</c:v>
                  </c:pt>
                  <c:pt idx="43">
                    <c:v>1293</c:v>
                  </c:pt>
                  <c:pt idx="44">
                    <c:v>1306</c:v>
                  </c:pt>
                  <c:pt idx="45">
                    <c:v>1321</c:v>
                  </c:pt>
                  <c:pt idx="46">
                    <c:v>1290</c:v>
                  </c:pt>
                  <c:pt idx="47">
                    <c:v>1291</c:v>
                  </c:pt>
                  <c:pt idx="48">
                    <c:v>1262</c:v>
                  </c:pt>
                  <c:pt idx="49">
                    <c:v>1332</c:v>
                  </c:pt>
                  <c:pt idx="50">
                    <c:v>1311</c:v>
                  </c:pt>
                  <c:pt idx="51">
                    <c:v>1309</c:v>
                  </c:pt>
                  <c:pt idx="52">
                    <c:v>1283</c:v>
                  </c:pt>
                  <c:pt idx="53">
                    <c:v>1308</c:v>
                  </c:pt>
                  <c:pt idx="54">
                    <c:v>1272</c:v>
                  </c:pt>
                  <c:pt idx="55">
                    <c:v>1325</c:v>
                  </c:pt>
                  <c:pt idx="56">
                    <c:v>1324</c:v>
                  </c:pt>
                  <c:pt idx="57">
                    <c:v>1257</c:v>
                  </c:pt>
                  <c:pt idx="58">
                    <c:v>1273</c:v>
                  </c:pt>
                  <c:pt idx="59">
                    <c:v>1286</c:v>
                  </c:pt>
                  <c:pt idx="60">
                    <c:v>1260</c:v>
                  </c:pt>
                  <c:pt idx="61">
                    <c:v>1336</c:v>
                  </c:pt>
                  <c:pt idx="62">
                    <c:v>1335</c:v>
                  </c:pt>
                  <c:pt idx="63">
                    <c:v>1302</c:v>
                  </c:pt>
                  <c:pt idx="64">
                    <c:v>1334</c:v>
                  </c:pt>
                  <c:pt idx="65">
                    <c:v>1267</c:v>
                  </c:pt>
                  <c:pt idx="66">
                    <c:v>1258</c:v>
                  </c:pt>
                  <c:pt idx="67">
                    <c:v>1285</c:v>
                  </c:pt>
                  <c:pt idx="68">
                    <c:v>1313</c:v>
                  </c:pt>
                  <c:pt idx="69">
                    <c:v>1330</c:v>
                  </c:pt>
                  <c:pt idx="70">
                    <c:v>1295</c:v>
                  </c:pt>
                  <c:pt idx="71">
                    <c:v>1259</c:v>
                  </c:pt>
                  <c:pt idx="72">
                    <c:v>1319</c:v>
                  </c:pt>
                  <c:pt idx="73">
                    <c:v>1304</c:v>
                  </c:pt>
                  <c:pt idx="74">
                    <c:v>1297</c:v>
                  </c:pt>
                  <c:pt idx="75">
                    <c:v>1298</c:v>
                  </c:pt>
                  <c:pt idx="76">
                    <c:v>1269</c:v>
                  </c:pt>
                  <c:pt idx="77">
                    <c:v>1300</c:v>
                  </c:pt>
                  <c:pt idx="78">
                    <c:v>1265</c:v>
                  </c:pt>
                  <c:pt idx="79">
                    <c:v>1331</c:v>
                  </c:pt>
                  <c:pt idx="80">
                    <c:v>1333</c:v>
                  </c:pt>
                  <c:pt idx="81">
                    <c:v>1307</c:v>
                  </c:pt>
                  <c:pt idx="82">
                    <c:v>1281</c:v>
                  </c:pt>
                  <c:pt idx="83">
                    <c:v>1294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59.8</c:v>
                </c:pt>
                <c:pt idx="62">
                  <c:v>59.6</c:v>
                </c:pt>
                <c:pt idx="63">
                  <c:v>59.4</c:v>
                </c:pt>
                <c:pt idx="64">
                  <c:v>59.4</c:v>
                </c:pt>
                <c:pt idx="65">
                  <c:v>59.3</c:v>
                </c:pt>
                <c:pt idx="66">
                  <c:v>59</c:v>
                </c:pt>
                <c:pt idx="67">
                  <c:v>59</c:v>
                </c:pt>
                <c:pt idx="68">
                  <c:v>58.5</c:v>
                </c:pt>
                <c:pt idx="69">
                  <c:v>57.8</c:v>
                </c:pt>
                <c:pt idx="70">
                  <c:v>57.3</c:v>
                </c:pt>
                <c:pt idx="71">
                  <c:v>57.1</c:v>
                </c:pt>
                <c:pt idx="72">
                  <c:v>56.3</c:v>
                </c:pt>
                <c:pt idx="73">
                  <c:v>56.1</c:v>
                </c:pt>
                <c:pt idx="74">
                  <c:v>56.1</c:v>
                </c:pt>
                <c:pt idx="75">
                  <c:v>55.9</c:v>
                </c:pt>
                <c:pt idx="76">
                  <c:v>55.7</c:v>
                </c:pt>
                <c:pt idx="77">
                  <c:v>55.3</c:v>
                </c:pt>
                <c:pt idx="78">
                  <c:v>54.5</c:v>
                </c:pt>
                <c:pt idx="79">
                  <c:v>53.7</c:v>
                </c:pt>
                <c:pt idx="80">
                  <c:v>53.2</c:v>
                </c:pt>
                <c:pt idx="81">
                  <c:v>52.7</c:v>
                </c:pt>
                <c:pt idx="82">
                  <c:v>52</c:v>
                </c:pt>
                <c:pt idx="83">
                  <c:v>51.1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6DEEA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Nueva cédula: según la JCE, quien no renueve no podrá votar. En el exterior se renueva solo por cita y el ciclo termina en enero de 2028, antes del cierre del padrón. Centros: Philadelphia (1500 JFK Blvd, 2.º piso) y Consulado de Allentown (1710 Union Blvd). Confirmar con la JCE si el corte de abril de 2027 para la cédula antigua aplica al exterior. Escenarios de habilitación sobre 47,529 electores: 90 % renueva → 42,776 habilitados; 70 % → 33,270; 50 % → 23,765. Desafección: la abstención en el exterior pasó de 51 % (2016) a 81 % (2024); en la seccional, 38,590 de 47,529 no votaron (81.2 %). La dispersión geográfica (13 ciudades) se ve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oficiales de la JCE por colegio (nivel presidencial). Suma de los 84 colegios: 8,939 emitidos, 8,810 válidos, 122 nulos (más 7 en la fila especial de la demarcación: 129), PRM 4,996, PRM y aliados 5,581, Fuerza del Pueblo y aliados 1,852, PED 687, PLD 540. El PRM y aliados ganaron todos los colegios; en 61 de 84 superaron el 60 %; mediana 63 %. Los colegios más débiles (51–56 %): 1294 (51.1 %), 1281 (52.0 %), 1307 (52.7 %), 1333 (53.2 %), 1331 (53.7 %), 1265 (54.5 %), 1300 (55.3 %), 1269 (55.7 %). El archivo de la JCE no indica el recinto ni la ciudad de cada colegio; con esa correspondencia se pueden ubicar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Dos riesgos pueden reducir el voto de 2028: la nueva cédula y la desafección</a:t>
            </a:r>
            <a:endParaRPr lang="en-US" sz="2800" dirty="0"/>
          </a:p>
        </p:txBody>
      </p:sp>
      <p:sp>
        <p:nvSpPr>
          <p:cNvPr id="3" name="Riesgo Nueva cédula"/>
          <p:cNvSpPr/>
          <p:nvPr/>
        </p:nvSpPr>
        <p:spPr>
          <a:xfrm>
            <a:off x="548640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965960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Enero 2028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cédula nueva no se vota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por cita; 2 centros en la zona: Philadelphia y Allentown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cifra pública de renovaciones en PA (en todo el país va el 46 %)</a:t>
            </a:r>
            <a:endParaRPr lang="en-US" sz="1500" dirty="0"/>
          </a:p>
        </p:txBody>
      </p:sp>
      <p:sp>
        <p:nvSpPr>
          <p:cNvPr id="9" name="Riesgo Desafección"/>
          <p:cNvSpPr/>
          <p:nvPr/>
        </p:nvSpPr>
        <p:spPr>
          <a:xfrm>
            <a:off x="6227064" y="160020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810512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374904" cy="3749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70064" y="18105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9244584" y="175564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51 % → 81 %</a:t>
            </a:r>
            <a:endParaRPr lang="en-US" sz="3000" dirty="0"/>
          </a:p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abstención en el exterior, 2016 frente a 2024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501384" y="27889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 la seccional, el 81 % no votó en 2024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votante no ve relación entre su voto y su vida en EE. UU.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Respuesta: agenda de la diáspora y encuentros de escucha por zona</a:t>
            </a:r>
            <a:endParaRPr lang="en-US" sz="1500" dirty="0"/>
          </a:p>
        </p:txBody>
      </p:sp>
      <p:sp>
        <p:nvSpPr>
          <p:cNvPr id="15" name="Acciones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Acciones: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pedir a la JCE y a los consulados el dato de cédulas renovadas en PA · operativos móviles en Hazleton, Reading y Lancaster · viajes en grupo con cita</a:t>
            </a:r>
            <a:endParaRPr lang="en-US" sz="1400" dirty="0"/>
          </a:p>
        </p:txBody>
      </p:sp>
      <p:sp>
        <p:nvSpPr>
          <p:cNvPr id="1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 (nueva cédula en el exterior: por cita, cierre en enero de 2028; 4,009,576 entregadas en el país al 13-oct-2026); estudio IIDH/CAPEL para la JCE; JCE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los 84 colegios de la seccional; en 61 superaron el 60 %</a:t>
            </a:r>
            <a:endParaRPr lang="en-US" sz="2800" dirty="0"/>
          </a:p>
        </p:txBody>
      </p:sp>
      <p:graphicFrame>
        <p:nvGraphicFramePr>
          <p:cNvPr id="3" name="PRM por colegio" descr=""/>
          <p:cNvGraphicFramePr/>
          <p:nvPr/>
        </p:nvGraphicFramePr>
        <p:xfrm>
          <a:off x="548640" y="1600200"/>
          <a:ext cx="74066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ato colegio 1"/>
          <p:cNvSpPr/>
          <p:nvPr/>
        </p:nvSpPr>
        <p:spPr>
          <a:xfrm>
            <a:off x="8229600" y="1600200"/>
            <a:ext cx="3410712" cy="896112"/>
          </a:xfrm>
          <a:prstGeom prst="roundRect">
            <a:avLst>
              <a:gd name="adj" fmla="val 81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64592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84 de 84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colegios ganados por el PRM y aliados</a:t>
            </a:r>
            <a:endParaRPr lang="en-US" sz="2200" dirty="0"/>
          </a:p>
        </p:txBody>
      </p:sp>
      <p:sp>
        <p:nvSpPr>
          <p:cNvPr id="6" name="Dato colegio 2"/>
          <p:cNvSpPr/>
          <p:nvPr/>
        </p:nvSpPr>
        <p:spPr>
          <a:xfrm>
            <a:off x="8229600" y="2624328"/>
            <a:ext cx="3410712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2670048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63.4 %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la seccional, 6 puntos más que en el país (57.4 %)</a:t>
            </a:r>
            <a:endParaRPr lang="en-US" sz="2200" dirty="0"/>
          </a:p>
        </p:txBody>
      </p:sp>
      <p:sp>
        <p:nvSpPr>
          <p:cNvPr id="8" name="Dato colegio 3"/>
          <p:cNvSpPr/>
          <p:nvPr/>
        </p:nvSpPr>
        <p:spPr>
          <a:xfrm>
            <a:off x="8229600" y="3648456"/>
            <a:ext cx="3410712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694176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51 % – 76 %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rango del PRM y aliados entre colegios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754880"/>
            <a:ext cx="3410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Colegios a reforzar (51–56 %)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1294 · 1281 · 1307 · 1333 · 1331 · 1265 · 1300 · 1269</a:t>
            </a:r>
            <a:endParaRPr lang="en-US" sz="13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colegios», OCLEE Philadelphia, colegios 1253–1336 (19 de mayo de 2024). Porcentajes sobre votos válidos.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2026-10-21T05:31:47Z</dcterms:created>
  <dcterms:modified xsi:type="dcterms:W3CDTF">2026-10-21T05:31:47Z</dcterms:modified>
</cp:coreProperties>
</file>