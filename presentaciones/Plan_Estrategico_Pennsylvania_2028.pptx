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d950ac19-7cee-2584-3de0-c6b84d5799cd}">
          <p14:sldIdLst>
            <p14:sldId id="256"/>
            <p14:sldId id="257"/>
            <p14:sldId id="258"/>
            <p14:sldId id="259"/>
          </p14:sldIdLst>
        </p14:section>
        <p14:section name="Riesgos" id="{3086cc7e-a762-a172-3769-74f0339b3588}">
          <p14:sldIdLst>
            <p14:sldId id="260"/>
          </p14:sldIdLst>
        </p14:section>
        <p14:section name="Resultados 2024" id="{5515d0bb-f72a-05cd-0d36-688c0cd54000}">
          <p14:sldIdLst>
            <p14:sldId id="261"/>
          </p14:sldIdLst>
        </p14:section>
        <p14:section name="Meta" id="{c7c40058-fe31-6ded-6b70-506df0f6a985}">
          <p14:sldIdLst>
            <p14:sldId id="262"/>
          </p14:sldIdLst>
        </p14:section>
        <p14:section name="Plan y recomendación" id="{8970b575-728c-0754-a828-379ea98246fe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8939</c:v>
                </c:pt>
                <c:pt idx="1">
                  <c:v>38590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+36,553 en 2025, el mayor aumento de EE. 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+mn-lt"/>
              </a:rPr>
              <a:t>Votos para David Collado por escenario (63 % de apoyo, como el PRM y aliados en 2024)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y aliados 2024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5581</c:v>
                </c:pt>
                <c:pt idx="1">
                  <c:v>6139</c:v>
                </c:pt>
                <c:pt idx="2">
                  <c:v>3564</c:v>
                </c:pt>
                <c:pt idx="3">
                  <c:v>5465</c:v>
                </c:pt>
                <c:pt idx="4">
                  <c:v>6534</c:v>
                </c:pt>
                <c:pt idx="5">
                  <c:v>7217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12 ciudades de Pennsylvania y Wilmington (Delaware). 47,529 electores en 84 mesas (padrón de la seccional; la JCE divulgó 47,604 en el corte preliminar). Votos 2024, dato oficial JCE a nivel presidencial: 8,939 emitidos (8,810 válidos y 129 nulos). Participación: 18.8 %; no votaron 38,590. Es la 4.ª seccional más grande de la Circunscripción I, después de Nueva York, Nueva Jersey y Boston; según el INDEX, Pennsylvania tuvo en 2025 el mayor aumento de dominicanos de EE. UU. (+36,553).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18.8 % (8,939 de 47,529, dato oficial JCE) y riesgo de la nueva cédula. Plan: 8 zonas, 400 líderes con 10 personas cada uno (4,000 personas). Meta: 6,140 votos para David Collado, un 10 % más que los 5,581 votos del PRM y aliados en 2024 (63.4 % de los válidos). Próximo paso: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(5.ª edición, julio de 2026) reporta 227,647: +36,553 frente a 191,094 en 2024 (+19.1 %), el mayor aumento absoluto de todos los estados; Massachusetts fue segundo (+30,846) y Texas tuvo el mayor aumento porcentual (+28.3 %). Pennsylvania es el 4.º estado con más dominicanos, después de Nueva York, Nueva Jersey y Florida.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Nueva cédula: según la JCE, quien no renueve no podrá votar. En el exterior se renueva solo por cita y el ciclo termina en enero de 2028, antes del cierre del padrón. Centros: Philadelphia (1500 JFK Blvd, 2.º piso) y Consulado de Allentown (1710 Union Blvd). Confirmar con la JCE si el corte de abril de 2027 para la cédula antigua aplica al exterior. Escenarios de habilitación sobre 47,529 electores: 90 % renueva → 42,776 habilitados; 70 % → 33,270; 50 % → 23,765. Desafección: la abstención en el exterior pasó de 51 % (2016) a 81 % (2024); en la seccional, 38,590 de 47,529 no votaron (81.2 %). La dispersión geográfica (13 ciudades) se ve en el mapa.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Resultados oficiales de la JCE por colegio, agrupados por recinto con la lista de colegios de la Seccional PRM Pennsylvania (Nilba Sánchez y Yajaira Alcántara). Los totales coinciden con la seccional: 8,939 emitidos, 5,581 votos del PRM y aliados, 47,529 electores. Nota: la lista de la seccional asigna 4 mesas a la Asociación de Pennsylvania (Reading) pero solo enumera 1256, 1257 y 1258; el colegio 1259, el único que no aparece, se asignó a ese recinto por numeración (confirmar). Por recinto, la participación va de 13.5 % (AAR Solutions, Wilkes-Barre) a 29.4 % (Plaza San Juan Bautista, Lancaster), y el apoyo al PRM y aliados de 53.7 % (Scranton) a 68.1 % (Visitation, Philadelphia). Colegios más débiles para el PRM: 1294 y 1300 (La Senda I y II, Reading), 1281 (Hazleton), 1307 (Lancaster), 1333 (West Kensington), 1331 (Scranton), 1265 y 1269 (Allentown).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 oficial JCE 2024 (nivel presidencial, OCLEE Philadelphia, colegios 1253 a 1336): 8,939 votos emitidos, 8,810 válidos, 129 nulos. PRM y aliados 5,581 (63.35 % de los válidos; PRM solo 4,996), Fuerza del Pueblo y aliados 1,852 (21.02 %), PED 687 (7.80 %), PLD 540 (6.13 %). En la seccional el PRM y aliados sacaron 5.9 puntos más que su resultado nacional (57.44 %). Meta 2028: +10 % = 6,139 votos (≈6,140); techo +20 % = 6,697 (≈6,700). Escenarios con 63.4 % de apoyo sobre los votos válidos (98.6 % de los emitidos): Adverso, 60 % renueva la cédula y vota el 20 % de los habilitados (5,703 votos totales → 3,564); Inercial, 80 % y 23 % (8,745 → 5,465, por debajo de 2024); Realista, participación del 22 % sobre el padrón (10,456 → 6,534, +17 %); Favorable, 90 % y 27 % (11,550 → 7,217, +29 %). Desgaste (tercer período del PRM sin Abinader en la boleta y malestar social en las encuestas): con 58 % de apoyo la meta exige 10,740 votos totales (22.6 % de participación; 20.2 % si el padrón crece 12 %); con 53 %, 11,753 (24.7 %; 22.1 %). Red: 4,000 personas × 85 % = 3,400 votos, el 55 % de la meta.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PROPUESTA PARA EL CAD · SECCIONAL PENNSYLVANIA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8,939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18.8 %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aumento de dominicanos en EE. UU. (2025)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38,590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padrón electoral, Seccional PRM Pennsylvania (2024) · JCE 2024 (OCLEE Philadelphia) · INDEX, Registro Sociodemográfico de los Dominicanos en el Exterior (5.ª edición, 2026)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votantes, David Collado puede superar en 10 % al PRM y aliados de 2024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18.8 %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aumento de EE. UU.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6,140 votos para David Collado: un 10 % más que el PRM y aliados en 2024 (5,581, dato oficial JCE).</a:t>
            </a:r>
            <a:endParaRPr lang="en-US" sz="1500" dirty="0"/>
          </a:p>
        </p:txBody>
      </p:sp>
      <p:sp>
        <p:nvSpPr>
          <p:cNvPr id="18" name="Próximo paso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Próximo paso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INDEX, Registro Sociodemográfico de los Dominicanos en el Exterior (5.ª edición, 2026). Meta: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el 66 % del padrón vive fuera de Philadelphia, repartido en 8 zonas</a:t>
            </a:r>
            <a:endParaRPr lang="en-US" sz="2800" dirty="0"/>
          </a:p>
        </p:txBody>
      </p:sp>
      <p:pic>
        <p:nvPicPr>
          <p:cNvPr id="3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4" name="Zona 1 Phila. Noreste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Etiqueta Phila. Noreste"/>
          <p:cNvSpPr/>
          <p:nvPr/>
        </p:nvSpPr>
        <p:spPr>
          <a:xfrm>
            <a:off x="6044184" y="4722876"/>
            <a:ext cx="127101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44184" y="472287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8" name="Zona 2 Phila. Kensington"/>
          <p:cNvSpPr/>
          <p:nvPr/>
        </p:nvSpPr>
        <p:spPr>
          <a:xfrm>
            <a:off x="4868943" y="5024391"/>
            <a:ext cx="594834" cy="59483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68943" y="5024391"/>
            <a:ext cx="594834" cy="594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Etiqueta Phila. Kensington"/>
          <p:cNvSpPr/>
          <p:nvPr/>
        </p:nvSpPr>
        <p:spPr>
          <a:xfrm>
            <a:off x="5509497" y="5198364"/>
            <a:ext cx="150418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09497" y="5198364"/>
            <a:ext cx="15041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2" name="Zona 3 Reading"/>
          <p:cNvSpPr/>
          <p:nvPr/>
        </p:nvSpPr>
        <p:spPr>
          <a:xfrm>
            <a:off x="3825620" y="4008500"/>
            <a:ext cx="633225" cy="63322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25620" y="4008500"/>
            <a:ext cx="633225" cy="633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Etiqueta Reading"/>
          <p:cNvSpPr/>
          <p:nvPr/>
        </p:nvSpPr>
        <p:spPr>
          <a:xfrm>
            <a:off x="4504564" y="4201668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04564" y="4201668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6" name="Zona 4 Allentown"/>
          <p:cNvSpPr/>
          <p:nvPr/>
        </p:nvSpPr>
        <p:spPr>
          <a:xfrm>
            <a:off x="4568177" y="3443465"/>
            <a:ext cx="629438" cy="62943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68177" y="3443465"/>
            <a:ext cx="629438" cy="6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Etiqueta Allentown"/>
          <p:cNvSpPr/>
          <p:nvPr/>
        </p:nvSpPr>
        <p:spPr>
          <a:xfrm>
            <a:off x="4441698" y="315085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441698" y="315085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20" name="Zona 5 Hazleton"/>
          <p:cNvSpPr/>
          <p:nvPr/>
        </p:nvSpPr>
        <p:spPr>
          <a:xfrm>
            <a:off x="3772445" y="2693453"/>
            <a:ext cx="593270" cy="59327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72445" y="2693453"/>
            <a:ext cx="593270" cy="59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Etiqueta Hazleton"/>
          <p:cNvSpPr/>
          <p:nvPr/>
        </p:nvSpPr>
        <p:spPr>
          <a:xfrm>
            <a:off x="2922053" y="2866644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922053" y="286664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24" name="Zona 6 Wilkes-Barre"/>
          <p:cNvSpPr/>
          <p:nvPr/>
        </p:nvSpPr>
        <p:spPr>
          <a:xfrm>
            <a:off x="4001464" y="2154376"/>
            <a:ext cx="427839" cy="42783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01464" y="2154376"/>
            <a:ext cx="427839" cy="427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Etiqueta Wilkes-Barre"/>
          <p:cNvSpPr/>
          <p:nvPr/>
        </p:nvSpPr>
        <p:spPr>
          <a:xfrm>
            <a:off x="2840176" y="2244852"/>
            <a:ext cx="111556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840176" y="22448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28" name="Zona 6 Scranton"/>
          <p:cNvSpPr/>
          <p:nvPr/>
        </p:nvSpPr>
        <p:spPr>
          <a:xfrm>
            <a:off x="4386290" y="1825970"/>
            <a:ext cx="371420" cy="3714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6290" y="1825970"/>
            <a:ext cx="371420" cy="371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0" name="Etiqueta Scranton"/>
          <p:cNvSpPr/>
          <p:nvPr/>
        </p:nvSpPr>
        <p:spPr>
          <a:xfrm>
            <a:off x="3535898" y="1888236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535898" y="18882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Scranton</a:t>
            </a:r>
            <a:endParaRPr lang="en-US" sz="1100" dirty="0"/>
          </a:p>
        </p:txBody>
      </p:sp>
      <p:sp>
        <p:nvSpPr>
          <p:cNvPr id="32" name="Zona 7 Harrisburg"/>
          <p:cNvSpPr/>
          <p:nvPr/>
        </p:nvSpPr>
        <p:spPr>
          <a:xfrm>
            <a:off x="2356222" y="4239886"/>
            <a:ext cx="444772" cy="44477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356222" y="4239886"/>
            <a:ext cx="444772" cy="444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4" name="Etiqueta Harrisburg"/>
          <p:cNvSpPr/>
          <p:nvPr/>
        </p:nvSpPr>
        <p:spPr>
          <a:xfrm>
            <a:off x="1350382" y="4338828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350382" y="43388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36" name="Zona 7 Lebanon"/>
          <p:cNvSpPr/>
          <p:nvPr/>
        </p:nvSpPr>
        <p:spPr>
          <a:xfrm>
            <a:off x="3157249" y="4117369"/>
            <a:ext cx="397199" cy="39719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157249" y="4117369"/>
            <a:ext cx="397199" cy="39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8" name="Etiqueta Lebanon"/>
          <p:cNvSpPr/>
          <p:nvPr/>
        </p:nvSpPr>
        <p:spPr>
          <a:xfrm>
            <a:off x="2992374" y="3824761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992374" y="3824761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Lebanon</a:t>
            </a:r>
            <a:endParaRPr lang="en-US" sz="1100" dirty="0"/>
          </a:p>
        </p:txBody>
      </p:sp>
      <p:sp>
        <p:nvSpPr>
          <p:cNvPr id="40" name="Zona 7 Lancaster"/>
          <p:cNvSpPr/>
          <p:nvPr/>
        </p:nvSpPr>
        <p:spPr>
          <a:xfrm>
            <a:off x="3305019" y="4740627"/>
            <a:ext cx="449129" cy="44912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305019" y="4740627"/>
            <a:ext cx="449129" cy="44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2" name="Etiqueta Lancaster"/>
          <p:cNvSpPr/>
          <p:nvPr/>
        </p:nvSpPr>
        <p:spPr>
          <a:xfrm>
            <a:off x="3088386" y="523547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088386" y="523547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Lancaster</a:t>
            </a:r>
            <a:endParaRPr lang="en-US" sz="1100" dirty="0"/>
          </a:p>
        </p:txBody>
      </p:sp>
      <p:sp>
        <p:nvSpPr>
          <p:cNvPr id="44" name="Zona 7 York"/>
          <p:cNvSpPr/>
          <p:nvPr/>
        </p:nvSpPr>
        <p:spPr>
          <a:xfrm>
            <a:off x="2623201" y="4909201"/>
            <a:ext cx="422878" cy="42287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623201" y="4909201"/>
            <a:ext cx="422878" cy="42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Etiqueta York"/>
          <p:cNvSpPr/>
          <p:nvPr/>
        </p:nvSpPr>
        <p:spPr>
          <a:xfrm>
            <a:off x="2083705" y="4997196"/>
            <a:ext cx="49377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83705" y="4997196"/>
            <a:ext cx="493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York</a:t>
            </a:r>
            <a:endParaRPr lang="en-US" sz="1100" dirty="0"/>
          </a:p>
        </p:txBody>
      </p:sp>
      <p:sp>
        <p:nvSpPr>
          <p:cNvPr id="48" name="Zona 8 Wilmington"/>
          <p:cNvSpPr/>
          <p:nvPr/>
        </p:nvSpPr>
        <p:spPr>
          <a:xfrm>
            <a:off x="4567872" y="5390832"/>
            <a:ext cx="410592" cy="410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567872" y="5390832"/>
            <a:ext cx="410592" cy="41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0" name="Etiqueta Wilmington"/>
          <p:cNvSpPr/>
          <p:nvPr/>
        </p:nvSpPr>
        <p:spPr>
          <a:xfrm>
            <a:off x="3562032" y="5472684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562032" y="54726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votó 18.8 % · PRM 64.9 %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81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votó 16.9 % · PRM 65.8 %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62" name="Shape 59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64" name="Text 61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votó 18.8 % · PRM 59.5 %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70</a:t>
            </a:r>
            <a:endParaRPr lang="en-US" sz="1800" dirty="0"/>
          </a:p>
        </p:txBody>
      </p:sp>
      <p:sp>
        <p:nvSpPr>
          <p:cNvPr id="66" name="Shape 63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votó 20.7 % · PRM 63.0 %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69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2" name="Text 69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votó 17.8 % · PRM 65.6 %</a:t>
            </a:r>
            <a:endParaRPr lang="en-US" sz="1200" dirty="0"/>
          </a:p>
        </p:txBody>
      </p:sp>
      <p:sp>
        <p:nvSpPr>
          <p:cNvPr id="73" name="Text 70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74" name="Shape 71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76" name="Text 73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votó 15.3 % · PRM 63.5 %</a:t>
            </a:r>
            <a:endParaRPr lang="en-US" sz="1200" dirty="0"/>
          </a:p>
        </p:txBody>
      </p:sp>
      <p:sp>
        <p:nvSpPr>
          <p:cNvPr id="77" name="Text 74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15</a:t>
            </a:r>
            <a:endParaRPr lang="en-US" sz="1800" dirty="0"/>
          </a:p>
        </p:txBody>
      </p:sp>
      <p:sp>
        <p:nvSpPr>
          <p:cNvPr id="78" name="Shape 75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votó 20.9 % · PRM 61.6 %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46</a:t>
            </a:r>
            <a:endParaRPr lang="en-US" sz="1800" dirty="0"/>
          </a:p>
        </p:txBody>
      </p:sp>
      <p:sp>
        <p:nvSpPr>
          <p:cNvPr id="82" name="Shape 79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84" name="Text 81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votó 17.0 % · PRM 65.9 %</a:t>
            </a:r>
            <a:endParaRPr lang="en-US" sz="1200" dirty="0"/>
          </a:p>
        </p:txBody>
      </p:sp>
      <p:sp>
        <p:nvSpPr>
          <p:cNvPr id="85" name="Text 82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</a:t>
            </a:r>
            <a:endParaRPr lang="en-US" sz="1800" dirty="0"/>
          </a:p>
        </p:txBody>
      </p:sp>
      <p:sp>
        <p:nvSpPr>
          <p:cNvPr id="86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Cada círculo es una ciudad; el número indica su zona y el tamaño, sus electores. Versión interactiva en el enlace web.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solo 47,529 están inscritos para votar aquí: el potencial es enorme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53035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6172200" y="160020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0" y="167335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dominicanos del estado está inscrito para votar en la seccional (21 %). Y la comunidad creció un 26 % desde 2022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6172200" y="306324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0" y="313639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6172200" y="452628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459943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Dos trámites, una sola cita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800" dirty="0"/>
          </a:p>
        </p:txBody>
      </p:sp>
      <p:sp>
        <p:nvSpPr>
          <p:cNvPr id="10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de los Dominicanos en el Exterior (181,156 a dic. 2022; 227,647 en la 5.ª edición, 2026); Consulado RD en Filadelfia.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Dos riesgos pueden reducir el voto de 2028: la nueva cédula y la desafección</a:t>
            </a:r>
            <a:endParaRPr lang="en-US" sz="2800" dirty="0"/>
          </a:p>
        </p:txBody>
      </p:sp>
      <p:sp>
        <p:nvSpPr>
          <p:cNvPr id="3" name="Riesgo Nueva cédula"/>
          <p:cNvSpPr/>
          <p:nvPr/>
        </p:nvSpPr>
        <p:spPr>
          <a:xfrm>
            <a:off x="548640" y="160020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10512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965960"/>
            <a:ext cx="374904" cy="3749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8105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Nueva cédula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566160" y="1755648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Enero 2028</a:t>
            </a:r>
            <a:endParaRPr lang="en-US" sz="3000" dirty="0"/>
          </a:p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cierre de la renovación en el exterior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78892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Sin cédula nueva no se vota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Solo por cita; 2 centros en la zona: Philadelphia y Allentown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hay cifra pública de renovaciones en PA (en todo el país va el 46 %)</a:t>
            </a:r>
            <a:endParaRPr lang="en-US" sz="1500" dirty="0"/>
          </a:p>
        </p:txBody>
      </p:sp>
      <p:sp>
        <p:nvSpPr>
          <p:cNvPr id="9" name="Riesgo Desafección"/>
          <p:cNvSpPr/>
          <p:nvPr/>
        </p:nvSpPr>
        <p:spPr>
          <a:xfrm>
            <a:off x="6227064" y="160020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01384" y="1810512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832" y="1965960"/>
            <a:ext cx="374904" cy="37490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70064" y="18105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Desafección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9244584" y="1755648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51 % → 81 %</a:t>
            </a:r>
            <a:endParaRPr lang="en-US" sz="3000" dirty="0"/>
          </a:p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abstención en el exterior, 2016 frente a 2024</a:t>
            </a:r>
            <a:endParaRPr lang="en-US" sz="3000" dirty="0"/>
          </a:p>
        </p:txBody>
      </p:sp>
      <p:sp>
        <p:nvSpPr>
          <p:cNvPr id="14" name="Text 10"/>
          <p:cNvSpPr txBox="1"/>
          <p:nvPr/>
        </p:nvSpPr>
        <p:spPr>
          <a:xfrm>
            <a:off x="6501384" y="278892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En la seccional, el 81 % no votó en 2024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El votante no ve relación entre su voto y su vida en EE. UU.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Respuesta: agenda de la diáspora y encuentros de escucha por zona</a:t>
            </a:r>
            <a:endParaRPr lang="en-US" sz="1500" dirty="0"/>
          </a:p>
        </p:txBody>
      </p:sp>
      <p:sp>
        <p:nvSpPr>
          <p:cNvPr id="15" name="Acciones"/>
          <p:cNvSpPr/>
          <p:nvPr/>
        </p:nvSpPr>
        <p:spPr>
          <a:xfrm>
            <a:off x="548640" y="50292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7240" y="5029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Acciones: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pedir a la JCE y a los consulados el dato de cédulas renovadas en PA · operativos móviles en Hazleton, Reading y Lancaster · viajes en grupo con cita</a:t>
            </a:r>
            <a:endParaRPr lang="en-US" sz="1400" dirty="0"/>
          </a:p>
        </p:txBody>
      </p:sp>
      <p:sp>
        <p:nvSpPr>
          <p:cNvPr id="17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JCE (nueva cédula en el exterior: por cita, cierre en enero de 2028; 4,009,576 entregadas en el país al 13-oct-2026); estudio IIDH/CAPEL para la JCE; JCE 2024.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En 2024 el PRM y aliados ganaron en las 11 ciudades; Reading, con el 18 % del padrón, quedó entre las de menor apoyo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680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51560"/>
                <a:gridCol w="960120"/>
                <a:gridCol w="1234440"/>
                <a:gridCol w="1234440"/>
                <a:gridCol w="1097280"/>
              </a:tblGrid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Ciudad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Votaron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Participación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PRM y aliados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% PRM y al.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Wilkes-Barre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1,319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13.5 %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68.0 %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Wilmington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171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65.9 %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1,159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749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65.6 %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Philadelphia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16,237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2,923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1,886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65.2 %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Harrisburg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1,670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13.6 %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Allentown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1,697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1,059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Lancaster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29.4 %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318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62.0 %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Lebanon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789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22.1 %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60.2 %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York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1,224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59.7 %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Reading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1,577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918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59.5 %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Scranton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53.7 %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Seccional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8,939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18.8 %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5,581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63.4 %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84 de 84"/>
          <p:cNvSpPr/>
          <p:nvPr/>
        </p:nvSpPr>
        <p:spPr>
          <a:xfrm>
            <a:off x="8503920" y="1600200"/>
            <a:ext cx="3136392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0" y="164592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84 de 84 colegios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ganados por el PRM y aliados; 63.4 %, 6 puntos más que en el país</a:t>
            </a:r>
            <a:endParaRPr lang="en-US" sz="2000" dirty="0"/>
          </a:p>
        </p:txBody>
      </p:sp>
      <p:sp>
        <p:nvSpPr>
          <p:cNvPr id="6" name="Prioridades"/>
          <p:cNvSpPr/>
          <p:nvPr/>
        </p:nvSpPr>
        <p:spPr>
          <a:xfrm>
            <a:off x="8503920" y="2880360"/>
            <a:ext cx="3136392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0" y="2971800"/>
            <a:ext cx="28346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Prioridades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Convencer en Reading: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el menor apoyo entre las ciudades grandes (59.5 %), con el 18 % del padrón.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Movilizar en Wilkes-Barre, Harrisburg y Kensington (Philadelphia):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la participación más baja (13.5 %, 13.6 % y 16.9 %).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Modelo a replicar: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Lancaster votó al 29 %, el doble que la seccional.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JCE, «Resultado Presidencial por colegios» (2024), agrupado por ciudad según la lista de la Seccional PRM Pennsylvania. Ordenado por % del PRM y aliados. En rojo: participación &lt; 17 % o apoyo &lt; 60 %.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Meta: 6,140 votos para David Collado, un 10 % más que el PRM y aliados en 2024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406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Red de 4,000 votantes comprometidos: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votos, el 55 % de la meta.</a:t>
            </a:r>
            <a:endParaRPr lang="en-US" sz="1400" dirty="0"/>
          </a:p>
        </p:txBody>
      </p:sp>
      <p:sp>
        <p:nvSpPr>
          <p:cNvPr id="5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5,581 votos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6,140 votos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6,700 votos</a:t>
            </a:r>
            <a:endParaRPr lang="en-US" sz="1500" dirty="0"/>
          </a:p>
        </p:txBody>
      </p:sp>
      <p:sp>
        <p:nvSpPr>
          <p:cNvPr id="13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63 % (como 2024)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20.7 %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Collado al 58 % (desgaste)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22.6 %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53 % (desgaste fuerte)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24.7 %</a:t>
            </a:r>
            <a:endParaRPr lang="en-US" sz="16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 2024: JCE, resultado presidencial por colegios, OCLEE Philadelphia (PRM y aliados 5,581 votos, 63.4 % de los válidos). Escenarios 2028: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que necesita cada zona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 (≈ 3,400 votos)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36576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En 2024 el PRM y aliados sacaron el 63 % en la seccional, 6 puntos más que en el país. Collado encabeza las preferencias internas del PRM (48.8 %, oct. 2026).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Convencer en Reading (PRM 59.5 %); movilizar en Kensington, Wilkes-Barre y Harrisburg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4F75AE"/>
      </a:hlink>
      <a:folHlink>
        <a:srgbClr val="9AA7BD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2026-10-21T05:50:53Z</dcterms:created>
  <dcterms:modified xsi:type="dcterms:W3CDTF">2026-10-21T05:50:53Z</dcterms:modified>
</cp:coreProperties>
</file>