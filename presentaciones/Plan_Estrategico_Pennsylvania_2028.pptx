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b0564c4c-9f99-a273-10e3-9035e724b5eb}">
          <p14:sldIdLst>
            <p14:sldId id="256"/>
            <p14:sldId id="257"/>
            <p14:sldId id="258"/>
            <p14:sldId id="259"/>
            <p14:sldId id="260"/>
          </p14:sldIdLst>
        </p14:section>
        <p14:section name="Desafíos" id="{9f1b25be-2b35-109b-9758-565e34a21e78}">
          <p14:sldIdLst>
            <p14:sldId id="261"/>
            <p14:sldId id="262"/>
          </p14:sldIdLst>
        </p14:section>
        <p14:section name="Escenarios y meta" id="{642fa6bc-124d-980d-091c-1d9ed2fa208c}">
          <p14:sldIdLst>
            <p14:sldId id="263"/>
            <p14:sldId id="264"/>
          </p14:sldIdLst>
        </p14:section>
        <p14:section name="Plan y recomendación" id="{02f322f7-a1fe-6cac-67e4-1e95b4bd90aa}">
          <p14:sldIdLst>
            <p14:sldId id="265"/>
            <p14:sldId id="266"/>
            <p14:sldId id="267"/>
            <p14:sldId id="268"/>
          </p14:sldIdLst>
        </p14:section>
        <p14:section name="Anexo" id="{869e3132-5cc7-4e0d-ae9c-90056cf5849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8731</c:v>
                </c:pt>
                <c:pt idx="1">
                  <c:v>38798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Electores por ciudad (2024)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Electores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Philadelphia</c:v>
                  </c:pt>
                  <c:pt idx="1">
                    <c:v>Reading</c:v>
                  </c:pt>
                  <c:pt idx="2">
                    <c:v>Allentown</c:v>
                  </c:pt>
                  <c:pt idx="3">
                    <c:v>Hazleton</c:v>
                  </c:pt>
                  <c:pt idx="4">
                    <c:v>Resto (9 ciudades)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16237</c:v>
                </c:pt>
                <c:pt idx="1">
                  <c:v>8368</c:v>
                </c:pt>
                <c:pt idx="2">
                  <c:v>8183</c:v>
                </c:pt>
                <c:pt idx="3">
                  <c:v>6520</c:v>
                </c:pt>
                <c:pt idx="4">
                  <c:v>8221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Votos PRM en la seccional (con 60 % de apoyo)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 PRM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2024*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 (abst. 78 %)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5239</c:v>
                </c:pt>
                <c:pt idx="1">
                  <c:v>5763</c:v>
                </c:pt>
                <c:pt idx="2">
                  <c:v>3422</c:v>
                </c:pt>
                <c:pt idx="3">
                  <c:v>5247</c:v>
                </c:pt>
                <c:pt idx="4">
                  <c:v>6274</c:v>
                </c:pt>
                <c:pt idx="5">
                  <c:v>6930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13 ciudades de PA y Wilmington (DE). 47,529 electores en 84 mesas y 18 recintos (documento de apoyo de la seccional; coincide con los 84 colegios del CAD y con el corte preliminar JCE de 47,604). Votaron 8,731 (dato CAD; confirmar en la Relación de votación JCE, OCLEE 614). Participación 18.4 %.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18.4 % (8,731 de 47,529) y riesgo de la nueva cédula. Plan: 8 zonas, 400 líderes con 10 personas cada uno (4,000 personas). Meta: superar en al menos 10 % los votos estimados del PRM en 2024 (unos 5,239 → 5,763). Decisión: aprobar,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Concentrar el esfuerzo solo en la ciudad deja fuera al 66 % del padrón. Reading suma 4 recintos (La Senda I, II, III y Asociación de Pennsylvania). Allentown concentra 14 mesas en Castle of Events. Hazleton, 11 mesas en el Community Center Integration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Desafección: la abstención en el exterior pasó de 51 % (2016) a 81 % (2024); el estudio IIDH/CAPEL para la JCE analiza desafección, desinformación y logística. Nueva cédula: según la JCE, quien no renueve no podrá votar; en el exterior es por cita y culmina en enero de 2028. Centros: Philadelphia (1500 JFK Blvd, 2.º piso) y Consulado de Allentown (1710 Union Blvd). Dispersión: Reading, el noreste (Hazleton, Wilkes-Barre y Scranton) y Harrisburg, Lancaster, York y Lebanon suman unos 22,100 electores a 40 millas o más de un centro (aproximado).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cifra pública de cédulas renovadas en Pennsylvania; a nivel nacional la JCE reporta 4,009,576 entregadas (45.9 % de 8,730,372) al 13 de octubre de 2026. Pedir el dato a la JCE y a los consulados de Filadelfia y Allentown y medirlo en la red de líderes. Escenarios de habilitación: proyección propia sobre el padrón de la seccional. La JCE ya hizo operativos de empadronamiento en Lancaster y Lebanon en 2023; la entrega en el exterior se ampliará a más locales cuando los consulados obtengan autorización del Departamento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publicado un resultado presidencial o del PRM específico de la OCLEE Philadelphia. Referencias: en la Circunscripción 1, el PRM tenía entre 59.75 % y 60.22 % de los votos de diputados en los conteos preliminares (Diario Libre; Hoy, con 45 % de colegios); a nivel nacional Abinader obtuvo 57.44 %. Se usa 60 % sobre los 8,731 votos emitidos: unos 5,239 votos PRM en 2024 (estimado; los votos válidos son algo menos que los emitidos). Meta mínima 2028: +10 % = 5,763. Escenarios con 60 % de apoyo: Adverso 5,703 votos totales → 3,422; Inercial 8,745 → 5,247 (no alcanza); Realista (abstención 78 %) 10,456 → 6,274 (+20 %); Favorable 11,550 → 6,930 (+32 %). Dos caminos para el +10 %: 9,605 votos totales (participación 20.2 %) con 60 %, o 66 % de apoyo con 8,731 votantes. Red: 4,000 personas × 85 % = 3,400 votos, el 59 % de 5,763. Tres niveles: piso igualar 2024 (≈5,240), meta +10 % (≈5,760), techo +20 % (≈6,270). Desgaste: un tercer período consecutivo del PRM sin Abinader en la boleta y el malestar social que muestran las encuestas hacen prudente suponer menos apoyo; con 55 % de apoyo la meta exige 10,478 votos totales (22.0 % de participación; 19.7 % si el padrón crece 12 %); con 50 %, 11,526 votos (24.3 %; 21.7 % con padrón +12 %). Supuestos de los escenarios: Adverso, 60 % renueva la cédula y vota el 20 % de los habilitados; Inercial, 80 % y 23 %; Realista, abstención del 78 % sobre el padrón; Favorable, 90 % y 27 %. Sustituir el estimado por el resultado real de las actas de la seccional.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de organización: una red de 4,000 personas comprometidas a votar, con 400 líderes de 10 personas cada uno. Es equivalente a la meta de la carpeta CAD (362 comités de 11 = 3,982 personas, 40 % de los votos de 2024 por colegio con redondeo), pero más fácil de explicar. Si vota el 85 % de la red, son unos 3,400 votos, el 59 % de la meta de 5,760. Los líderes se reparten por zona en proporción a los electores. La agrupación en 8 zonas es una propuesta: ajustar si la seccional usa otra división.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Tablero: 4 indicadores con umbrales de semáforo, reportados por zona cada semana. Riesgos: cada uno con su mitigación y un área responsable del organigrama.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Votos 2024 por zona: estimados al repartir los 8,731 votos reales de la seccional en proporción a los electores; por eso la abstención aparece igual (81.6 %) en todas las zonas. Para medir la abstención real de cada zona hacen falta los votos por mesa: actas de los delegados del partido o la Relación de votación JCE (OCLEE 614). Meta realista: participación del 22 % (abstención 78 %), +1,725 votos (≈ 21 por mesa). Meta ambiciosa: 25 % (abstención 75 %), +3,151 votos (≈ 38 por mesa). Referencias: abstención en el exterior 51 % en 2016; Canadá 2024 con 29 % de participación.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CAD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8,731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18.4 %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38,798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padrón electoral, Seccional PRM Pennsylvania (2024) · Votos emitidos JCE 2024 (OCLEE Philadelphia)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 podemos superar en 10 % al PRM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18.4 %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5,760 votos para David Collado y el PRM (+10 % sobre 2024). Aun con desgaste, se logra con un 22 % de participación.</a:t>
            </a:r>
            <a:endParaRPr lang="en-US" sz="1500" dirty="0"/>
          </a:p>
        </p:txBody>
      </p:sp>
      <p:sp>
        <p:nvSpPr>
          <p:cNvPr id="18" name="La decisión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La decisión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Aprobar el plan, 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 (Registro Sociodemográfico). Meta PRM: estimación propia, ver diapositiva de la meta.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El 66 % del electorado vive fuera de Philadelphia: Reading, Allentown y Hazleton deciden la seccional</a:t>
            </a:r>
            <a:endParaRPr lang="en-US" sz="2800" dirty="0"/>
          </a:p>
        </p:txBody>
      </p:sp>
      <p:graphicFrame>
        <p:nvGraphicFramePr>
          <p:cNvPr id="3" name="Electores por ciudad" descr=""/>
          <p:cNvGraphicFramePr/>
          <p:nvPr/>
        </p:nvGraphicFramePr>
        <p:xfrm>
          <a:off x="548640" y="16002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1"/>
          <p:cNvSpPr/>
          <p:nvPr/>
        </p:nvSpPr>
        <p:spPr>
          <a:xfrm>
            <a:off x="7726680" y="169164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180136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48.5 %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del padrón está en Reading, Allentown y Hazleton: 23,071 electores, más que toda la ciudad de Philadelphia</a:t>
            </a:r>
            <a:endParaRPr lang="en-US" sz="3600" dirty="0"/>
          </a:p>
        </p:txBody>
      </p:sp>
      <p:sp>
        <p:nvSpPr>
          <p:cNvPr id="6" name="Tarjeta 2"/>
          <p:cNvSpPr/>
          <p:nvPr/>
        </p:nvSpPr>
        <p:spPr>
          <a:xfrm>
            <a:off x="7726680" y="379476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0" y="390448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25 mesas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concentradas en solo 2 ciudades: Allentown (14) y Hazleton (11). Máxima cobertura con mínima estructura</a:t>
            </a:r>
            <a:endParaRPr lang="en-US" sz="3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Seccional PRM Pennsylvania, padrón electoral 2024 (84 mesas, 47,529 electores, 13 ciudades)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8 zonas en el este de Pennsylvania; 4 de ellas concentran el 69 % del padrón</a:t>
            </a:r>
            <a:endParaRPr lang="en-US" sz="2800" dirty="0"/>
          </a:p>
        </p:txBody>
      </p:sp>
      <p:pic>
        <p:nvPicPr>
          <p:cNvPr id="3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4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8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2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6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0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4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8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2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4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6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8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0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2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4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8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0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20.3 %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13.9 %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2" name="Shape 59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17.6 %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66" name="Shape 63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17.2 %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2" name="Text 69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13.7 %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74" name="Shape 71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6" name="Text 73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3.7 %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78" name="Shape 75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11.5 %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82" name="Shape 79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4" name="Text 81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2.1 %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86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42062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5074920" y="160020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257800" y="167335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dominicanos del estado está inscrito para votar en la seccional (21 %). Y la comunidad creció un 26 % desde 2022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5074920" y="301752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257800" y="309067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5074920" y="4434840"/>
            <a:ext cx="324612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4498848"/>
            <a:ext cx="2926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Dos trámites, una sola cita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160020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Padrón de la seccional en 2028 (proyección)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41080" y="2011680"/>
          <a:ext cx="2999232" cy="914400"/>
        </p:xfrm>
        <a:graphic>
          <a:graphicData uri="http://schemas.openxmlformats.org/drawingml/2006/table">
            <a:tbl>
              <a:tblPr/>
              <a:tblGrid>
                <a:gridCol w="1764792"/>
                <a:gridCol w="1234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Escenario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Conservador +5 %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49,905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Base +12 %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53,232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Alto +26 %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59,887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8641080" y="4251960"/>
            <a:ext cx="29992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Escenario Base: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unos 5,700 electores nuevos; con 22 % de participación,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+1,250 votos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adicionales.</a:t>
            </a:r>
            <a:endParaRPr lang="en-US" sz="1400" dirty="0"/>
          </a:p>
        </p:txBody>
      </p:sp>
      <p:sp>
        <p:nvSpPr>
          <p:cNvPr id="13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(181,156 a dic. 2022; 227,647 en el último informe); Consulado RD en Filadelfia. Padrón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Tres obstáculos pueden reducir el voto de 2028: desafección, nueva cédula y dispersión</a:t>
            </a:r>
            <a:endParaRPr lang="en-US" sz="2800" dirty="0"/>
          </a:p>
        </p:txBody>
      </p:sp>
      <p:sp>
        <p:nvSpPr>
          <p:cNvPr id="3" name="Desafio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9933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51 % → 81 %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abstención en el exterior, 2016 frente a 2024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seccional, el 81.6 % no votó en 2024. El votante no ve relación entre su voto y su vida en EE. UU.</a:t>
            </a:r>
            <a:endParaRPr lang="en-US" sz="1500" dirty="0"/>
          </a:p>
        </p:txBody>
      </p:sp>
      <p:sp>
        <p:nvSpPr>
          <p:cNvPr id="9" name="Desafio 2"/>
          <p:cNvSpPr/>
          <p:nvPr/>
        </p:nvSpPr>
        <p:spPr>
          <a:xfrm>
            <a:off x="4334256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08576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9933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22976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Enero 2028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cierre de la renovación en el exterior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608576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 cédula nueva no se vota. Solo por cita y con 2 centros en la zona: Philadelphia y Allentown.</a:t>
            </a:r>
            <a:endParaRPr lang="en-US" sz="1500" dirty="0"/>
          </a:p>
        </p:txBody>
      </p:sp>
      <p:sp>
        <p:nvSpPr>
          <p:cNvPr id="15" name="Desafio 3"/>
          <p:cNvSpPr/>
          <p:nvPr/>
        </p:nvSpPr>
        <p:spPr>
          <a:xfrm>
            <a:off x="8119872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94192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19933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308592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Dispersión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394192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46 %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 padrón vive a 40 millas o más de un centro de cedulación</a:t>
            </a:r>
            <a:endParaRPr lang="en-US" sz="3400" dirty="0"/>
          </a:p>
        </p:txBody>
      </p:sp>
      <p:sp>
        <p:nvSpPr>
          <p:cNvPr id="20" name="Text 15"/>
          <p:cNvSpPr txBox="1"/>
          <p:nvPr/>
        </p:nvSpPr>
        <p:spPr>
          <a:xfrm>
            <a:off x="8394192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13 ciudades en unas 150 millas. Cada voto cuesta más tiempo y más transporte.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estudio IIDH/CAPEL para la JCE (abstención 2024); JCE, calendario de la nueva cédula en el exterior; distancias aproximadas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elector sin cédula nueva es un voto perdido: la renovación en el exterior cierra en enero de 2028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1965960"/>
            <a:ext cx="96926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214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Inicia la renovación en el exterior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57530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Oct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Arranque del plan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9846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Abr 2027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Cédula antigua deja de aceptarse en RD*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21624" y="18379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5236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Ene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84478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Elecciones generales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918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Escenarios de habilitación (proyección)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6309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Renovación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Habilitados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No podrán votar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42,776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4,753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33,270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14,259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23,765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23,764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6" name="Acciones cedula"/>
          <p:cNvSpPr/>
          <p:nvPr/>
        </p:nvSpPr>
        <p:spPr>
          <a:xfrm>
            <a:off x="7223760" y="3291840"/>
            <a:ext cx="4416552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3429000"/>
            <a:ext cx="3977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Primer paso: medir el avance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hay cifra pública de cuántos ya renovaron en PA. En todo el país va el 46 %.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Pedir a la JCE y a los consulados el número de cédulas entregadas en PA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Operativos móviles en Hazleton, Reading y Lancaster y viajes en grupo con cita</a:t>
            </a:r>
            <a:endParaRPr lang="en-US" sz="2200" dirty="0"/>
          </a:p>
        </p:txBody>
      </p:sp>
      <p:sp>
        <p:nvSpPr>
          <p:cNvPr id="1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JCE, nueva cédula en el exterior (por cita, cierre en enero de 2028). *Confirmar con la JCE si el corte de abril de 2027 aplica al exterior.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Aun con desgaste, superar en 10 % al PRM de 2024 es alcanzable: hace falta un 22 % de participación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5,240 votos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5,760 votos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6,270 votos</a:t>
            </a:r>
            <a:endParaRPr lang="en-US" sz="1500" dirty="0"/>
          </a:p>
        </p:txBody>
      </p:sp>
      <p:sp>
        <p:nvSpPr>
          <p:cNvPr id="12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60 % (igual que 2024)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20.2 %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Apoyo 55 % (desgaste moderado)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22.0 %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50 % (desgaste fuerte)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24.3 %</a:t>
            </a:r>
            <a:endParaRPr lang="en-US" sz="1600" dirty="0"/>
          </a:p>
        </p:txBody>
      </p:sp>
      <p:sp>
        <p:nvSpPr>
          <p:cNvPr id="2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*PRM 2024 estimado: 60 % (diputados C1) × 8,731 votos. Escenarios: renovación de cédula y participación supuestas (ver notas). Reemplazar con actas por mesa.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 de organización: una red de 4,000 votantes comprometidos, con 400 líderes de 10 personas cada uno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22960"/>
                <a:gridCol w="1051560"/>
                <a:gridCol w="9601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Mesas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Líderes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Personas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Harrisburg, Lancaster, York y Lebanon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mo se lee"/>
          <p:cNvSpPr/>
          <p:nvPr/>
        </p:nvSpPr>
        <p:spPr>
          <a:xfrm>
            <a:off x="8503920" y="1600200"/>
            <a:ext cx="3136392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737360"/>
            <a:ext cx="2697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Cómo se lee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Cada líder se compromete a llevar a votar a 10 personas de su entorno.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Ejemplo: Hazleton necesita 55 líderes, es decir, 550 personas. Solo cuenta quien ya tenga la cédula nueva.</a:t>
            </a:r>
            <a:endParaRPr lang="en-US" sz="1800" dirty="0"/>
          </a:p>
        </p:txBody>
      </p:sp>
      <p:sp>
        <p:nvSpPr>
          <p:cNvPr id="6" name="Regla cedula"/>
          <p:cNvSpPr/>
          <p:nvPr/>
        </p:nvSpPr>
        <p:spPr>
          <a:xfrm>
            <a:off x="8503920" y="4343400"/>
            <a:ext cx="313639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32520" y="443484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¿Por qué 4,000?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votos: el 59 % de la meta de 5,760.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Mesas y electores: Seccional PRM Pennsylvania. Líderes repartidos en proporción a los electores; zonas agrupadas por cercanía geográfica (propuesta).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semana, un tablero por zona; cada riesgo, un responsable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Tablero semanal por zona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68680"/>
                <a:gridCol w="868680"/>
                <a:gridCol w="868680"/>
                <a:gridCol w="868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Meta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Verde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Amarillo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Rojo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Líderes nuevos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 / sem.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31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 – 30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20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Red con cédula nueva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Recién llegados trasladados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 zona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Mesas con delegado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 – 83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70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6177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Se reporta cada semana por zona; el corte mensual va a la dirección de campaña.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554480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Riesgos y cómo los mitigamos</a:t>
            </a:r>
            <a:endParaRPr lang="en-US" sz="16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965960"/>
          <a:ext cx="537667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96312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Riesgo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Mitigación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Responsable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Nueva cédula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Operativos móviles y viajes en grupo con cita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Asuntos Electorales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Desafección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Agenda de la diáspora; 8 encuentros de escucha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Comunicaciones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incompletos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CRM con registros únicos; actas por mesa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Tecnología y Datos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División interna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Una sola estructura con la Seccional PRM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Dirección ejecutiva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Cumplimiento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Revisión de actividades; datos con consentimiento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Finanzas y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Collado encabeza las preferencias internas del PRM (48.8 %, Markestrategia, oct. 2026). Esa ventaja solo cuenta si los electores pueden votar.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Allentown y Hazleton (25 mesas en 2 ciudades) y Reading (18 % del padrón)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Anexo · Bajar la abstención de 81.6 % a 78 % suma unos 1,700 votos; llegar a 75 % suma 3,150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914400"/>
                <a:gridCol w="1051560"/>
                <a:gridCol w="1051560"/>
                <a:gridCol w="1417320"/>
                <a:gridCol w="1463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Votaron 2024*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Abstención*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Realista: 78 %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Ambiciosa: 75 %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1,773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2,123 (+350)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2,412 (+639)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1,210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1,449 (+239)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1,647 (+437)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1,537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1,841 (+304)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2,092 (+555)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1,800 (+297)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2,046 (+543)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1,434 (+236)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1,630 (+432)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325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389 (+64)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442 (+117)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Harrisburg, Lancaster, York y Lebanon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1,199 (+198)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1,362 (+361)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221 (+37)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251 (+67)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Seccional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8,731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10,456 (+1,725)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11,882 (+3,151)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Por que realista"/>
          <p:cNvSpPr/>
          <p:nvPr/>
        </p:nvSpPr>
        <p:spPr>
          <a:xfrm>
            <a:off x="8732520" y="1600200"/>
            <a:ext cx="290779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91640"/>
            <a:ext cx="2560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¿Por qué 78 % es realista?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Exterior 2016: 51 % de abstención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Canadá 2024: 71 %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Solo hay que recuperar 3.6 puntos: unos 21 votos más por mesa</a:t>
            </a:r>
            <a:endParaRPr lang="en-US" sz="1600" dirty="0"/>
          </a:p>
        </p:txBody>
      </p:sp>
      <p:sp>
        <p:nvSpPr>
          <p:cNvPr id="6" name="Dato real por zona"/>
          <p:cNvSpPr/>
          <p:nvPr/>
        </p:nvSpPr>
        <p:spPr>
          <a:xfrm>
            <a:off x="8732520" y="4023360"/>
            <a:ext cx="2907792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15400" y="411480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Para tener el dato real por zona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Usar las actas de cada mesa (delegados del partido) o la Relación de votación JCE, OCLEE 614.</a:t>
            </a:r>
            <a:endParaRPr lang="en-US" sz="15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*Por zona: estimado con la participación real de la seccional (18.4 %), a falta de actas por mesa. Total seccional: dato real JCE 2024. Metas: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2026-10-21T05:01:31Z</dcterms:created>
  <dcterms:modified xsi:type="dcterms:W3CDTF">2026-10-21T05:01:31Z</dcterms:modified>
</cp:coreProperties>
</file>