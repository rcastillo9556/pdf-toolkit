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6edf257a-bd32-dd89-3d8f-af60a8b5492a}">
          <p14:sldIdLst>
            <p14:sldId id="256"/>
            <p14:sldId id="257"/>
            <p14:sldId id="258"/>
            <p14:sldId id="259"/>
            <p14:sldId id="260"/>
          </p14:sldIdLst>
        </p14:section>
        <p14:section name="Desafíos" id="{20e1343b-aecb-e0aa-8f3f-5f3be9498b56}">
          <p14:sldIdLst>
            <p14:sldId id="261"/>
            <p14:sldId id="262"/>
          </p14:sldIdLst>
        </p14:section>
        <p14:section name="Escenarios y meta" id="{c4d5d29b-131a-138c-096c-d659dacd5d47}">
          <p14:sldIdLst>
            <p14:sldId id="263"/>
            <p14:sldId id="264"/>
          </p14:sldIdLst>
        </p14:section>
        <p14:section name="Plan y recomendación" id="{e6a9a11f-c331-49d7-a96c-3890480e2eb3}">
          <p14:sldIdLst>
            <p14:sldId id="265"/>
            <p14:sldId id="266"/>
            <p14:sldId id="267"/>
            <p14:sldId id="268"/>
          </p14:sldIdLst>
        </p14:section>
        <p14:section name="Anexo" id="{60ed1003-e482-6a2b-63f0-6e2ccb3777a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PRM en la seccional (con 60 % de apoyo)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 PRM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2024*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 (abst. 78 %)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5239</c:v>
                </c:pt>
                <c:pt idx="1">
                  <c:v>5763</c:v>
                </c:pt>
                <c:pt idx="2">
                  <c:v>3422</c:v>
                </c:pt>
                <c:pt idx="3">
                  <c:v>5247</c:v>
                </c:pt>
                <c:pt idx="4">
                  <c:v>6274</c:v>
                </c:pt>
                <c:pt idx="5">
                  <c:v>6930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18.4 % (8,731 de 47,529) y riesgo de la nueva cédula. Plan: 8 zonas, 400 líderes con 10 personas cada uno (4,000 personas). Meta: superar en al menos 10 % los votos estimados del PRM en 2024 (unos 5,239 → 5,763). Decisión: aprobar,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Centro-Sur (Harrisburg, Lancaster, York y Lebanon),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de líderes.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publicado un resultado presidencial o del PRM específico de la OCLEE Philadelphia. Referencias: en la Circunscripción 1, el PRM tenía entre 59.75 % y 60.22 % de los votos de diputados en los conteos preliminares (Diario Libre; Hoy, con 45 % de colegios); a nivel nacional Abinader obtuvo 57.44 %. Se usa 60 % sobre los 8,731 votos emitidos: unos 5,239 votos PRM en 2024 (estimado; los votos válidos son algo menos que los emitidos). Meta mínima 2028: +10 % = 5,763. Escenarios con 60 % de apoyo: Adverso 5,703 votos totales → 3,422; Inercial 8,745 → 5,247 (no alcanza); Realista (abstención 78 %) 10,456 → 6,274 (+20 %); Favorable 11,550 → 6,930 (+32 %). Dos caminos para el +10 %: 9,605 votos totales (participación 20.2 %) con 60 %, o 66 % de apoyo con 8,731 votantes. Red: 4,000 personas × 85 % = 3,400 votos, el 59 % de 5,763. Tres niveles: piso igualar 2024 (≈5,240), meta +10 % (≈5,760), techo +20 % (≈6,270). Desgaste: un tercer período consecutivo del PRM sin Abinader en la boleta y el malestar social que muestran las encuestas hacen prudente suponer menos apoyo; con 55 % de apoyo la meta exige 10,478 votos totales (22.0 % de participación; 19.7 % si el padrón crece 12 %); con 50 %, 11,526 votos (24.3 %; 21.7 % con padrón +12 %). Supuestos de los escenarios: Adverso, 60 % renueva la cédula y vota el 20 % de los habilitados; Inercial, 80 % y 23 %; Realista, abstención del 78 % sobre el padrón; Favorable, 90 % y 27 %. Sustituir el estimado por el resultado real de las actas de la seccional.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de organización: una red de 4,000 personas comprometidas a votar, con 400 líderes de 10 personas cada uno. Es equivalente a la meta de la carpeta CAD (362 comités de 11 = 3,982 personas, 40 % de los votos de 2024 por colegio con redondeo), pero más fácil de explicar. Si vota el 85 % de la red, son unos 3,400 votos, el 59 % de la meta de 5,760. Los líderes se reparten por zona en proporción a los electores.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Tablero: 4 indicadores con umbrales de semáforo, reportados por zona cada semana. Riesgos: cada uno con su mitigación y un área responsable del organigrama.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EQUIPO DE DAVID COLLADO · SECCIONAL PENNSYLVANIA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zonas de trabajo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electoral,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 podemos superar en 10 % al PRM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18.4 %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+26 %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 desde 2022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5,760 votos para David Collado y el PRM (+10 % sobre 2024). Aun con desgaste, se logra con un 22 % de participación.</a:t>
            </a:r>
            <a:endParaRPr lang="en-US" sz="1500" dirty="0"/>
          </a:p>
        </p:txBody>
      </p:sp>
      <p:sp>
        <p:nvSpPr>
          <p:cNvPr id="18" name="La decisión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 decisión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Aprobar el plan, 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 (Registro Sociodemográfico). Meta PRM: estimación propia, ver diapositiva de la meta.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concentradas en solo 2 ciudades: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padrón electoral 2024 (84 mesas, 47,529 electores, 13 ciudades)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8 zonas en el este de Pennsylvania; 4 de ellas concentran el 69 % del padrón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Ciudad Philadelphia"/>
          <p:cNvSpPr/>
          <p:nvPr/>
        </p:nvSpPr>
        <p:spPr>
          <a:xfrm>
            <a:off x="5101338" y="4862814"/>
            <a:ext cx="566928" cy="566928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723130" y="503197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Philadelphia</a:t>
            </a:r>
            <a:endParaRPr lang="en-US" sz="1100" dirty="0"/>
          </a:p>
        </p:txBody>
      </p:sp>
      <p:sp>
        <p:nvSpPr>
          <p:cNvPr id="6" name="Ciudad Reading"/>
          <p:cNvSpPr/>
          <p:nvPr/>
        </p:nvSpPr>
        <p:spPr>
          <a:xfrm>
            <a:off x="3923602" y="4110191"/>
            <a:ext cx="437947" cy="43794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416414" y="4214865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Reading</a:t>
            </a:r>
            <a:endParaRPr lang="en-US" sz="1100" dirty="0"/>
          </a:p>
        </p:txBody>
      </p:sp>
      <p:sp>
        <p:nvSpPr>
          <p:cNvPr id="8" name="Ciudad Allentown"/>
          <p:cNvSpPr/>
          <p:nvPr/>
        </p:nvSpPr>
        <p:spPr>
          <a:xfrm>
            <a:off x="4668283" y="3540281"/>
            <a:ext cx="434299" cy="434299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157446" y="364313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Allentown</a:t>
            </a:r>
            <a:endParaRPr lang="en-US" sz="1100" dirty="0"/>
          </a:p>
        </p:txBody>
      </p:sp>
      <p:sp>
        <p:nvSpPr>
          <p:cNvPr id="10" name="Ciudad Hazleton"/>
          <p:cNvSpPr/>
          <p:nvPr/>
        </p:nvSpPr>
        <p:spPr>
          <a:xfrm>
            <a:off x="3865060" y="2790754"/>
            <a:ext cx="399447" cy="39944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19371" y="287617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Hazleton</a:t>
            </a:r>
            <a:endParaRPr lang="en-US" sz="1100" dirty="0"/>
          </a:p>
        </p:txBody>
      </p:sp>
      <p:sp>
        <p:nvSpPr>
          <p:cNvPr id="12" name="Ciudad Wilkes-Barre"/>
          <p:cNvSpPr/>
          <p:nvPr/>
        </p:nvSpPr>
        <p:spPr>
          <a:xfrm>
            <a:off x="4096924" y="2248230"/>
            <a:ext cx="240037" cy="24003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036220" y="2253949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14" name="Ciudad Scranton"/>
          <p:cNvSpPr/>
          <p:nvPr/>
        </p:nvSpPr>
        <p:spPr>
          <a:xfrm>
            <a:off x="4481102" y="1921203"/>
            <a:ext cx="185672" cy="185672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21638" y="189973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Scranton</a:t>
            </a:r>
            <a:endParaRPr lang="en-US" sz="1100" dirty="0"/>
          </a:p>
        </p:txBody>
      </p:sp>
      <p:sp>
        <p:nvSpPr>
          <p:cNvPr id="16" name="Ciudad Harrisburg"/>
          <p:cNvSpPr/>
          <p:nvPr/>
        </p:nvSpPr>
        <p:spPr>
          <a:xfrm>
            <a:off x="2449100" y="4334430"/>
            <a:ext cx="256354" cy="256354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8396" y="434830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18" name="Ciudad Lancaster"/>
          <p:cNvSpPr/>
          <p:nvPr/>
        </p:nvSpPr>
        <p:spPr>
          <a:xfrm>
            <a:off x="3394856" y="4834416"/>
            <a:ext cx="260552" cy="260552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710273" y="485039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Lancaster</a:t>
            </a:r>
            <a:endParaRPr lang="en-US" sz="1100" dirty="0"/>
          </a:p>
        </p:txBody>
      </p:sp>
      <p:sp>
        <p:nvSpPr>
          <p:cNvPr id="20" name="Ciudad York"/>
          <p:cNvSpPr/>
          <p:nvPr/>
        </p:nvSpPr>
        <p:spPr>
          <a:xfrm>
            <a:off x="2718955" y="5007373"/>
            <a:ext cx="235257" cy="23525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3663" y="5270062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York</a:t>
            </a:r>
            <a:endParaRPr lang="en-US" sz="1100" dirty="0"/>
          </a:p>
        </p:txBody>
      </p:sp>
      <p:sp>
        <p:nvSpPr>
          <p:cNvPr id="22" name="Ciudad Lebanon"/>
          <p:cNvSpPr/>
          <p:nvPr/>
        </p:nvSpPr>
        <p:spPr>
          <a:xfrm>
            <a:off x="3247331" y="4212569"/>
            <a:ext cx="210512" cy="210512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849667" y="3956537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Lebanon</a:t>
            </a:r>
            <a:endParaRPr lang="en-US" sz="1100" dirty="0"/>
          </a:p>
        </p:txBody>
      </p:sp>
      <p:sp>
        <p:nvSpPr>
          <p:cNvPr id="24" name="Ciudad Wilmington"/>
          <p:cNvSpPr/>
          <p:nvPr/>
        </p:nvSpPr>
        <p:spPr>
          <a:xfrm>
            <a:off x="4662173" y="5488075"/>
            <a:ext cx="223417" cy="223417"/>
          </a:xfrm>
          <a:prstGeom prst="ellipse">
            <a:avLst/>
          </a:prstGeom>
          <a:solidFill>
            <a:schemeClr val="tx2">
              <a:alpha val="85000"/>
            </a:schemeClr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940454" y="5485484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366514" y="4533630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366514" y="45336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732274" y="4789662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732274" y="47896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575648" y="4036557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75648" y="40365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318504" y="3464822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18504" y="34648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497856" y="2743589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97856" y="2743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4464210" y="2304241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64210" y="23042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2916936" y="4562856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16936" y="4562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4234386" y="5398616"/>
            <a:ext cx="310896" cy="310896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234386" y="5398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42" name="Text 3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275320" y="184708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Philadelphia Noreste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20.3 %</a:t>
            </a:r>
            <a:endParaRPr lang="en-US" sz="1300" dirty="0"/>
          </a:p>
        </p:txBody>
      </p:sp>
      <p:sp>
        <p:nvSpPr>
          <p:cNvPr id="47" name="Text 4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8275320" y="235458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Philadelphia Kensington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13.9 %</a:t>
            </a:r>
            <a:endParaRPr lang="en-US" sz="1300" dirty="0"/>
          </a:p>
        </p:txBody>
      </p:sp>
      <p:sp>
        <p:nvSpPr>
          <p:cNvPr id="51" name="Text 4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275320" y="286207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Berks (Reading)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17.6 %</a:t>
            </a:r>
            <a:endParaRPr lang="en-US" sz="1300" dirty="0"/>
          </a:p>
        </p:txBody>
      </p:sp>
      <p:sp>
        <p:nvSpPr>
          <p:cNvPr id="55" name="Text 5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8" name="Text 55"/>
          <p:cNvSpPr txBox="1"/>
          <p:nvPr/>
        </p:nvSpPr>
        <p:spPr>
          <a:xfrm>
            <a:off x="8275320" y="3369564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Lehigh Valley (Allentown)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17.2 %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60" name="Shape 5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8275320" y="3877056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Hazleton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13.7 %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4" name="Shape 6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8275320" y="4384548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Wilkes-Barre y Scranton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3.7 %</a:t>
            </a:r>
            <a:endParaRPr lang="en-US" sz="1300" dirty="0"/>
          </a:p>
        </p:txBody>
      </p:sp>
      <p:sp>
        <p:nvSpPr>
          <p:cNvPr id="67" name="Text 6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68" name="Shape 6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8275320" y="4892040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Centro-Sur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11.5 %</a:t>
            </a:r>
            <a:endParaRPr lang="en-US" sz="1300" dirty="0"/>
          </a:p>
        </p:txBody>
      </p:sp>
      <p:sp>
        <p:nvSpPr>
          <p:cNvPr id="71" name="Text 6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72" name="Shape 6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74" name="Text 71"/>
          <p:cNvSpPr txBox="1"/>
          <p:nvPr/>
        </p:nvSpPr>
        <p:spPr>
          <a:xfrm>
            <a:off x="8275320" y="5399532"/>
            <a:ext cx="2468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Delaware (Wilmington)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2.1 %</a:t>
            </a:r>
            <a:endParaRPr lang="en-US" sz="1300" dirty="0"/>
          </a:p>
        </p:txBody>
      </p:sp>
      <p:sp>
        <p:nvSpPr>
          <p:cNvPr id="75" name="Text 7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7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Tamaño del círculo según electores de cada ciudad. Zonas: agrupación propuesta. Cartografía: US Census (us-atlas).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Aun con desgaste, superar en 10 % al PRM de 2024 es alcanzable: hace falta un 22 % de participación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5,240 votos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5,760 votos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6,270 votos</a:t>
            </a:r>
            <a:endParaRPr lang="en-US" sz="1500" dirty="0"/>
          </a:p>
        </p:txBody>
      </p:sp>
      <p:sp>
        <p:nvSpPr>
          <p:cNvPr id="12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60 % (igual que 2024)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20.2 %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Apoyo 55 % (desgaste moderado)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22.0 %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Apoyo 50 % (desgaste fuerte)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24.3 %</a:t>
            </a:r>
            <a:endParaRPr lang="en-US" sz="1600" dirty="0"/>
          </a:p>
        </p:txBody>
      </p:sp>
      <p:sp>
        <p:nvSpPr>
          <p:cNvPr id="2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*PRM 2024 estimado: 60 % (diputados C1) × 8,731 votos. Escenarios: renovación de cédula y participación supuestas (ver notas). Reemplazar con actas por mesa.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una red de 4,000 votantes comprometidos, con 400 líderes de 10 personas cada uno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Líderes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líder se compromete a llevar a votar a 10 personas de su entorno.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necesita 55 líderes, es decir, 550 personas. Solo cuenta quien ya tenga la cédula nueva.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¿Por qué 4,000?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votos: el 59 % de la meta de 5,760.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Líderes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Centro-Sur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Centro-Sur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semana, un tablero por zona; cada riesgo, un responsable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Tablero semanal por zona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5394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68680"/>
                <a:gridCol w="868680"/>
                <a:gridCol w="868680"/>
                <a:gridCol w="868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Indicador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Meta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Verde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Amarillo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Rojo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Líderes nuevos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 / sem.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31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 – 30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20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Red con cédula nueva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Recién llegados trasladados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Por zona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≥ 90 %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 – 89 %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60 %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Mesas con delegado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 – 83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&lt; 70</a:t>
                      </a:r>
                      <a:endParaRPr lang="en-US" sz="13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6177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Se reporta cada semana por zona; el corte mensual va a la dirección de campaña.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554480"/>
            <a:ext cx="5376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Riesgos y cómo los mitigamos</a:t>
            </a:r>
            <a:endParaRPr lang="en-US" sz="16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965960"/>
          <a:ext cx="5376672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496312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Riesgo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Mitigación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Responsable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Nueva cédula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Operativos móviles y viajes en grupo con cita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Asuntos Electorales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Desafección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Agenda de la diáspora; 8 encuentros de escucha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Comunicaciones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Datos incompletos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CRM con registros únicos; actas por mesa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Tecnología y Datos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División interna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Una sola estructura con la Seccional PRM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Dirección ejecutiva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Cumplimiento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Revisión de actividades; datos con consentimiento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Finanzas y Legal</a:t>
                      </a:r>
                      <a:endParaRPr lang="en-US" sz="1200" dirty="0"/>
                    </a:p>
                  </a:txBody>
                  <a:tcPr marL="54864" marR="54864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 en 2 ciudades)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 con la meta de al menos 5,760 votos (+10 % sobre el PRM 2024), nombrar a los 8 coordinadores e iniciar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Anexo · 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2026-10-21T04:25:40Z</dcterms:created>
  <dcterms:modified xsi:type="dcterms:W3CDTF">2026-10-21T04:25:40Z</dcterms:modified>
</cp:coreProperties>
</file>