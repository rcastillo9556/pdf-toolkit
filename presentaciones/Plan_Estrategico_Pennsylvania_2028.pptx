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7a212d97-991f-be2b-58a4-5b468da9dfd3}">
          <p14:sldIdLst>
            <p14:sldId id="256"/>
            <p14:sldId id="257"/>
            <p14:sldId id="258"/>
          </p14:sldIdLst>
        </p14:section>
        <p14:section name="Desafíos" id="{89861157-e670-38b2-3715-43d88a15551f}">
          <p14:sldIdLst>
            <p14:sldId id="259"/>
            <p14:sldId id="260"/>
          </p14:sldIdLst>
        </p14:section>
        <p14:section name="Escenarios y meta" id="{fb0d0a2c-8c75-ca6d-dce3-a68b3c69921c}">
          <p14:sldIdLst>
            <p14:sldId id="261"/>
            <p14:sldId id="262"/>
            <p14:sldId id="263"/>
          </p14:sldIdLst>
        </p14:section>
        <p14:section name="Plan y recomendación" id="{247711b7-f2cc-b41a-6d0f-040c2afb5d97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8731</c:v>
                </c:pt>
                <c:pt idx="1">
                  <c:v>38798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Electores por ciudad (2024)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Electores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Philadelphia</c:v>
                  </c:pt>
                  <c:pt idx="1">
                    <c:v>Reading</c:v>
                  </c:pt>
                  <c:pt idx="2">
                    <c:v>Allentown</c:v>
                  </c:pt>
                  <c:pt idx="3">
                    <c:v>Hazleton</c:v>
                  </c:pt>
                  <c:pt idx="4">
                    <c:v>Resto (9 ciudades)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16237</c:v>
                </c:pt>
                <c:pt idx="1">
                  <c:v>8368</c:v>
                </c:pt>
                <c:pt idx="2">
                  <c:v>8183</c:v>
                </c:pt>
                <c:pt idx="3">
                  <c:v>6520</c:v>
                </c:pt>
                <c:pt idx="4">
                  <c:v>8221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registrados en Pennsylvania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Dic. 2022</c:v>
                  </c:pt>
                  <c:pt idx="1">
                    <c:v>Registro más reciente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Votos proyectados 2028 en la seccional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2024 real</c:v>
                  </c:pt>
                  <c:pt idx="1">
                    <c:v>Adverso</c:v>
                  </c:pt>
                  <c:pt idx="2">
                    <c:v>Inercial</c:v>
                  </c:pt>
                  <c:pt idx="3">
                    <c:v>Favorable (con el plan)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8731</c:v>
                </c:pt>
                <c:pt idx="1">
                  <c:v>5703</c:v>
                </c:pt>
                <c:pt idx="2">
                  <c:v>8745</c:v>
                </c:pt>
                <c:pt idx="3">
                  <c:v>11550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13 ciudades de PA y Wilmington (DE). 47,529 electores en 84 mesas y 18 recintos (documento de apoyo de la seccional; coincide con los 84 colegios del CAD y con el corte preliminar JCE de 47,604). Votaron 8,731 (dato CAD; confirmar en la Relación de votación JCE, OCLEE 614). Participación 18.4 %.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Concentrar el esfuerzo solo en la ciudad deja fuera al 66 % del padrón. Reading suma 4 recintos (La Senda I, II, III y Asociación de Pennsylvania). Allentown concentra 14 mesas en Castle of Events. Hazleton, 11 mesas en el Community Center Integration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registro más reciente, citado en prensa, reporta 227,647 (+36,553 en el último año, +19.1 %, el mayor aumento absoluto de todos los estados).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Desafección: la abstención en el exterior pasó de 51 % (2016) a 81 % (2024); el estudio IIDH/CAPEL para la JCE analiza desafección, desinformación y logística. Nueva cédula: según la JCE, quien no renueve no podrá votar; en el exterior es por cita y culmina en enero de 2028. Centros: Philadelphia (1500 JFK Blvd, 2.º piso) y Consulado de Allentown (1710 Union Blvd). Dispersión: Reading, Noreste y Centro-Sur suman unos 22,100 electores a 40 millas o más de un centro (aproximado).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cifra pública de cédulas renovadas en Pennsylvania; a nivel nacional la JCE reporta 4,009,576 entregadas (45.9 % de 8,730,372) al 13 de octubre de 2026. Pedir el dato a la JCE y a los consulados de Filadelfia y Allentown y medirlo en la red 1+10. Escenarios de habilitación: proyección propia sobre el padrón de la seccional. La JCE ya hizo operativos de empadronamiento en Lancaster y Lebanon en 2023; la entrega en el exterior se ampliará a más locales cuando los consulados obtengan autorización del Departamento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Cálculo: Adverso 47,529 × 60 % × 20 % ≈ 5,700. Inercial 47,529 × 80 % × 23 % ≈ 8,750. Favorable 47,529 × 90 % × 27 % ≈ 11,550. Referencia 2024: 8,731 votos. Son supuestos de trabajo, no datos de la JCE.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Votos 2024 por zona: estimados al repartir los 8,731 votos reales de la seccional en proporción a los electores; por eso la abstención aparece igual (81.6 %) en todas las zonas. Para medir la abstención real de cada zona hacen falta los votos por mesa: actas de los delegados del partido o la Relación de votación JCE (OCLEE 614). Meta realista: participación del 22 % (abstención 78 %), +1,725 votos (≈ 21 por mesa). Meta ambiciosa: 25 % (abstención 75 %), +3,151 votos (≈ 38 por mesa). Referencias: abstención en el exterior 51 % en 2016; Canadá 2024 con 29 % de participación.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1+10 de la seccional (CAD): 362 comités = 3,982 personas, calculada como 40 % de los votos emitidos por colegio, redondeado al comité completo. El reparto por zona es proporcional a los electores porque no hay votos por recinto; con los votos JCE por colegio se puede afinar. La agrupación en 8 zonas es una propuesta: ajustar si la seccional usa otra división.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Ritmo de la meta: 362 comités en ~13 semanas = 28 comités por semana. Semáforo semanal: verde 28 o más, amarillo 18–27, rojo menos de 18. La fecha del 3 de octubre de 2027 es la fecha legal para primarias; el método del PRM para escoger candidato presidencial aún no está aprobado formalmente.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Pennsylvania 2028 · Preparado por Orlando Castillo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548640" y="685800"/>
            <a:ext cx="7223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SECCIONAL PENNSYLVANIA · CIRCUNSCRIPCIÓN I · RUMBO A MAYO 2028</a:t>
            </a:r>
            <a:endParaRPr lang="en-US" sz="1300" dirty="0"/>
          </a:p>
        </p:txBody>
      </p:sp>
      <p:sp>
        <p:nvSpPr>
          <p:cNvPr id="4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8,731 votaron: 8 de cada 10 se quedaron en casa</a:t>
            </a:r>
            <a:endParaRPr lang="en-US" sz="3800" dirty="0"/>
          </a:p>
        </p:txBody>
      </p:sp>
      <p:graphicFrame>
        <p:nvGraphicFramePr>
          <p:cNvPr id="5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18.4 %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7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9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recintos</a:t>
            </a:r>
            <a:endParaRPr lang="en-US" sz="3000" dirty="0"/>
          </a:p>
        </p:txBody>
      </p:sp>
      <p:sp>
        <p:nvSpPr>
          <p:cNvPr id="11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13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ciudades (PA y DE)</a:t>
            </a:r>
            <a:endParaRPr lang="en-US" sz="3000" dirty="0"/>
          </a:p>
        </p:txBody>
      </p:sp>
      <p:sp>
        <p:nvSpPr>
          <p:cNvPr id="13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38,798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padrón por recinto, Seccional PRM Pennsylvania (2024) · Votos emitidos JCE 2024 (OCLEE Philadelphia)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El 66 % del electorado vive fuera de Philadelphia: Reading, Allentown y Hazleton deciden la seccional</a:t>
            </a:r>
            <a:endParaRPr lang="en-US" sz="2800" dirty="0"/>
          </a:p>
        </p:txBody>
      </p:sp>
      <p:graphicFrame>
        <p:nvGraphicFramePr>
          <p:cNvPr id="3" name="Electores por ciudad" descr=""/>
          <p:cNvGraphicFramePr/>
          <p:nvPr/>
        </p:nvGraphicFramePr>
        <p:xfrm>
          <a:off x="548640" y="160020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arjeta 1"/>
          <p:cNvSpPr/>
          <p:nvPr/>
        </p:nvSpPr>
        <p:spPr>
          <a:xfrm>
            <a:off x="7726680" y="169164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955280" y="180136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48.5 %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del padrón está en Reading, Allentown y Hazleton: 23,071 electores, más que toda la ciudad de Philadelphia</a:t>
            </a:r>
            <a:endParaRPr lang="en-US" sz="3600" dirty="0"/>
          </a:p>
        </p:txBody>
      </p:sp>
      <p:sp>
        <p:nvSpPr>
          <p:cNvPr id="6" name="Tarjeta 2"/>
          <p:cNvSpPr/>
          <p:nvPr/>
        </p:nvSpPr>
        <p:spPr>
          <a:xfrm>
            <a:off x="7726680" y="3794760"/>
            <a:ext cx="3913632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3904488"/>
            <a:ext cx="347472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</a:rPr>
              <a:t>25 mesas</a:t>
            </a:r>
            <a:endParaRPr lang="en-US" sz="36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solo 2 recintos: Allentown (14) y Hazleton (11). Máxima cobertura con mínima estructura</a:t>
            </a:r>
            <a:endParaRPr lang="en-US" sz="3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Seccional PRM Pennsylvania, Recintos y Colegios Electorales 2024 (18 recintos, 84 mesas, 47,529 electores)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La comunidad dominicana en Pennsylvania creció un 26 % desde 2022: el padrón crecerá si los recién llegados se inscriben aquí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42062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5074920" y="160020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257800" y="167335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+46,500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dominicanos más en el estado. El consulado reporta que «cada día llega un dominicano más», muchos desde Nueva York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5074920" y="3017520"/>
            <a:ext cx="324612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257800" y="3090672"/>
            <a:ext cx="29260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5074920" y="4434840"/>
            <a:ext cx="3246120" cy="1417320"/>
          </a:xfrm>
          <a:prstGeom prst="roundRect">
            <a:avLst>
              <a:gd name="adj" fmla="val 516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257800" y="4498848"/>
            <a:ext cx="29260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Dos trámites, una sola cita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41080" y="1600200"/>
            <a:ext cx="2999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Padrón de la seccional en 2028 (proyección)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41080" y="2011680"/>
          <a:ext cx="2999232" cy="914400"/>
        </p:xfrm>
        <a:graphic>
          <a:graphicData uri="http://schemas.openxmlformats.org/drawingml/2006/table">
            <a:tbl>
              <a:tblPr/>
              <a:tblGrid>
                <a:gridCol w="1764792"/>
                <a:gridCol w="12344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Escenario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Conservador +5 %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49,905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Base +12 %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53,232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Alto +26 %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59,887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8641080" y="4251960"/>
            <a:ext cx="299923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Escenario Base: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unos 5,700 electores nuevos; con 22 % de participación,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+1,250 votos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adicionales.</a:t>
            </a:r>
            <a:endParaRPr lang="en-US" sz="1400" dirty="0"/>
          </a:p>
        </p:txBody>
      </p:sp>
      <p:sp>
        <p:nvSpPr>
          <p:cNvPr id="13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(181,156 a dic. 2022); registro más reciente citado en prensa (227,647); Consulado RD en Filadelfia. Padrón 2028: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Tres obstáculos pueden reducir el voto de 2028: desafección, nueva cédula y dispersión</a:t>
            </a:r>
            <a:endParaRPr lang="en-US" sz="2800" dirty="0"/>
          </a:p>
        </p:txBody>
      </p:sp>
      <p:sp>
        <p:nvSpPr>
          <p:cNvPr id="3" name="Desafio 1"/>
          <p:cNvSpPr/>
          <p:nvPr/>
        </p:nvSpPr>
        <p:spPr>
          <a:xfrm>
            <a:off x="548640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1993392"/>
            <a:ext cx="402336" cy="4023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Desafección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51 % → 81 %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abstención en el exterior, 2016 frente a 2024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 la seccional, el 81.6 % no votó en 2024. El votante no ve relación entre su voto y su vida en EE. UU.</a:t>
            </a:r>
            <a:endParaRPr lang="en-US" sz="1500" dirty="0"/>
          </a:p>
        </p:txBody>
      </p:sp>
      <p:sp>
        <p:nvSpPr>
          <p:cNvPr id="9" name="Desafio 2"/>
          <p:cNvSpPr/>
          <p:nvPr/>
        </p:nvSpPr>
        <p:spPr>
          <a:xfrm>
            <a:off x="4334256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08576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19933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22976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Nueva cédula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Enero 2028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cierre de la renovación en el exterior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4608576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Sin cédula nueva no se vota. Solo por cita y con 2 centros en la zona: Philadelphia y Allentown.</a:t>
            </a:r>
            <a:endParaRPr lang="en-US" sz="1500" dirty="0"/>
          </a:p>
        </p:txBody>
      </p:sp>
      <p:sp>
        <p:nvSpPr>
          <p:cNvPr id="15" name="Desafio 3"/>
          <p:cNvSpPr/>
          <p:nvPr/>
        </p:nvSpPr>
        <p:spPr>
          <a:xfrm>
            <a:off x="8119872" y="1600200"/>
            <a:ext cx="3520440" cy="420624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94192" y="1828800"/>
            <a:ext cx="731520" cy="73152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1993392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308592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Dispersión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394192" y="278892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</a:rPr>
              <a:t>46 %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del padrón vive a 40 millas o más de un centro de cedulación</a:t>
            </a:r>
            <a:endParaRPr lang="en-US" sz="3400" dirty="0"/>
          </a:p>
        </p:txBody>
      </p:sp>
      <p:sp>
        <p:nvSpPr>
          <p:cNvPr id="20" name="Text 15"/>
          <p:cNvSpPr txBox="1"/>
          <p:nvPr/>
        </p:nvSpPr>
        <p:spPr>
          <a:xfrm>
            <a:off x="8394192" y="420624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13 ciudades en unas 150 millas. Cada voto cuesta más tiempo y más transporte.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estudio IIDH/CAPEL para la JCE (abstención 2024); JCE, calendario de la nueva cédula en el exterior; distancias aproximadas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elector sin cédula nueva es un voto perdido: la renovación en el exterior cierra en enero de 2028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280160" y="1965960"/>
            <a:ext cx="96926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5214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8288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Inicia la renovación en el exterior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57530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0604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Oct 2026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Arranque del plan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99846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Abr 2027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Cédula antigua deja de aceptarse en RD*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21624" y="1837944"/>
            <a:ext cx="256032" cy="256032"/>
          </a:xfrm>
          <a:prstGeom prst="ellipse">
            <a:avLst/>
          </a:prstGeom>
          <a:solidFill>
            <a:schemeClr val="accent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5236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Ene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Cierre de la renovación en el exterior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844784" y="1837944"/>
            <a:ext cx="256032" cy="256032"/>
          </a:xfrm>
          <a:prstGeom prst="ellipse">
            <a:avLst/>
          </a:prstGeom>
          <a:solidFill>
            <a:schemeClr val="tx2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875520" y="21945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May 2028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Elecciones generales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2918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Escenarios de habilitación (proyección)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3093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103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Renovación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Habilitados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No podrán votar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42,776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4,753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33,270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14,259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50 %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23,765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23,764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6" name="Acciones cedula"/>
          <p:cNvSpPr/>
          <p:nvPr/>
        </p:nvSpPr>
        <p:spPr>
          <a:xfrm>
            <a:off x="7223760" y="3291840"/>
            <a:ext cx="4416552" cy="26060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52360" y="3429000"/>
            <a:ext cx="3977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Primer paso: medir el avance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hay cifra pública de cuántos ya renovaron en PA. En todo el país va el 46 %.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Pedir a la JCE y a los consulados el número de cédulas entregadas en PA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Operativos móviles en Hazleton, Reading y Lancaster y viajes en grupo con cita</a:t>
            </a:r>
            <a:endParaRPr lang="en-US" sz="2200" dirty="0"/>
          </a:p>
        </p:txBody>
      </p:sp>
      <p:sp>
        <p:nvSpPr>
          <p:cNvPr id="1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JCE, nueva cédula en el exterior (por cita, cierre en enero de 2028). *Confirmar con la JCE si el corte de abril de 2027 aplica al exterior.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Sin un plan, la seccional puede perder un tercio de sus votos; con el plan, puede crecer un 32 %</a:t>
            </a:r>
            <a:endParaRPr lang="en-US" sz="2800" dirty="0"/>
          </a:p>
        </p:txBody>
      </p:sp>
      <p:graphicFrame>
        <p:nvGraphicFramePr>
          <p:cNvPr id="3" name="Escenarios" descr=""/>
          <p:cNvGraphicFramePr/>
          <p:nvPr/>
        </p:nvGraphicFramePr>
        <p:xfrm>
          <a:off x="548640" y="1600200"/>
          <a:ext cx="60350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Escenario Adverso"/>
          <p:cNvSpPr/>
          <p:nvPr/>
        </p:nvSpPr>
        <p:spPr>
          <a:xfrm>
            <a:off x="6949440" y="1691640"/>
            <a:ext cx="46908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132320" y="16916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−35 %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16916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Adverso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60 % renueva la cédula · vota el 20 % de los habilitados</a:t>
            </a:r>
            <a:endParaRPr lang="en-US" sz="1600" dirty="0"/>
          </a:p>
        </p:txBody>
      </p:sp>
      <p:sp>
        <p:nvSpPr>
          <p:cNvPr id="7" name="Escenario Inercial"/>
          <p:cNvSpPr/>
          <p:nvPr/>
        </p:nvSpPr>
        <p:spPr>
          <a:xfrm>
            <a:off x="6949440" y="2770632"/>
            <a:ext cx="46908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0" y="2770632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≈ 0 %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770632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Inercial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80 % renueva · vota el 23 %</a:t>
            </a:r>
            <a:endParaRPr lang="en-US" sz="1600" dirty="0"/>
          </a:p>
        </p:txBody>
      </p:sp>
      <p:sp>
        <p:nvSpPr>
          <p:cNvPr id="10" name="Escenario Favorable"/>
          <p:cNvSpPr/>
          <p:nvPr/>
        </p:nvSpPr>
        <p:spPr>
          <a:xfrm>
            <a:off x="6949440" y="3849624"/>
            <a:ext cx="46908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0" y="3849624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+32 %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3849624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Favorable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90 % renueva · vota el 27 % (con el plan en marcha)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5029200"/>
            <a:ext cx="4690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Lo que más separa un escenario de otro es la </a:t>
            </a:r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renovación de la cédula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, no la persuasión.</a:t>
            </a:r>
            <a:endParaRPr lang="en-US" sz="1600" dirty="0"/>
          </a:p>
        </p:txBody>
      </p:sp>
      <p:sp>
        <p:nvSpPr>
          <p:cNvPr id="14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Proyección propia sobre 47,529 electores. Supuestos de renovación y participación explícitos; actualizar con el avance real de la cédula.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Bajar la abstención de 81.6 % a 78 % suma unos 1,700 votos; llegar a 75 % suma 3,150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8638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914400"/>
                <a:gridCol w="1051560"/>
                <a:gridCol w="1051560"/>
                <a:gridCol w="1417320"/>
                <a:gridCol w="1463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Votaron 2024*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Abstención*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Realista: 78 %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Ambiciosa: 75 %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1,773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2,123 (+350)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2,412 (+639)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1,210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1,449 (+239)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1,647 (+437)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1,537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1,841 (+304)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2,092 (+555)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1,503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1,800 (+297)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2,046 (+543)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1,198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1,434 (+236)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1,630 (+432)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325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389 (+64)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442 (+117)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1,199 (+198)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1,362 (+361)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184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221 (+37)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251 (+67)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Seccional (real)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8,731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81.6 %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10,456 (+1,725)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11,882 (+3,151)</a:t>
                      </a:r>
                      <a:endParaRPr lang="en-US" sz="13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r que realista"/>
          <p:cNvSpPr/>
          <p:nvPr/>
        </p:nvSpPr>
        <p:spPr>
          <a:xfrm>
            <a:off x="8732520" y="1600200"/>
            <a:ext cx="2907792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691640"/>
            <a:ext cx="2560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¿Por qué 78 % es realista?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Exterior 2016: 51 % de abstención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Canadá 2024: 71 %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Solo hay que recuperar 3.6 puntos: unos 21 votos más por mesa</a:t>
            </a:r>
            <a:endParaRPr lang="en-US" sz="1600" dirty="0"/>
          </a:p>
        </p:txBody>
      </p:sp>
      <p:sp>
        <p:nvSpPr>
          <p:cNvPr id="6" name="Dato real por zona"/>
          <p:cNvSpPr/>
          <p:nvPr/>
        </p:nvSpPr>
        <p:spPr>
          <a:xfrm>
            <a:off x="8732520" y="4023360"/>
            <a:ext cx="2907792" cy="1828800"/>
          </a:xfrm>
          <a:prstGeom prst="roundRect">
            <a:avLst>
              <a:gd name="adj" fmla="val 4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15400" y="4114800"/>
            <a:ext cx="2560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Para tener el dato real por zona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Usar las actas de cada mesa (delegados del partido) o la Relación de votación JCE, OCLEE 614.</a:t>
            </a:r>
            <a:endParaRPr lang="en-US" sz="15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*Por zona: estimado con la participación real de la seccional (18.4 %), a falta de actas por mesa. Total seccional: dato real JCE 2024. Metas: proyección propia.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 de organización: 362 equipos de 11 personas (3,982 en total) repartidos en 8 zonas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5895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822960"/>
                <a:gridCol w="1051560"/>
                <a:gridCol w="960120"/>
                <a:gridCol w="11887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Zona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Mesas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Equipos 1+10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Personas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Noreste (3 recintos)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9,649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Philadelphia Kensington (2 recintos)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Berks (Reading)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Lehigh Valley (Allentown)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Wilkes-Barre y Scranton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143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Centro-Sur (Harrisburg, Lancaster, York, Lebanon)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5,450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Delaware (Wilmington)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88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Total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84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362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3,982</a:t>
                      </a:r>
                      <a:endParaRPr lang="en-US" sz="1300" dirty="0"/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omo se lee"/>
          <p:cNvSpPr/>
          <p:nvPr/>
        </p:nvSpPr>
        <p:spPr>
          <a:xfrm>
            <a:off x="8503920" y="1600200"/>
            <a:ext cx="3136392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732520" y="1737360"/>
            <a:ext cx="26974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Cómo se lee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Cada equipo = 1 dirigente + 10 personas que se comprometen a votar.</a:t>
            </a:r>
            <a:endParaRPr lang="en-US" sz="18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Ejemplo: Hazleton debe formar 50 equipos, es decir, 550 personas.</a:t>
            </a:r>
            <a:endParaRPr lang="en-US" sz="1800" dirty="0"/>
          </a:p>
        </p:txBody>
      </p:sp>
      <p:sp>
        <p:nvSpPr>
          <p:cNvPr id="6" name="Regla cedula"/>
          <p:cNvSpPr/>
          <p:nvPr/>
        </p:nvSpPr>
        <p:spPr>
          <a:xfrm>
            <a:off x="8503920" y="4343400"/>
            <a:ext cx="3136392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732520" y="443484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Regla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persona cuenta solo si ya tiene la cédula nueva.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Mesas y electores: Seccional PRM Pennsylvania. Comités repartidos en proporción a los electores; zonas agrupadas por cercanía geográfica (propuesta).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Cuatro etapas hacia mayo de 2028: habilitar primero, movilizar al final</a:t>
            </a:r>
            <a:endParaRPr lang="en-US" sz="2800" dirty="0"/>
          </a:p>
        </p:txBody>
      </p:sp>
      <p:sp>
        <p:nvSpPr>
          <p:cNvPr id="3" name="Etapa 1"/>
          <p:cNvSpPr/>
          <p:nvPr/>
        </p:nvSpPr>
        <p:spPr>
          <a:xfrm>
            <a:off x="548640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Instalar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Nov 2026 – feb 2027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8 coordinadores de zona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18 responsables de recinto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100 % de la red 1+10 con cédula nueva</a:t>
            </a:r>
            <a:endParaRPr lang="en-US" sz="1400" dirty="0"/>
          </a:p>
        </p:txBody>
      </p:sp>
      <p:sp>
        <p:nvSpPr>
          <p:cNvPr id="8" name="Etapa 2"/>
          <p:cNvSpPr/>
          <p:nvPr/>
        </p:nvSpPr>
        <p:spPr>
          <a:xfrm>
            <a:off x="3364992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93592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93592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593592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Habilitar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Mar – sep 2027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593592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362 comités validados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60 % o más del padrón renovado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Recién llegados trasladados a PA</a:t>
            </a:r>
            <a:endParaRPr lang="en-US" sz="1400" dirty="0"/>
          </a:p>
        </p:txBody>
      </p:sp>
      <p:sp>
        <p:nvSpPr>
          <p:cNvPr id="13" name="Etapa 3"/>
          <p:cNvSpPr/>
          <p:nvPr/>
        </p:nvSpPr>
        <p:spPr>
          <a:xfrm>
            <a:off x="6181344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9944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9944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Consolidar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Oct 2027 – ene 2028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409944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Proceso interno del partido (fecha legal: 3 oct 2027)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90 % o más renovado antes del cierre del padrón</a:t>
            </a:r>
            <a:endParaRPr lang="en-US" sz="1400" dirty="0"/>
          </a:p>
        </p:txBody>
      </p:sp>
      <p:sp>
        <p:nvSpPr>
          <p:cNvPr id="18" name="Etapa 4"/>
          <p:cNvSpPr/>
          <p:nvPr/>
        </p:nvSpPr>
        <p:spPr>
          <a:xfrm>
            <a:off x="8997696" y="1600200"/>
            <a:ext cx="2606040" cy="3429000"/>
          </a:xfrm>
          <a:prstGeom prst="roundRect">
            <a:avLst>
              <a:gd name="adj" fmla="val 280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26296" y="17830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226296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226296" y="2468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Movilizar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Feb – may 2028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9226296" y="32918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Delegado y suplente en las 84 mesas (168)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Transporte por zona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Plan del día de la elección</a:t>
            </a:r>
            <a:endParaRPr lang="en-US" sz="1400" dirty="0"/>
          </a:p>
        </p:txBody>
      </p:sp>
      <p:sp>
        <p:nvSpPr>
          <p:cNvPr id="23" name="Indicadores"/>
          <p:cNvSpPr/>
          <p:nvPr/>
        </p:nvSpPr>
        <p:spPr>
          <a:xfrm>
            <a:off x="548640" y="521208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212080"/>
            <a:ext cx="10698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Corte semanal: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comités validados · cédulas renovadas en la red · mesas con delegado · semáforo por zona. 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Alerta: menos de 80 comités en la semana 4 → reasignar recursos y replanificar.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365760"/>
            <a:ext cx="11091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Collado encabeza las preferencias internas del PRM (48.8 %, Markestrategia, oct. 2026). Esa ventaja solo cuenta si los electores pueden votar.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Allentown y Hazleton (25 mesas, 2 recintos) y Reading (18 % del padrón)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 de 18 recintos son iglesias y centros comunitarios: de ahí salen los responsables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5" name="Decision"/>
          <p:cNvSpPr/>
          <p:nvPr/>
        </p:nvSpPr>
        <p:spPr>
          <a:xfrm>
            <a:off x="6217920" y="4800600"/>
            <a:ext cx="542239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6446520" y="484632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Decisión que se pide hoy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Aprobar el plan, nombrar a los 8 coordinadores de zona e iniciar la Etapa 1 en noviembre.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4F75AE"/>
      </a:hlink>
      <a:folHlink>
        <a:srgbClr val="9AA7BD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Seccional Pennsylvania · Plan 2028</dc:title>
  <dc:subject>PptxGenJS Presentation</dc:subject>
  <dc:creator>Orlando Castillo</dc:creator>
  <cp:lastModifiedBy>Orlando Castillo</cp:lastModifiedBy>
  <cp:revision>1</cp:revision>
  <dcterms:created xsi:type="dcterms:W3CDTF">2026-10-21T02:11:30Z</dcterms:created>
  <dcterms:modified xsi:type="dcterms:W3CDTF">2026-10-21T02:11:30Z</dcterms:modified>
</cp:coreProperties>
</file>