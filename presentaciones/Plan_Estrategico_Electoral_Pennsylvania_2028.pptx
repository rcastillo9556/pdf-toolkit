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charts/chart1.xml" ContentType="application/vnd.openxmlformats-officedocument.drawingml.chart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charts/chart2.xml" ContentType="application/vnd.openxmlformats-officedocument.drawingml.chart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charts/chart3.xml" ContentType="application/vnd.openxmlformats-officedocument.drawingml.chart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</p:sldIdLst>
  <p:notesMasterIdLst>
    <p:notesMasterId r:id="rId11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521415D9-36F7-43E2-AB2F-B90AF26B5E84}">
      <p14:sectionLst xmlns:p14="http://schemas.microsoft.com/office/powerpoint/2010/main">
        <p14:section name="Diagnóstico" id="{8c9881e3-8d15-f8be-615e-5d2c47e75dab}">
          <p14:sldIdLst>
            <p14:sldId id="256"/>
            <p14:sldId id="257"/>
            <p14:sldId id="258"/>
          </p14:sldIdLst>
        </p14:section>
        <p14:section name="Meta" id="{0f4086a3-c126-e5d1-3298-3cd789b586ef}">
          <p14:sldIdLst>
            <p14:sldId id="259"/>
          </p14:sldIdLst>
        </p14:section>
        <p14:section name="Plan y recomendación" id="{a3da7307-9e51-1447-e27b-c948bc7ec71f}">
          <p14:sldIdLst>
            <p14:sldId id="260"/>
            <p14:sldId id="261"/>
            <p14:sldId id="262"/>
            <p14:sldId id="263"/>
          </p14:sldIdLst>
        </p14:section>
        <p14:section name="Ficha técnica" id="{2d532819-8081-8ea1-25e8-5e279d7101c9}">
          <p14:sldIdLst>
            <p14:sldId id="264"/>
          </p14:sldIdLst>
        </p14:section>
      </p14:sectionLst>
    </p:ex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notesMaster" Target="notesMasters/notesMaster1.xml"/><Relationship Id="rId12" Type="http://schemas.openxmlformats.org/officeDocument/2006/relationships/presProps" Target="presProps.xml"/><Relationship Id="rId13" Type="http://schemas.openxmlformats.org/officeDocument/2006/relationships/viewProps" Target="viewProps.xml"/><Relationship Id="rId14" Type="http://schemas.openxmlformats.org/officeDocument/2006/relationships/theme" Target="theme/theme1.xml"/><Relationship Id="rId15" Type="http://schemas.openxmlformats.org/officeDocument/2006/relationships/tableStyles" Target="tableStyles.xml"/></Relationships>
</file>

<file path=ppt/charts/_rels/chart1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1.xlsx"/></Relationships>
</file>

<file path=ppt/charts/_rels/chart2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2.xlsx"/></Relationships>
</file>

<file path=ppt/charts/_rels/chart3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3.xlsx"/></Relationships>
</file>

<file path=ppt/charts/chart1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doughnutChart>
        <c:varyColors val="1"/>
        <c:ser>
          <c:idx val="0"/>
          <c:order val="0"/>
          <c:tx>
            <c:strRef>
              <c:f>Sheet1!$B$1</c:f>
              <c:strCache>
                <c:ptCount val="1"/>
                <c:pt idx="0">
                  <c:v>2024</c:v>
                </c:pt>
              </c:strCache>
            </c:strRef>
          </c:tx>
          <c:spPr>
            <a:solidFill>
              <a:schemeClr val="accent1"/>
            </a:solidFill>
            <a:ln w="9525" cap="flat">
              <a:solidFill>
                <a:srgbClr val="F9F9F9"/>
              </a:solidFill>
              <a:prstDash val="solid"/>
              <a:round/>
            </a:ln>
            <a:effectLst/>
          </c:spPr>
          <c:dPt>
            <c:idx val="0"/>
            <c:bubble3D val="0"/>
            <c:spPr>
              <a:solidFill>
                <a:srgbClr val="DA1822"/>
              </a:solidFill>
              <a:ln w="9525" cap="flat">
                <a:solidFill>
                  <a:srgbClr val="002B63"/>
                </a:solidFill>
                <a:prstDash val="solid"/>
                <a:round/>
              </a:ln>
              <a:effectLst/>
            </c:spPr>
          </c:dPt>
          <c:dPt>
            <c:idx val="1"/>
            <c:bubble3D val="0"/>
            <c:spPr>
              <a:solidFill>
                <a:srgbClr val="4F75AE"/>
              </a:solidFill>
              <a:ln w="9525" cap="flat">
                <a:solidFill>
                  <a:srgbClr val="002B63"/>
                </a:solidFill>
                <a:prstDash val="solid"/>
                <a:round/>
              </a:ln>
              <a:effectLst/>
            </c:spPr>
          </c:dPt>
          <c:dLbls>
            <c:dLbl>
              <c:idx val="0"/>
              <c:numFmt formatCode="General" sourceLinked="0"/>
              <c:spPr/>
              <c:txPr>
                <a:bodyPr/>
                <a:lstStyle/>
                <a:p>
                  <a:pPr>
                    <a:defRPr sz="1200" b="0" i="0" u="none" strike="noStrike">
                      <a:solidFill>
                        <a:srgbClr val="000000"/>
                      </a:solidFill>
                      <a:latin typeface="Arial"/>
                    </a:defRPr>
                  </a:pPr>
                </a:p>
              </c:txPr>
              <c:showLegendKey val="0"/>
              <c:showVal val="0"/>
              <c:showCatName val="0"/>
              <c:showSerName val="0"/>
              <c:showPercent val="0"/>
              <c:showBubbleSize val="0"/>
            </c:dLbl>
            <c:dLbl>
              <c:idx val="1"/>
              <c:numFmt formatCode="General" sourceLinked="0"/>
              <c:spPr/>
              <c:txPr>
                <a:bodyPr/>
                <a:lstStyle/>
                <a:p>
                  <a:pPr>
                    <a:defRPr sz="1200" b="0" i="0" u="none" strike="noStrike">
                      <a:solidFill>
                        <a:srgbClr val="000000"/>
                      </a:solidFill>
                      <a:latin typeface="Arial"/>
                    </a:defRPr>
                  </a:pPr>
                </a:p>
              </c:txPr>
              <c:showLegendKey val="0"/>
              <c:showVal val="0"/>
              <c:showCatName val="0"/>
              <c:showSerName val="0"/>
              <c:showPercent val="0"/>
              <c:showBubbleSize val="0"/>
            </c:dLbl>
            <c:numFmt formatCode="General" sourceLinked="0"/>
            <c:txPr>
              <a:bodyPr/>
              <a:lstStyle/>
              <a:p>
                <a:pPr>
                  <a:defRPr sz="1800" b="0" i="0" u="none" strike="noStrik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1"/>
            <c:showSerName val="0"/>
            <c:showPercent val="1"/>
            <c:showBubbleSize val="0"/>
            <c:showLeaderLines val="0"/>
          </c:dLbls>
          <c:cat>
            <c:strRef>
              <c:f>Sheet1!$A$2:$A$3</c:f>
              <c:strCache>
                <c:ptCount val="2"/>
                <c:pt idx="0">
                  <c:v>Votaron</c:v>
                </c:pt>
                <c:pt idx="1">
                  <c:v>No votaron</c:v>
                </c:pt>
              </c:strCache>
            </c:strRef>
          </c:cat>
          <c:val>
            <c:numRef>
              <c:f>Sheet1!$B$2:$B$3</c:f>
              <c:numCache>
                <c:ptCount val="2"/>
                <c:pt idx="0">
                  <c:v>8939</c:v>
                </c:pt>
                <c:pt idx="1">
                  <c:v>38590</c:v>
                </c:pt>
              </c:numCache>
            </c:numRef>
          </c:val>
        </c:ser>
        <c:firstSliceAng val="0"/>
        <c:holeSize val="72"/>
      </c:doughnutChart>
      <c:spPr>
        <a:noFill/>
        <a:ln>
          <a:noFill/>
        </a:ln>
        <a:effectLst/>
      </c:spPr>
    </c:plotArea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charts/chart2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title>
      <c:tx>
        <c:rich>
          <a:bodyPr/>
          <a:lstStyle/>
          <a:p>
            <a:pPr>
              <a:defRPr sz="1400" b="0" i="0" u="none" strike="noStrike">
                <a:solidFill>
                  <a:srgbClr val="1B1F2A"/>
                </a:solidFill>
                <a:latin typeface="+mn-lt"/>
              </a:defRPr>
            </a:pPr>
            <a:r>
              <a:rPr sz="1400" b="0" i="0" u="none" strike="noStrike">
                <a:solidFill>
                  <a:srgbClr val="1B1F2A"/>
                </a:solidFill>
                <a:latin typeface="+mn-lt"/>
              </a:rPr>
              <a:t>Dominicanos en Pennsylvania (INDEX): +36,553 en 2025, el mayor aumento de EE. UU.</a:t>
            </a:r>
          </a:p>
        </c:rich>
      </c:tx>
      <c:layout/>
      <c:overlay val="0"/>
    </c:title>
    <c:autoTitleDeleted val="0"/>
    <c:plotArea>
      <c:layout/>
      <c:barChart>
        <c:barDir val="col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Dominicanos registrados en Pennsylvania</c:v>
                </c:pt>
              </c:strCache>
            </c:strRef>
          </c:tx>
          <c:spPr>
            <a:solidFill>
              <a:srgbClr val="9AA7BD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400" u="none">
                    <a:solidFill>
                      <a:srgbClr val="1B1F2A"/>
                    </a:solidFill>
                    <a:latin typeface="+mn-lt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dPt>
            <c:idx val="0"/>
            <c:invertIfNegative val="0"/>
            <c:bubble3D val="0"/>
            <c:spPr>
              <a:solidFill>
                <a:srgbClr val="9AA7BD"/>
              </a:solidFill>
              <a:effectLst/>
            </c:spPr>
          </c:dPt>
          <c:dPt>
            <c:idx val="1"/>
            <c:invertIfNegative val="0"/>
            <c:bubble3D val="0"/>
            <c:spPr>
              <a:solidFill>
                <a:srgbClr val="002B63"/>
              </a:solidFill>
              <a:effectLst/>
            </c:spPr>
          </c:dPt>
          <c:cat>
            <c:multiLvlStrRef>
              <c:f>Sheet1!$A$2:$A$3</c:f>
              <c:multiLvlStrCache>
                <c:ptCount val="2"/>
                <c:lvl>
                  <c:pt idx="0">
                    <c:v>INDEX, dic. 2022</c:v>
                  </c:pt>
                  <c:pt idx="1">
                    <c:v>INDEX, último informe</c:v>
                  </c:pt>
                </c:lvl>
              </c:multiLvlStrCache>
            </c:multiLvlStrRef>
          </c:cat>
          <c:val>
            <c:numRef>
              <c:f>Sheet1!$B$2:$B$3</c:f>
              <c:numCache>
                <c:formatCode>General</c:formatCode>
                <c:ptCount val="2"/>
                <c:pt idx="0">
                  <c:v>181156</c:v>
                </c:pt>
                <c:pt idx="1">
                  <c:v>227647</c:v>
                </c:pt>
              </c:numCache>
            </c:numRef>
          </c:val>
        </c:ser>
        <c:dLbls>
          <c:numFmt formatCode="#,##0" sourceLinked="0"/>
          <c:txPr>
            <a:bodyPr/>
            <a:lstStyle/>
            <a:p>
              <a:pPr>
                <a:defRPr b="0" i="0" strike="noStrike" sz="1400" u="none">
                  <a:solidFill>
                    <a:srgbClr val="1B1F2A"/>
                  </a:solidFill>
                  <a:latin typeface="+mn-lt"/>
                </a:defRPr>
              </a:pPr>
            </a:p>
          </c:txPr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60"/>
        <c:overlap val="0"/>
        <c:axId val="2094734554"/>
        <c:axId val="2094734552"/>
        <c:axId val="2094734556"/>
      </c:bar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300" b="0" i="0" u="none" strike="noStrike">
                <a:solidFill>
                  <a:srgbClr val="1B1F2A"/>
                </a:solidFill>
                <a:latin typeface="+mn-lt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  <c:min val="0"/>
        </c:scaling>
        <c:delete val="1"/>
        <c:axPos val="l"/>
        <c:numFmt formatCode="General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000000"/>
                </a:solidFill>
                <a:latin typeface="Arial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charts/chart3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title>
      <c:tx>
        <c:rich>
          <a:bodyPr/>
          <a:lstStyle/>
          <a:p>
            <a:pPr>
              <a:defRPr sz="1300" b="0" i="0" u="none" strike="noStrike">
                <a:solidFill>
                  <a:srgbClr val="1B1F2A"/>
                </a:solidFill>
                <a:latin typeface="+mn-lt"/>
              </a:defRPr>
            </a:pPr>
            <a:r>
              <a:rPr sz="1300" b="0" i="0" u="none" strike="noStrike">
                <a:solidFill>
                  <a:srgbClr val="1B1F2A"/>
                </a:solidFill>
                <a:latin typeface="+mn-lt"/>
              </a:rPr>
              <a:t>Votos para David Collado por escenario (63 % de apoyo, como el PRM y aliados en 2024)</a:t>
            </a:r>
          </a:p>
        </c:rich>
      </c:tx>
      <c:layout/>
      <c:overlay val="0"/>
    </c:title>
    <c:autoTitleDeleted val="0"/>
    <c:plotArea>
      <c:layout/>
      <c:barChart>
        <c:barDir val="col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Votos</c:v>
                </c:pt>
              </c:strCache>
            </c:strRef>
          </c:tx>
          <c:spPr>
            <a:solidFill>
              <a:srgbClr val="9AA7BD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400" u="none">
                    <a:solidFill>
                      <a:srgbClr val="1B1F2A"/>
                    </a:solidFill>
                    <a:latin typeface="+mn-lt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dPt>
            <c:idx val="0"/>
            <c:invertIfNegative val="0"/>
            <c:bubble3D val="0"/>
            <c:spPr>
              <a:solidFill>
                <a:srgbClr val="9AA7BD"/>
              </a:solidFill>
              <a:effectLst/>
            </c:spPr>
          </c:dPt>
          <c:dPt>
            <c:idx val="1"/>
            <c:invertIfNegative val="0"/>
            <c:bubble3D val="0"/>
            <c:spPr>
              <a:solidFill>
                <a:srgbClr val="E9A23B"/>
              </a:solidFill>
              <a:effectLst/>
            </c:spPr>
          </c:dPt>
          <c:dPt>
            <c:idx val="2"/>
            <c:invertIfNegative val="0"/>
            <c:bubble3D val="0"/>
            <c:spPr>
              <a:solidFill>
                <a:srgbClr val="DA1822"/>
              </a:solidFill>
              <a:effectLst/>
            </c:spPr>
          </c:dPt>
          <c:dPt>
            <c:idx val="3"/>
            <c:invertIfNegative val="0"/>
            <c:bubble3D val="0"/>
            <c:spPr>
              <a:solidFill>
                <a:srgbClr val="4F75AE"/>
              </a:solidFill>
              <a:effectLst/>
            </c:spPr>
          </c:dPt>
          <c:dPt>
            <c:idx val="4"/>
            <c:invertIfNegative val="0"/>
            <c:bubble3D val="0"/>
            <c:spPr>
              <a:solidFill>
                <a:srgbClr val="002B63"/>
              </a:solidFill>
              <a:effectLst/>
            </c:spPr>
          </c:dPt>
          <c:dPt>
            <c:idx val="5"/>
            <c:invertIfNegative val="0"/>
            <c:bubble3D val="0"/>
            <c:spPr>
              <a:solidFill>
                <a:srgbClr val="002B63"/>
              </a:solidFill>
              <a:effectLst/>
            </c:spPr>
          </c:dPt>
          <c:cat>
            <c:multiLvlStrRef>
              <c:f>Sheet1!$A$2:$A$7</c:f>
              <c:multiLvlStrCache>
                <c:ptCount val="6"/>
                <c:lvl>
                  <c:pt idx="0">
                    <c:v>PRM y aliados 2024</c:v>
                  </c:pt>
                  <c:pt idx="1">
                    <c:v>Meta 2028 (+10 %)</c:v>
                  </c:pt>
                  <c:pt idx="2">
                    <c:v>Adverso</c:v>
                  </c:pt>
                  <c:pt idx="3">
                    <c:v>Inercial</c:v>
                  </c:pt>
                  <c:pt idx="4">
                    <c:v>Realista</c:v>
                  </c:pt>
                  <c:pt idx="5">
                    <c:v>Favorable</c:v>
                  </c:pt>
                </c:lvl>
              </c:multiLvlStrCache>
            </c:multiLvlStrRef>
          </c:cat>
          <c:val>
            <c:numRef>
              <c:f>Sheet1!$B$2:$B$7</c:f>
              <c:numCache>
                <c:formatCode>General</c:formatCode>
                <c:ptCount val="6"/>
                <c:pt idx="0">
                  <c:v>5581</c:v>
                </c:pt>
                <c:pt idx="1">
                  <c:v>6139</c:v>
                </c:pt>
                <c:pt idx="2">
                  <c:v>3564</c:v>
                </c:pt>
                <c:pt idx="3">
                  <c:v>5465</c:v>
                </c:pt>
                <c:pt idx="4">
                  <c:v>6534</c:v>
                </c:pt>
                <c:pt idx="5">
                  <c:v>7217</c:v>
                </c:pt>
              </c:numCache>
            </c:numRef>
          </c:val>
        </c:ser>
        <c:dLbls>
          <c:numFmt formatCode="#,##0" sourceLinked="0"/>
          <c:txPr>
            <a:bodyPr/>
            <a:lstStyle/>
            <a:p>
              <a:pPr>
                <a:defRPr b="0" i="0" strike="noStrike" sz="1400" u="none">
                  <a:solidFill>
                    <a:srgbClr val="1B1F2A"/>
                  </a:solidFill>
                  <a:latin typeface="+mn-lt"/>
                </a:defRPr>
              </a:pPr>
            </a:p>
          </c:txPr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45"/>
        <c:overlap val="0"/>
        <c:axId val="2094734554"/>
        <c:axId val="2094734552"/>
        <c:axId val="2094734556"/>
      </c:bar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1B1F2A"/>
                </a:solidFill>
                <a:latin typeface="+mn-lt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  <c:min val="0"/>
        </c:scaling>
        <c:delete val="1"/>
        <c:axPos val="l"/>
        <c:numFmt formatCode="General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000000"/>
                </a:solidFill>
                <a:latin typeface="Arial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La OCLEE Philadelphia es en realidad la Seccional Pennsylvania: incluye 12 ciudades de Pennsylvania y Wilmington (Delaware). 47,529 electores en 84 mesas (padrón de la seccional; la JCE divulgó 47,604 en el corte preliminar). Votos 2024, dato oficial JCE a nivel presidencial: 8,939 emitidos (8,810 válidos y 129 nulos). Participación: 18.8 %; no votaron 38,590. Es la 4.ª seccional más grande de la Circunscripción I, después de Nueva York, Nueva Jersey y Boston; según el INDEX, Pennsylvania tuvo en 2025 el mayor aumento de dominicanos de EE. UU. (+36,553).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Crecimiento: el Registro Sociodemográfico del INDEX contaba 181,156 dominicanos en Pennsylvania al 31 de diciembre de 2022; el último informe del INDEX (5.ª edición, julio de 2026) reporta 227,647: +36,553 frente a 191,094 en 2024 (+19.1 %), el mayor aumento absoluto de todos los estados; Massachusetts fue segundo (+30,846) y Texas tuvo el mayor aumento porcentual (+28.3 %). Pennsylvania es el 4.º estado con más dominicanos, después de Nueva York, Nueva Jersey y Florida. El Consulado en Filadelfia atiende a más de 191 mil y afirma que llega un dominicano más cada día, muchos desde Nueva York. Hazleton ya tiene cerca de 43 % de población dominicana (Censo). Implicación: quien se mudó desde NY/NJ sigue empadronado en su OCLEE anterior; hay que trasladar su registro a Pennsylvania antes del cierre del padrón (enero de 2028), idealmente en la misma cita de la nueva cédula; confirmar el procedimiento con la JCE. Potencial: 47,529 inscritos son el 21 % de los 227,647 dominicanos que registra el INDEX en el estado (la cifra del INDEX incluye a menores de edad y a personas sin cédula, por lo que no todos pueden votar, pero muestra el tamaño del potencial). Escenarios de padrón: proyección propia (+5 %, +12 %, +26 %; el alto replica el crecimiento de la población).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Mapa del este de Pennsylvania con las 13 ciudades de la seccional (12 en Pennsylvania y Wilmington, Delaware). El recuadro muestra la ubicación dentro del estado. Zonas: 1 Philadelphia Noreste, 2 Philadelphia Kensington, 3 Berks (Reading), 4 Lehigh Valley (Allentown), 5 Hazleton, 6 Wilkes-Barre y Scranton, 7 Harrisburg, Lancaster, York y Lebanon, 8 Delaware (Wilmington). Philadelphia, Reading y Allentown (zonas 1 a 4) suman 32,788 electores, el 69 % del padrón. Líderes: red de 400 líderes de 10 personas, repartida según los electores.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Dato oficial JCE 2024 (nivel presidencial, OCLEE Philadelphia, colegios 1253 a 1336): 8,939 votos emitidos, 8,810 válidos, 129 nulos. PRM y aliados 5,581 (63.35 % de los válidos; PRM solo 4,996), Fuerza del Pueblo y aliados 1,852 (21.02 %), PED 687 (7.80 %), PLD 540 (6.13 %). En la seccional el PRM y aliados sacaron 5.9 puntos más que su resultado nacional (57.44 %). Meta 2028: +10 % = 6,139 votos (≈6,140); techo +20 % = 6,697 (≈6,700). Escenarios con 63.4 % de apoyo sobre los votos válidos (98.6 % de los emitidos): Adverso, 60 % renueva la cédula y vota el 20 % de los habilitados (5,703 votos totales → 3,564); Inercial, 80 % y 23 % (8,745 → 5,465, por debajo de 2024); Realista, participación del 22 % sobre el padrón (10,456 → 6,534, +17 %); Favorable, 90 % y 27 % (11,550 → 7,217, +29 %). Desgaste (tercer período del PRM sin Abinader en la boleta y malestar social en las encuestas): con 58 % de apoyo la meta exige 10,740 votos totales (22.6 % de participación; 20.2 % si el padrón crece 12 %); con 53 %, 11,753 (24.7 %; 22.1 %). Red: 4,000 personas × 85 % = 3,400 votos, el 55 % de la meta.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Organigrama operativo propuesto. La dirección ejecutiva coordina con la Seccional PRM Pennsylvania y conduce 5 áreas de apoyo: Asuntos Electorales (cédula, padrón, renovación y traslado de recién llegados), Tecnología y Datos (base de datos, registros únicos y tablero), Comunicaciones (agenda de la diáspora), Logística y Movilización (transporte, delegados y día de la elección) y Finanzas y Legal (recursos y cumplimiento de las leyes 20-23 y 33-18). Cada una de las 8 zonas tiene un coordinador; los números son los líderes (de 10 personas cada uno) que necesita cada zona.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Plan de arranque de 30 días con entregables verificables. Ritmo de la meta: 400 líderes en unas 13 semanas, unos 31 por semana; si en la semana 4 hay menos de 90 líderes, se reasignan recursos y se replanifica. Después siguen las 4 etapas hasta mayo de 2028. La fecha legal de primarias es el 3 de octubre de 2027.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Encuestas internas PRM: Markestrategia (2–4 oct. 2026) 48.8 %; RD Elige (sept. 2026) 66.5 % entre simpatizantes. Collado ha dicho que aún no inicia recorridos como aspirante. Respetar los plazos de precampaña y campaña (Ley 20-23 de Régimen Electoral y Ley 33-18 de Partidos), no usar recursos públicos y obtener consentimiento expreso para los datos personales.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Esta es la diapositiva para quien solo lea una. Problema: participación de 18.8 % (8,939 de 47,529, dato oficial JCE) y riesgo de la nueva cédula. Plan: 8 zonas, 400 líderes con 10 personas cada uno (4,000 personas). Meta: 6,140 votos para David Collado, un 10 % más que los 5,581 votos del PRM y aliados en 2024 (63.4 % de los válidos). Próximo paso: nombrar coordinadores e iniciar en noviembre.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Ficha técnica del documento: fuentes de cada dato, método de cálculo y supuestos. Todos los resultados de 2024 son oficiales de la JCE; los escenarios y la meta son proyecciones propias.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OSCURA">
    <p:bg>
      <p:bgPr>
        <a:solidFill>
          <a:schemeClr val="tx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640080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chemeClr val="accent4"/>
                </a:solidFill>
              </a:rPr>
              <a:t>Plan Estratégico Electoral Pennsylvania 2028</a:t>
            </a:r>
            <a:endParaRPr lang="en-US" sz="10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55680" y="640080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accent4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1002</a:t>
            </a:fld>
            <a:endParaRPr lang="en-US"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CONTENIDO">
    <p:bg>
      <p:bgPr>
        <a:solidFill>
          <a:schemeClr val="bg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640080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chemeClr val="accent4"/>
                </a:solidFill>
              </a:rPr>
              <a:t>Plan Estratégico Electoral Pennsylvania 2028</a:t>
            </a:r>
            <a:endParaRPr lang="en-US" sz="1000" dirty="0"/>
          </a:p>
        </p:txBody>
      </p:sp>
      <p:sp>
        <p:nvSpPr>
          <p:cNvPr id="3" name="Text 1"/>
          <p:cNvSpPr/>
          <p:nvPr>
            <p:ph idx="101" type="title" hasCustomPrompt="1"/>
          </p:nvPr>
        </p:nvSpPr>
        <p:spPr>
          <a:xfrm>
            <a:off x="548640" y="502920"/>
            <a:ext cx="11091672" cy="100584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2800" b="1" dirty="0">
                <a:solidFill>
                  <a:schemeClr val="tx2"/>
                </a:solidFill>
              </a:defRPr>
            </a:lvl1pPr>
          </a:lstStyle>
          <a:p>
            <a:pPr algn="l" indent="0" marL="0">
              <a:buNone/>
            </a:pPr>
            <a:endParaRPr lang="en-US" sz="28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55680" y="640080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accent4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1003</a:t>
            </a:fld>
            <a:endParaRPr lang="en-US"/>
          </a:p>
        </p:txBody>
      </p:sp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55680" y="640080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accent4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null</a:t>
            </a:fld>
            <a:endParaRPr lang="en-US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3" Type="http://schemas.openxmlformats.org/officeDocument/2006/relationships/slide" Target="slide4.xml"/><Relationship Id="rId4" Type="http://schemas.openxmlformats.org/officeDocument/2006/relationships/slide" Target="slide5.xml"/><Relationship Id="rId5" Type="http://schemas.openxmlformats.org/officeDocument/2006/relationships/slide" Target="slide9.xml"/><Relationship Id="rId2" Type="http://schemas.openxmlformats.org/officeDocument/2006/relationships/chart" Target="/ppt/charts/chart1.xml"/><Relationship Id="rId1" Type="http://schemas.openxmlformats.org/officeDocument/2006/relationships/image" Target="../media/image-1-1.png"/><Relationship Id="rId6" Type="http://schemas.openxmlformats.org/officeDocument/2006/relationships/slideLayout" Target="../slideLayouts/slideLayout2.xml"/><Relationship Id="rId7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2" Type="http://schemas.openxmlformats.org/officeDocument/2006/relationships/slide" Target="slide4.xml"/><Relationship Id="rId3" Type="http://schemas.openxmlformats.org/officeDocument/2006/relationships/slide" Target="slide5.xml"/><Relationship Id="rId4" Type="http://schemas.openxmlformats.org/officeDocument/2006/relationships/slide" Target="slide9.xml"/><Relationship Id="rId1" Type="http://schemas.openxmlformats.org/officeDocument/2006/relationships/chart" Target="/ppt/charts/chart2.xml"/><Relationship Id="rId5" Type="http://schemas.openxmlformats.org/officeDocument/2006/relationships/slideLayout" Target="../slideLayouts/slideLayout3.xml"/><Relationship Id="rId6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2" Type="http://schemas.openxmlformats.org/officeDocument/2006/relationships/slide" Target="slide4.xml"/><Relationship Id="rId3" Type="http://schemas.openxmlformats.org/officeDocument/2006/relationships/slide" Target="slide5.xml"/><Relationship Id="rId4" Type="http://schemas.openxmlformats.org/officeDocument/2006/relationships/slide" Target="slide9.xml"/><Relationship Id="rId1" Type="http://schemas.openxmlformats.org/officeDocument/2006/relationships/image" Target="../media/image-3-1.png"/><Relationship Id="rId5" Type="http://schemas.openxmlformats.org/officeDocument/2006/relationships/slideLayout" Target="../slideLayouts/slideLayout3.xml"/><Relationship Id="rId6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2" Type="http://schemas.openxmlformats.org/officeDocument/2006/relationships/slide" Target="slide1.xml"/><Relationship Id="rId3" Type="http://schemas.openxmlformats.org/officeDocument/2006/relationships/slide" Target="slide5.xml"/><Relationship Id="rId4" Type="http://schemas.openxmlformats.org/officeDocument/2006/relationships/slide" Target="slide9.xml"/><Relationship Id="rId1" Type="http://schemas.openxmlformats.org/officeDocument/2006/relationships/chart" Target="/ppt/charts/chart3.xml"/><Relationship Id="rId5" Type="http://schemas.openxmlformats.org/officeDocument/2006/relationships/slideLayout" Target="../slideLayouts/slideLayout3.xml"/><Relationship Id="rId6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" Target="slide1.xml"/><Relationship Id="rId2" Type="http://schemas.openxmlformats.org/officeDocument/2006/relationships/slide" Target="slide4.xml"/><Relationship Id="rId3" Type="http://schemas.openxmlformats.org/officeDocument/2006/relationships/slide" Target="slide9.xml"/><Relationship Id="rId4" Type="http://schemas.openxmlformats.org/officeDocument/2006/relationships/slideLayout" Target="../slideLayouts/slideLayout3.xml"/><Relationship Id="rId5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" Target="slide1.xml"/><Relationship Id="rId2" Type="http://schemas.openxmlformats.org/officeDocument/2006/relationships/slide" Target="slide4.xml"/><Relationship Id="rId3" Type="http://schemas.openxmlformats.org/officeDocument/2006/relationships/slide" Target="slide9.xml"/><Relationship Id="rId4" Type="http://schemas.openxmlformats.org/officeDocument/2006/relationships/slideLayout" Target="../slideLayouts/slideLayout3.xml"/><Relationship Id="rId5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8" Type="http://schemas.openxmlformats.org/officeDocument/2006/relationships/slide" Target="slide1.xml"/><Relationship Id="rId9" Type="http://schemas.openxmlformats.org/officeDocument/2006/relationships/slide" Target="slide4.xml"/><Relationship Id="rId10" Type="http://schemas.openxmlformats.org/officeDocument/2006/relationships/slide" Target="slide9.xml"/><Relationship Id="rId1" Type="http://schemas.openxmlformats.org/officeDocument/2006/relationships/image" Target="../media/image-7-1.png"/><Relationship Id="rId2" Type="http://schemas.openxmlformats.org/officeDocument/2006/relationships/image" Target="../media/image-7-2.png"/><Relationship Id="rId3" Type="http://schemas.openxmlformats.org/officeDocument/2006/relationships/image" Target="../media/image-7-3.png"/><Relationship Id="rId4" Type="http://schemas.openxmlformats.org/officeDocument/2006/relationships/image" Target="../media/image-7-4.png"/><Relationship Id="rId5" Type="http://schemas.openxmlformats.org/officeDocument/2006/relationships/image" Target="../media/image-7-5.png"/><Relationship Id="rId6" Type="http://schemas.openxmlformats.org/officeDocument/2006/relationships/image" Target="../media/image-7-6.png"/><Relationship Id="rId7" Type="http://schemas.openxmlformats.org/officeDocument/2006/relationships/image" Target="../media/image-7-7.png"/><Relationship Id="rId11" Type="http://schemas.openxmlformats.org/officeDocument/2006/relationships/slideLayout" Target="../slideLayouts/slideLayout2.xml"/><Relationship Id="rId1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" Target="slide1.xml"/><Relationship Id="rId2" Type="http://schemas.openxmlformats.org/officeDocument/2006/relationships/slide" Target="slide4.xml"/><Relationship Id="rId3" Type="http://schemas.openxmlformats.org/officeDocument/2006/relationships/slide" Target="slide9.xml"/><Relationship Id="rId4" Type="http://schemas.openxmlformats.org/officeDocument/2006/relationships/slideLayout" Target="../slideLayouts/slideLayout3.xml"/><Relationship Id="rId5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" Target="slide1.xml"/><Relationship Id="rId2" Type="http://schemas.openxmlformats.org/officeDocument/2006/relationships/slide" Target="slide4.xml"/><Relationship Id="rId3" Type="http://schemas.openxmlformats.org/officeDocument/2006/relationships/slide" Target="slide5.xml"/><Relationship Id="rId4" Type="http://schemas.openxmlformats.org/officeDocument/2006/relationships/slideLayout" Target="../slideLayouts/slideLayout3.xml"/><Relationship Id="rId5" Type="http://schemas.openxmlformats.org/officeDocument/2006/relationships/notesSlide" Target="../notesSlides/notesSlide9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Autor"/>
          <p:cNvSpPr txBox="1"/>
          <p:nvPr/>
        </p:nvSpPr>
        <p:spPr>
          <a:xfrm>
            <a:off x="1691640" y="749808"/>
            <a:ext cx="608076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chemeClr val="bg1"/>
                </a:solidFill>
              </a:rPr>
              <a:t>Plan Estratégico Electoral Pennsylvania 2028</a:t>
            </a:r>
            <a:endParaRPr lang="en-US" sz="2400" dirty="0"/>
          </a:p>
        </p:txBody>
      </p:sp>
      <p:sp>
        <p:nvSpPr>
          <p:cNvPr id="3" name="Marco foto"/>
          <p:cNvSpPr/>
          <p:nvPr/>
        </p:nvSpPr>
        <p:spPr>
          <a:xfrm>
            <a:off x="521208" y="630936"/>
            <a:ext cx="1060704" cy="1060704"/>
          </a:xfrm>
          <a:prstGeom prst="ellipse">
            <a:avLst/>
          </a:prstGeom>
          <a:solidFill>
            <a:schemeClr val="bg1"/>
          </a:solidFill>
          <a:ln w="12700">
            <a:solidFill>
              <a:schemeClr val="bg1"/>
            </a:solidFill>
            <a:prstDash val="solid"/>
          </a:ln>
        </p:spPr>
      </p:sp>
      <p:pic>
        <p:nvPicPr>
          <p:cNvPr id="4" name="Foto Orlando Castillo" descr="Orlando Castillo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48640" y="658368"/>
            <a:ext cx="1005840" cy="1005840"/>
          </a:xfrm>
          <a:prstGeom prst="rect">
            <a:avLst/>
          </a:prstGeom>
        </p:spPr>
      </p:pic>
      <p:sp>
        <p:nvSpPr>
          <p:cNvPr id="5" name="Etiqueta propuesta"/>
          <p:cNvSpPr/>
          <p:nvPr/>
        </p:nvSpPr>
        <p:spPr>
          <a:xfrm>
            <a:off x="548640" y="1810512"/>
            <a:ext cx="5943600" cy="457200"/>
          </a:xfrm>
          <a:prstGeom prst="roundRect">
            <a:avLst>
              <a:gd name="adj" fmla="val 50000"/>
            </a:avLst>
          </a:prstGeom>
          <a:solidFill>
            <a:schemeClr val="accent2"/>
          </a:solidFill>
          <a:ln w="12700">
            <a:solidFill>
              <a:schemeClr val="accent2"/>
            </a:solidFill>
            <a:prstDash val="solid"/>
          </a:ln>
        </p:spPr>
      </p:sp>
      <p:sp>
        <p:nvSpPr>
          <p:cNvPr id="6" name="Text 3"/>
          <p:cNvSpPr txBox="1"/>
          <p:nvPr/>
        </p:nvSpPr>
        <p:spPr>
          <a:xfrm>
            <a:off x="548640" y="1810512"/>
            <a:ext cx="59436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spc="100" kern="0" dirty="0">
                <a:solidFill>
                  <a:schemeClr val="bg1"/>
                </a:solidFill>
              </a:rPr>
              <a:t>PROPUESTA PARA EL CAD</a:t>
            </a:r>
            <a:pPr algn="ctr" indent="0" marL="0">
              <a:buNone/>
            </a:pPr>
            <a:r>
              <a:rPr lang="en-US" sz="1600" spc="100" kern="0" dirty="0">
                <a:solidFill>
                  <a:srgbClr val="FFD9DB"/>
                </a:solidFill>
              </a:rPr>
              <a:t>  ·  SECCIONAL PENNSYLVANIA</a:t>
            </a:r>
            <a:endParaRPr lang="en-US" sz="1600" dirty="0"/>
          </a:p>
        </p:txBody>
      </p:sp>
      <p:sp>
        <p:nvSpPr>
          <p:cNvPr id="7" name="Titulo"/>
          <p:cNvSpPr txBox="1"/>
          <p:nvPr/>
        </p:nvSpPr>
        <p:spPr>
          <a:xfrm>
            <a:off x="548640" y="2468880"/>
            <a:ext cx="722376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800" b="1" dirty="0">
                <a:solidFill>
                  <a:schemeClr val="bg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47,529 electores, solo 8,939 votaron: 8 de cada 10 se quedaron en casa</a:t>
            </a:r>
            <a:endParaRPr lang="en-US" sz="3800" dirty="0"/>
          </a:p>
        </p:txBody>
      </p:sp>
      <p:graphicFrame>
        <p:nvGraphicFramePr>
          <p:cNvPr id="8" name="Participacion" descr=""/>
          <p:cNvGraphicFramePr/>
          <p:nvPr/>
        </p:nvGraphicFramePr>
        <p:xfrm>
          <a:off x="8092440" y="822960"/>
          <a:ext cx="3566160" cy="356616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2"/>
          </a:graphicData>
        </a:graphic>
      </p:graphicFrame>
      <p:sp>
        <p:nvSpPr>
          <p:cNvPr id="9" name="Text 5"/>
          <p:cNvSpPr txBox="1"/>
          <p:nvPr/>
        </p:nvSpPr>
        <p:spPr>
          <a:xfrm>
            <a:off x="8732520" y="2057400"/>
            <a:ext cx="228600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4000" b="1" dirty="0">
                <a:solidFill>
                  <a:schemeClr val="bg1"/>
                </a:solidFill>
              </a:rPr>
              <a:t>18.8 %</a:t>
            </a:r>
            <a:endParaRPr lang="en-US" sz="4000" dirty="0"/>
          </a:p>
          <a:p>
            <a:pPr algn="ctr" indent="0" marL="0">
              <a:buNone/>
            </a:pPr>
            <a:r>
              <a:rPr lang="en-US" sz="1400" dirty="0">
                <a:solidFill>
                  <a:schemeClr val="accent4"/>
                </a:solidFill>
              </a:rPr>
              <a:t>participación 2024</a:t>
            </a:r>
            <a:endParaRPr lang="en-US" sz="4000" dirty="0"/>
          </a:p>
        </p:txBody>
      </p:sp>
      <p:sp>
        <p:nvSpPr>
          <p:cNvPr id="10" name="Dato 1"/>
          <p:cNvSpPr/>
          <p:nvPr/>
        </p:nvSpPr>
        <p:spPr>
          <a:xfrm>
            <a:off x="548640" y="4709160"/>
            <a:ext cx="2606040" cy="1097280"/>
          </a:xfrm>
          <a:prstGeom prst="roundRect">
            <a:avLst>
              <a:gd name="adj" fmla="val 6667"/>
            </a:avLst>
          </a:prstGeom>
          <a:solidFill>
            <a:schemeClr val="bg1">
              <a:alpha val="10000"/>
            </a:schemeClr>
          </a:solidFill>
          <a:ln w="12700">
            <a:solidFill>
              <a:schemeClr val="bg1">
                <a:alpha val="20000"/>
              </a:schemeClr>
            </a:solidFill>
            <a:prstDash val="solid"/>
          </a:ln>
        </p:spPr>
      </p:sp>
      <p:sp>
        <p:nvSpPr>
          <p:cNvPr id="11" name="Text 7"/>
          <p:cNvSpPr txBox="1"/>
          <p:nvPr/>
        </p:nvSpPr>
        <p:spPr>
          <a:xfrm>
            <a:off x="777240" y="4754880"/>
            <a:ext cx="219456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chemeClr val="bg1"/>
                </a:solidFill>
              </a:rPr>
              <a:t>84 de 84</a:t>
            </a:r>
            <a:endParaRPr lang="en-US" sz="3000" dirty="0"/>
          </a:p>
          <a:p>
            <a:pPr indent="0" marL="0">
              <a:buNone/>
            </a:pPr>
            <a:r>
              <a:rPr lang="en-US" sz="1400" dirty="0">
                <a:solidFill>
                  <a:schemeClr val="accent4"/>
                </a:solidFill>
              </a:rPr>
              <a:t>colegios ganados por el PRM y aliados en 2024</a:t>
            </a:r>
            <a:endParaRPr lang="en-US" sz="3000" dirty="0"/>
          </a:p>
        </p:txBody>
      </p:sp>
      <p:sp>
        <p:nvSpPr>
          <p:cNvPr id="12" name="Dato 2"/>
          <p:cNvSpPr/>
          <p:nvPr/>
        </p:nvSpPr>
        <p:spPr>
          <a:xfrm>
            <a:off x="3364992" y="4709160"/>
            <a:ext cx="2606040" cy="1097280"/>
          </a:xfrm>
          <a:prstGeom prst="roundRect">
            <a:avLst>
              <a:gd name="adj" fmla="val 6667"/>
            </a:avLst>
          </a:prstGeom>
          <a:solidFill>
            <a:schemeClr val="bg1">
              <a:alpha val="10000"/>
            </a:schemeClr>
          </a:solidFill>
          <a:ln w="12700">
            <a:solidFill>
              <a:schemeClr val="bg1">
                <a:alpha val="20000"/>
              </a:schemeClr>
            </a:solidFill>
            <a:prstDash val="solid"/>
          </a:ln>
        </p:spPr>
      </p:sp>
      <p:sp>
        <p:nvSpPr>
          <p:cNvPr id="13" name="Text 9"/>
          <p:cNvSpPr txBox="1"/>
          <p:nvPr/>
        </p:nvSpPr>
        <p:spPr>
          <a:xfrm>
            <a:off x="3593592" y="4754880"/>
            <a:ext cx="219456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chemeClr val="bg1"/>
                </a:solidFill>
              </a:rPr>
              <a:t>4.ª</a:t>
            </a:r>
            <a:endParaRPr lang="en-US" sz="3000" dirty="0"/>
          </a:p>
          <a:p>
            <a:pPr indent="0" marL="0">
              <a:buNone/>
            </a:pPr>
            <a:r>
              <a:rPr lang="en-US" sz="1400" dirty="0">
                <a:solidFill>
                  <a:schemeClr val="accent4"/>
                </a:solidFill>
              </a:rPr>
              <a:t>seccional más grande de la Circunscripción I</a:t>
            </a:r>
            <a:endParaRPr lang="en-US" sz="3000" dirty="0"/>
          </a:p>
        </p:txBody>
      </p:sp>
      <p:sp>
        <p:nvSpPr>
          <p:cNvPr id="14" name="Dato 3"/>
          <p:cNvSpPr/>
          <p:nvPr/>
        </p:nvSpPr>
        <p:spPr>
          <a:xfrm>
            <a:off x="6181344" y="4709160"/>
            <a:ext cx="2606040" cy="1097280"/>
          </a:xfrm>
          <a:prstGeom prst="roundRect">
            <a:avLst>
              <a:gd name="adj" fmla="val 6667"/>
            </a:avLst>
          </a:prstGeom>
          <a:solidFill>
            <a:schemeClr val="bg1">
              <a:alpha val="10000"/>
            </a:schemeClr>
          </a:solidFill>
          <a:ln w="12700">
            <a:solidFill>
              <a:schemeClr val="bg1">
                <a:alpha val="20000"/>
              </a:schemeClr>
            </a:solidFill>
            <a:prstDash val="solid"/>
          </a:ln>
        </p:spPr>
      </p:sp>
      <p:sp>
        <p:nvSpPr>
          <p:cNvPr id="15" name="Text 11"/>
          <p:cNvSpPr txBox="1"/>
          <p:nvPr/>
        </p:nvSpPr>
        <p:spPr>
          <a:xfrm>
            <a:off x="6409944" y="4754880"/>
            <a:ext cx="219456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chemeClr val="bg1"/>
                </a:solidFill>
              </a:rPr>
              <a:t>N.º 1</a:t>
            </a:r>
            <a:endParaRPr lang="en-US" sz="3000" dirty="0"/>
          </a:p>
          <a:p>
            <a:pPr indent="0" marL="0">
              <a:buNone/>
            </a:pPr>
            <a:r>
              <a:rPr lang="en-US" sz="1400" dirty="0">
                <a:solidFill>
                  <a:schemeClr val="accent4"/>
                </a:solidFill>
              </a:rPr>
              <a:t>en aumento de dominicanos en EE. UU. (2025)</a:t>
            </a:r>
            <a:endParaRPr lang="en-US" sz="3000" dirty="0"/>
          </a:p>
        </p:txBody>
      </p:sp>
      <p:sp>
        <p:nvSpPr>
          <p:cNvPr id="16" name="Dato 4"/>
          <p:cNvSpPr/>
          <p:nvPr/>
        </p:nvSpPr>
        <p:spPr>
          <a:xfrm>
            <a:off x="8997696" y="4709160"/>
            <a:ext cx="2606040" cy="1097280"/>
          </a:xfrm>
          <a:prstGeom prst="roundRect">
            <a:avLst>
              <a:gd name="adj" fmla="val 6667"/>
            </a:avLst>
          </a:prstGeom>
          <a:solidFill>
            <a:schemeClr val="bg1">
              <a:alpha val="10000"/>
            </a:schemeClr>
          </a:solidFill>
          <a:ln w="12700">
            <a:solidFill>
              <a:schemeClr val="bg1">
                <a:alpha val="20000"/>
              </a:schemeClr>
            </a:solidFill>
            <a:prstDash val="solid"/>
          </a:ln>
        </p:spPr>
      </p:sp>
      <p:sp>
        <p:nvSpPr>
          <p:cNvPr id="17" name="Text 13"/>
          <p:cNvSpPr txBox="1"/>
          <p:nvPr/>
        </p:nvSpPr>
        <p:spPr>
          <a:xfrm>
            <a:off x="9226296" y="4754880"/>
            <a:ext cx="219456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chemeClr val="accent2"/>
                </a:solidFill>
              </a:rPr>
              <a:t>38,590</a:t>
            </a:r>
            <a:endParaRPr lang="en-US" sz="3000" dirty="0"/>
          </a:p>
          <a:p>
            <a:pPr indent="0" marL="0">
              <a:buNone/>
            </a:pPr>
            <a:r>
              <a:rPr lang="en-US" sz="1400" dirty="0">
                <a:solidFill>
                  <a:schemeClr val="accent4"/>
                </a:solidFill>
              </a:rPr>
              <a:t>inscritos no votaron</a:t>
            </a:r>
            <a:endParaRPr lang="en-US" sz="3000" dirty="0"/>
          </a:p>
        </p:txBody>
      </p:sp>
      <p:sp>
        <p:nvSpPr>
          <p:cNvPr id="18" name="Text 14"/>
          <p:cNvSpPr txBox="1"/>
          <p:nvPr/>
        </p:nvSpPr>
        <p:spPr>
          <a:xfrm>
            <a:off x="548640" y="5989320"/>
            <a:ext cx="1109167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i="1" dirty="0">
                <a:solidFill>
                  <a:schemeClr val="accent4"/>
                </a:solidFill>
              </a:rPr>
              <a:t>Fuentes: padrón electoral, Seccional PRM Pennsylvania (2024) · JCE 2024 (OCLEE Philadelphia) · INDEX, Registro Sociodemográfico de los Dominicanos en el Exterior (5.ª edición, 2026)</a:t>
            </a:r>
            <a:endParaRPr lang="en-US" sz="1000" dirty="0"/>
          </a:p>
        </p:txBody>
      </p:sp>
      <p:sp>
        <p:nvSpPr>
          <p:cNvPr id="20" name="Barra de navegación"/>
          <p:cNvSpPr/>
          <p:nvPr/>
        </p:nvSpPr>
        <p:spPr>
          <a:xfrm>
            <a:off x="0" y="0"/>
            <a:ext cx="12191695" cy="384048"/>
          </a:xfrm>
          <a:prstGeom prst="rect">
            <a:avLst/>
          </a:prstGeom>
          <a:solidFill>
            <a:srgbClr val="001F4A"/>
          </a:solidFill>
          <a:ln w="12700">
            <a:solidFill>
              <a:srgbClr val="001F4A"/>
            </a:solidFill>
            <a:prstDash val="solid"/>
          </a:ln>
        </p:spPr>
      </p:sp>
      <p:sp>
        <p:nvSpPr>
          <p:cNvPr id="21" name="Shape 16"/>
          <p:cNvSpPr/>
          <p:nvPr/>
        </p:nvSpPr>
        <p:spPr>
          <a:xfrm>
            <a:off x="0" y="384048"/>
            <a:ext cx="12191695" cy="0"/>
          </a:xfrm>
          <a:prstGeom prst="line">
            <a:avLst/>
          </a:prstGeom>
          <a:noFill/>
          <a:ln w="9525">
            <a:solidFill>
              <a:srgbClr val="2E4C7A"/>
            </a:solidFill>
            <a:prstDash val="solid"/>
          </a:ln>
        </p:spPr>
      </p:sp>
      <p:sp>
        <p:nvSpPr>
          <p:cNvPr id="22" name="Pestaña Diagnóstico"/>
          <p:cNvSpPr txBox="1"/>
          <p:nvPr/>
        </p:nvSpPr>
        <p:spPr>
          <a:xfrm>
            <a:off x="548640" y="0"/>
            <a:ext cx="277291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spc="150" kern="0" dirty="0">
                <a:solidFill>
                  <a:srgbClr val="FFFFFF"/>
                </a:solidFill>
              </a:rPr>
              <a:t>DIAGNÓSTICO</a:t>
            </a:r>
            <a:endParaRPr lang="en-US" sz="1000" dirty="0"/>
          </a:p>
        </p:txBody>
      </p:sp>
      <p:sp>
        <p:nvSpPr>
          <p:cNvPr id="23" name="Sección actual"/>
          <p:cNvSpPr/>
          <p:nvPr/>
        </p:nvSpPr>
        <p:spPr>
          <a:xfrm>
            <a:off x="1380515" y="338328"/>
            <a:ext cx="1109167" cy="45720"/>
          </a:xfrm>
          <a:prstGeom prst="rect">
            <a:avLst/>
          </a:prstGeom>
          <a:solidFill>
            <a:srgbClr val="DA1822"/>
          </a:solidFill>
          <a:ln w="12700">
            <a:solidFill>
              <a:srgbClr val="DA1822"/>
            </a:solidFill>
            <a:prstDash val="solid"/>
          </a:ln>
        </p:spPr>
      </p:sp>
      <p:sp>
        <p:nvSpPr>
          <p:cNvPr id="24" name="Pestaña Meta"/>
          <p:cNvSpPr txBox="1"/>
          <p:nvPr/>
        </p:nvSpPr>
        <p:spPr>
          <a:xfrm>
            <a:off x="3321558" y="0"/>
            <a:ext cx="277291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u="none" spc="150" kern="0" dirty="0">
                <a:solidFill>
                  <a:srgbClr val="AFC0DA"/>
                </a:solidFill>
                <a:hlinkClick r:id="rId3" action="ppaction://hlinksldjump" tooltip="Ir a Meta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META</a:t>
            </a:r>
            <a:endParaRPr lang="en-US" sz="1000" dirty="0"/>
          </a:p>
        </p:txBody>
      </p:sp>
      <p:sp>
        <p:nvSpPr>
          <p:cNvPr id="25" name="Pestaña Plan y recomendación"/>
          <p:cNvSpPr txBox="1"/>
          <p:nvPr/>
        </p:nvSpPr>
        <p:spPr>
          <a:xfrm>
            <a:off x="6094476" y="0"/>
            <a:ext cx="277291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u="none" spc="150" kern="0" dirty="0">
                <a:solidFill>
                  <a:srgbClr val="AFC0DA"/>
                </a:solidFill>
                <a:hlinkClick r:id="rId4" action="ppaction://hlinksldjump" tooltip="Ir a Plan y recomendación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PLAN Y RECOMENDACIÓN</a:t>
            </a:r>
            <a:endParaRPr lang="en-US" sz="1000" dirty="0"/>
          </a:p>
        </p:txBody>
      </p:sp>
      <p:sp>
        <p:nvSpPr>
          <p:cNvPr id="26" name="Pestaña Ficha técnica"/>
          <p:cNvSpPr txBox="1"/>
          <p:nvPr/>
        </p:nvSpPr>
        <p:spPr>
          <a:xfrm>
            <a:off x="8867394" y="0"/>
            <a:ext cx="277291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u="none" spc="150" kern="0" dirty="0">
                <a:solidFill>
                  <a:srgbClr val="AFC0DA"/>
                </a:solidFill>
                <a:hlinkClick r:id="rId5" action="ppaction://hlinksldjump" tooltip="Ir a Ficha técnica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FICHA TÉCNICA</a:t>
            </a:r>
            <a:endParaRPr lang="en-US" sz="10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55680" y="640080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accent4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</a:t>
            </a:fld>
            <a:endParaRPr lang="en-US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title" hasCustomPrompt="1"/>
          </p:nvPr>
        </p:nvSpPr>
        <p:spPr>
          <a:xfrm>
            <a:off x="548640" y="502920"/>
            <a:ext cx="11091672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800" b="1" dirty="0">
                <a:solidFill>
                  <a:schemeClr val="tx2"/>
                </a:solidFill>
              </a:rPr>
              <a:t>Pennsylvania tiene 227,647 dominicanos y solo 47,529 están inscritos para votar aquí: el potencial es enorme</a:t>
            </a:r>
            <a:endParaRPr lang="en-US" sz="2800" dirty="0"/>
          </a:p>
        </p:txBody>
      </p:sp>
      <p:graphicFrame>
        <p:nvGraphicFramePr>
          <p:cNvPr id="3" name="Crecimiento poblacion" descr=""/>
          <p:cNvGraphicFramePr/>
          <p:nvPr/>
        </p:nvGraphicFramePr>
        <p:xfrm>
          <a:off x="548640" y="1600200"/>
          <a:ext cx="5303520" cy="425196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1"/>
          </a:graphicData>
        </a:graphic>
      </p:graphicFrame>
      <p:sp>
        <p:nvSpPr>
          <p:cNvPr id="4" name="Oportunidad 1"/>
          <p:cNvSpPr/>
          <p:nvPr/>
        </p:nvSpPr>
        <p:spPr>
          <a:xfrm>
            <a:off x="6172200" y="1600200"/>
            <a:ext cx="5468112" cy="1325880"/>
          </a:xfrm>
          <a:prstGeom prst="roundRect">
            <a:avLst>
              <a:gd name="adj" fmla="val 5517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5" name="Text 2"/>
          <p:cNvSpPr txBox="1"/>
          <p:nvPr/>
        </p:nvSpPr>
        <p:spPr>
          <a:xfrm>
            <a:off x="6400800" y="1673352"/>
            <a:ext cx="5029200" cy="11795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chemeClr val="accent2"/>
                </a:solidFill>
              </a:rPr>
              <a:t>Solo 1 de cada 5</a:t>
            </a:r>
            <a:endParaRPr lang="en-US" sz="2200" dirty="0"/>
          </a:p>
          <a:p>
            <a:pPr indent="0" marL="0">
              <a:buNone/>
            </a:pPr>
            <a:r>
              <a:rPr lang="en-US" sz="1400" dirty="0">
                <a:solidFill>
                  <a:schemeClr val="tx1"/>
                </a:solidFill>
              </a:rPr>
              <a:t>dominicanos del estado está inscrito para votar en la seccional (21 %). Y la comunidad creció un 26 % desde 2022</a:t>
            </a:r>
            <a:endParaRPr lang="en-US" sz="2200" dirty="0"/>
          </a:p>
        </p:txBody>
      </p:sp>
      <p:sp>
        <p:nvSpPr>
          <p:cNvPr id="6" name="Oportunidad 2"/>
          <p:cNvSpPr/>
          <p:nvPr/>
        </p:nvSpPr>
        <p:spPr>
          <a:xfrm>
            <a:off x="6172200" y="3063240"/>
            <a:ext cx="5468112" cy="1325880"/>
          </a:xfrm>
          <a:prstGeom prst="roundRect">
            <a:avLst>
              <a:gd name="adj" fmla="val 5517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7" name="Text 4"/>
          <p:cNvSpPr txBox="1"/>
          <p:nvPr/>
        </p:nvSpPr>
        <p:spPr>
          <a:xfrm>
            <a:off x="6400800" y="3136392"/>
            <a:ext cx="5029200" cy="11795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chemeClr val="accent2"/>
                </a:solidFill>
              </a:rPr>
              <a:t>Inscritos en NY</a:t>
            </a:r>
            <a:endParaRPr lang="en-US" sz="2200" dirty="0"/>
          </a:p>
          <a:p>
            <a:pPr indent="0" marL="0">
              <a:buNone/>
            </a:pPr>
            <a:r>
              <a:rPr lang="en-US" sz="1400" dirty="0">
                <a:solidFill>
                  <a:schemeClr val="tx1"/>
                </a:solidFill>
              </a:rPr>
              <a:t>Quien llegó de Nueva York o Nueva Jersey sigue empadronado allá: si no traslada su registro, su voto no cuenta en Pennsylvania</a:t>
            </a:r>
            <a:endParaRPr lang="en-US" sz="2200" dirty="0"/>
          </a:p>
        </p:txBody>
      </p:sp>
      <p:sp>
        <p:nvSpPr>
          <p:cNvPr id="8" name="Dos tramites"/>
          <p:cNvSpPr/>
          <p:nvPr/>
        </p:nvSpPr>
        <p:spPr>
          <a:xfrm>
            <a:off x="6172200" y="4526280"/>
            <a:ext cx="5468112" cy="1325880"/>
          </a:xfrm>
          <a:prstGeom prst="roundRect">
            <a:avLst>
              <a:gd name="adj" fmla="val 5517"/>
            </a:avLst>
          </a:prstGeom>
          <a:solidFill>
            <a:schemeClr val="tx2"/>
          </a:solidFill>
          <a:ln w="12700">
            <a:solidFill>
              <a:schemeClr val="tx2"/>
            </a:solidFill>
            <a:prstDash val="solid"/>
          </a:ln>
        </p:spPr>
      </p:sp>
      <p:sp>
        <p:nvSpPr>
          <p:cNvPr id="9" name="Text 6"/>
          <p:cNvSpPr txBox="1"/>
          <p:nvPr/>
        </p:nvSpPr>
        <p:spPr>
          <a:xfrm>
            <a:off x="6400800" y="4599432"/>
            <a:ext cx="5029200" cy="11795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chemeClr val="bg1"/>
                </a:solidFill>
              </a:rPr>
              <a:t>Dos trámites, una sola cita</a:t>
            </a:r>
            <a:endParaRPr lang="en-US" sz="1800" dirty="0"/>
          </a:p>
          <a:p>
            <a:pPr indent="0" marL="0">
              <a:buNone/>
            </a:pPr>
            <a:r>
              <a:rPr lang="en-US" sz="1400" dirty="0">
                <a:solidFill>
                  <a:schemeClr val="bg1"/>
                </a:solidFill>
              </a:rPr>
              <a:t>Cédula nueva + domicilio electoral en Pennsylvania. Aprovechar la renovación para hacer ambos (confirmar con la JCE).</a:t>
            </a:r>
            <a:endParaRPr lang="en-US" sz="1800" dirty="0"/>
          </a:p>
        </p:txBody>
      </p:sp>
      <p:sp>
        <p:nvSpPr>
          <p:cNvPr id="10" name="Fuente"/>
          <p:cNvSpPr txBox="1"/>
          <p:nvPr/>
        </p:nvSpPr>
        <p:spPr>
          <a:xfrm>
            <a:off x="548640" y="5989320"/>
            <a:ext cx="1109167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i="1" dirty="0">
                <a:solidFill>
                  <a:schemeClr val="accent4"/>
                </a:solidFill>
              </a:rPr>
              <a:t>Fuentes: INDEX, Registro Sociodemográfico de los Dominicanos en el Exterior (181,156 a dic. 2022; 227,647 en la 5.ª edición, 2026); Consulado RD en Filadelfia.</a:t>
            </a:r>
            <a:endParaRPr lang="en-US" sz="1000" dirty="0"/>
          </a:p>
        </p:txBody>
      </p:sp>
      <p:sp>
        <p:nvSpPr>
          <p:cNvPr id="12" name="Barra de navegación"/>
          <p:cNvSpPr/>
          <p:nvPr/>
        </p:nvSpPr>
        <p:spPr>
          <a:xfrm>
            <a:off x="0" y="0"/>
            <a:ext cx="12191695" cy="384048"/>
          </a:xfrm>
          <a:prstGeom prst="rect">
            <a:avLst/>
          </a:prstGeom>
          <a:solidFill>
            <a:srgbClr val="F4F7FB"/>
          </a:solidFill>
          <a:ln w="12700">
            <a:solidFill>
              <a:srgbClr val="F4F7FB"/>
            </a:solidFill>
            <a:prstDash val="solid"/>
          </a:ln>
        </p:spPr>
      </p:sp>
      <p:sp>
        <p:nvSpPr>
          <p:cNvPr id="13" name="Shape 9"/>
          <p:cNvSpPr/>
          <p:nvPr/>
        </p:nvSpPr>
        <p:spPr>
          <a:xfrm>
            <a:off x="0" y="384048"/>
            <a:ext cx="12191695" cy="0"/>
          </a:xfrm>
          <a:prstGeom prst="line">
            <a:avLst/>
          </a:prstGeom>
          <a:noFill/>
          <a:ln w="9525">
            <a:solidFill>
              <a:srgbClr val="D6DEEA"/>
            </a:solidFill>
            <a:prstDash val="solid"/>
          </a:ln>
        </p:spPr>
      </p:sp>
      <p:sp>
        <p:nvSpPr>
          <p:cNvPr id="14" name="Pestaña Diagnóstico"/>
          <p:cNvSpPr txBox="1"/>
          <p:nvPr/>
        </p:nvSpPr>
        <p:spPr>
          <a:xfrm>
            <a:off x="548640" y="0"/>
            <a:ext cx="277291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spc="150" kern="0" dirty="0">
                <a:solidFill>
                  <a:srgbClr val="002B63"/>
                </a:solidFill>
              </a:rPr>
              <a:t>DIAGNÓSTICO</a:t>
            </a:r>
            <a:endParaRPr lang="en-US" sz="1000" dirty="0"/>
          </a:p>
        </p:txBody>
      </p:sp>
      <p:sp>
        <p:nvSpPr>
          <p:cNvPr id="15" name="Sección actual"/>
          <p:cNvSpPr/>
          <p:nvPr/>
        </p:nvSpPr>
        <p:spPr>
          <a:xfrm>
            <a:off x="1380515" y="338328"/>
            <a:ext cx="1109167" cy="45720"/>
          </a:xfrm>
          <a:prstGeom prst="rect">
            <a:avLst/>
          </a:prstGeom>
          <a:solidFill>
            <a:srgbClr val="DA1822"/>
          </a:solidFill>
          <a:ln w="12700">
            <a:solidFill>
              <a:srgbClr val="DA1822"/>
            </a:solidFill>
            <a:prstDash val="solid"/>
          </a:ln>
        </p:spPr>
      </p:sp>
      <p:sp>
        <p:nvSpPr>
          <p:cNvPr id="16" name="Pestaña Meta"/>
          <p:cNvSpPr txBox="1"/>
          <p:nvPr/>
        </p:nvSpPr>
        <p:spPr>
          <a:xfrm>
            <a:off x="3321558" y="0"/>
            <a:ext cx="277291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u="none" spc="150" kern="0" dirty="0">
                <a:solidFill>
                  <a:srgbClr val="5A6B86"/>
                </a:solidFill>
                <a:hlinkClick r:id="rId2" action="ppaction://hlinksldjump" tooltip="Ir a Meta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META</a:t>
            </a:r>
            <a:endParaRPr lang="en-US" sz="1000" dirty="0"/>
          </a:p>
        </p:txBody>
      </p:sp>
      <p:sp>
        <p:nvSpPr>
          <p:cNvPr id="17" name="Pestaña Plan y recomendación"/>
          <p:cNvSpPr txBox="1"/>
          <p:nvPr/>
        </p:nvSpPr>
        <p:spPr>
          <a:xfrm>
            <a:off x="6094476" y="0"/>
            <a:ext cx="277291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u="none" spc="150" kern="0" dirty="0">
                <a:solidFill>
                  <a:srgbClr val="5A6B86"/>
                </a:solidFill>
                <a:hlinkClick r:id="rId3" action="ppaction://hlinksldjump" tooltip="Ir a Plan y recomendación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PLAN Y RECOMENDACIÓN</a:t>
            </a:r>
            <a:endParaRPr lang="en-US" sz="1000" dirty="0"/>
          </a:p>
        </p:txBody>
      </p:sp>
      <p:sp>
        <p:nvSpPr>
          <p:cNvPr id="18" name="Pestaña Ficha técnica"/>
          <p:cNvSpPr txBox="1"/>
          <p:nvPr/>
        </p:nvSpPr>
        <p:spPr>
          <a:xfrm>
            <a:off x="8867394" y="0"/>
            <a:ext cx="277291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u="none" spc="150" kern="0" dirty="0">
                <a:solidFill>
                  <a:srgbClr val="5A6B86"/>
                </a:solidFill>
                <a:hlinkClick r:id="rId4" action="ppaction://hlinksldjump" tooltip="Ir a Ficha técnica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FICHA TÉCNICA</a:t>
            </a:r>
            <a:endParaRPr lang="en-US" sz="10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55680" y="640080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accent4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2</a:t>
            </a:fld>
            <a:endParaRPr lang="en-US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title" hasCustomPrompt="1"/>
          </p:nvPr>
        </p:nvSpPr>
        <p:spPr>
          <a:xfrm>
            <a:off x="548640" y="502920"/>
            <a:ext cx="11091672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800" b="1" dirty="0">
                <a:solidFill>
                  <a:schemeClr val="tx2"/>
                </a:solidFill>
              </a:rPr>
              <a:t>Mapa territorial: el 66 % del padrón vive fuera de Philadelphia, repartido en 8 zonas</a:t>
            </a:r>
            <a:endParaRPr lang="en-US" sz="2800" dirty="0"/>
          </a:p>
        </p:txBody>
      </p:sp>
      <p:pic>
        <p:nvPicPr>
          <p:cNvPr id="3" name="Mapa base" descr="/tmp/claude-0/-home-user-pdf-toolkit/a67bee5e-d5f3-51b1-8612-3e4feb352169/scratchpad/img/mapa_pa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48640" y="1554480"/>
            <a:ext cx="6949440" cy="4297680"/>
          </a:xfrm>
          <a:prstGeom prst="rect">
            <a:avLst/>
          </a:prstGeom>
        </p:spPr>
      </p:pic>
      <p:sp>
        <p:nvSpPr>
          <p:cNvPr id="4" name="Zona 1 Phila. Noreste"/>
          <p:cNvSpPr/>
          <p:nvPr/>
        </p:nvSpPr>
        <p:spPr>
          <a:xfrm>
            <a:off x="5340096" y="4517136"/>
            <a:ext cx="658368" cy="658368"/>
          </a:xfrm>
          <a:prstGeom prst="ellipse">
            <a:avLst/>
          </a:prstGeom>
          <a:solidFill>
            <a:schemeClr val="accent2"/>
          </a:solidFill>
          <a:ln w="19050">
            <a:solidFill>
              <a:schemeClr val="bg1"/>
            </a:solidFill>
            <a:prstDash val="solid"/>
          </a:ln>
        </p:spPr>
      </p:sp>
      <p:sp>
        <p:nvSpPr>
          <p:cNvPr id="5" name="Text 2"/>
          <p:cNvSpPr txBox="1"/>
          <p:nvPr/>
        </p:nvSpPr>
        <p:spPr>
          <a:xfrm>
            <a:off x="5340096" y="4517136"/>
            <a:ext cx="658368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chemeClr val="bg1"/>
                </a:solidFill>
              </a:rPr>
              <a:t>1</a:t>
            </a:r>
            <a:endParaRPr lang="en-US" sz="1200" dirty="0"/>
          </a:p>
        </p:txBody>
      </p:sp>
      <p:sp>
        <p:nvSpPr>
          <p:cNvPr id="6" name="Etiqueta Phila. Noreste"/>
          <p:cNvSpPr/>
          <p:nvPr/>
        </p:nvSpPr>
        <p:spPr>
          <a:xfrm>
            <a:off x="6044184" y="4722876"/>
            <a:ext cx="1271016" cy="246888"/>
          </a:xfrm>
          <a:prstGeom prst="roundRect">
            <a:avLst>
              <a:gd name="adj" fmla="val 22222"/>
            </a:avLst>
          </a:prstGeom>
          <a:solidFill>
            <a:schemeClr val="bg1"/>
          </a:solidFill>
          <a:ln w="9525">
            <a:solidFill>
              <a:schemeClr val="tx2"/>
            </a:solidFill>
            <a:prstDash val="solid"/>
          </a:ln>
        </p:spPr>
      </p:sp>
      <p:sp>
        <p:nvSpPr>
          <p:cNvPr id="7" name="Text 4"/>
          <p:cNvSpPr txBox="1"/>
          <p:nvPr/>
        </p:nvSpPr>
        <p:spPr>
          <a:xfrm>
            <a:off x="6044184" y="4722876"/>
            <a:ext cx="1271016" cy="2468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chemeClr val="tx2"/>
                </a:solidFill>
              </a:rPr>
              <a:t>Phila. Noreste</a:t>
            </a:r>
            <a:endParaRPr lang="en-US" sz="1100" dirty="0"/>
          </a:p>
        </p:txBody>
      </p:sp>
      <p:sp>
        <p:nvSpPr>
          <p:cNvPr id="8" name="Zona 2 Phila. Kensington"/>
          <p:cNvSpPr/>
          <p:nvPr/>
        </p:nvSpPr>
        <p:spPr>
          <a:xfrm>
            <a:off x="4868943" y="5024391"/>
            <a:ext cx="594834" cy="594834"/>
          </a:xfrm>
          <a:prstGeom prst="ellipse">
            <a:avLst/>
          </a:prstGeom>
          <a:solidFill>
            <a:schemeClr val="accent2"/>
          </a:solidFill>
          <a:ln w="19050">
            <a:solidFill>
              <a:schemeClr val="bg1"/>
            </a:solidFill>
            <a:prstDash val="solid"/>
          </a:ln>
        </p:spPr>
      </p:sp>
      <p:sp>
        <p:nvSpPr>
          <p:cNvPr id="9" name="Text 6"/>
          <p:cNvSpPr txBox="1"/>
          <p:nvPr/>
        </p:nvSpPr>
        <p:spPr>
          <a:xfrm>
            <a:off x="4868943" y="5024391"/>
            <a:ext cx="594834" cy="59483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chemeClr val="bg1"/>
                </a:solidFill>
              </a:rPr>
              <a:t>2</a:t>
            </a:r>
            <a:endParaRPr lang="en-US" sz="1200" dirty="0"/>
          </a:p>
        </p:txBody>
      </p:sp>
      <p:sp>
        <p:nvSpPr>
          <p:cNvPr id="10" name="Etiqueta Phila. Kensington"/>
          <p:cNvSpPr/>
          <p:nvPr/>
        </p:nvSpPr>
        <p:spPr>
          <a:xfrm>
            <a:off x="5509497" y="5198364"/>
            <a:ext cx="1504188" cy="246888"/>
          </a:xfrm>
          <a:prstGeom prst="roundRect">
            <a:avLst>
              <a:gd name="adj" fmla="val 22222"/>
            </a:avLst>
          </a:prstGeom>
          <a:solidFill>
            <a:schemeClr val="bg1"/>
          </a:solidFill>
          <a:ln w="9525">
            <a:solidFill>
              <a:schemeClr val="tx2"/>
            </a:solidFill>
            <a:prstDash val="solid"/>
          </a:ln>
        </p:spPr>
      </p:sp>
      <p:sp>
        <p:nvSpPr>
          <p:cNvPr id="11" name="Text 8"/>
          <p:cNvSpPr txBox="1"/>
          <p:nvPr/>
        </p:nvSpPr>
        <p:spPr>
          <a:xfrm>
            <a:off x="5509497" y="5198364"/>
            <a:ext cx="1504188" cy="2468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chemeClr val="tx2"/>
                </a:solidFill>
              </a:rPr>
              <a:t>Phila. Kensington</a:t>
            </a:r>
            <a:endParaRPr lang="en-US" sz="1100" dirty="0"/>
          </a:p>
        </p:txBody>
      </p:sp>
      <p:sp>
        <p:nvSpPr>
          <p:cNvPr id="12" name="Zona 3 Reading"/>
          <p:cNvSpPr/>
          <p:nvPr/>
        </p:nvSpPr>
        <p:spPr>
          <a:xfrm>
            <a:off x="3825620" y="4008500"/>
            <a:ext cx="633225" cy="633225"/>
          </a:xfrm>
          <a:prstGeom prst="ellipse">
            <a:avLst/>
          </a:prstGeom>
          <a:solidFill>
            <a:schemeClr val="accent2"/>
          </a:solidFill>
          <a:ln w="19050">
            <a:solidFill>
              <a:schemeClr val="bg1"/>
            </a:solidFill>
            <a:prstDash val="solid"/>
          </a:ln>
        </p:spPr>
      </p:sp>
      <p:sp>
        <p:nvSpPr>
          <p:cNvPr id="13" name="Text 10"/>
          <p:cNvSpPr txBox="1"/>
          <p:nvPr/>
        </p:nvSpPr>
        <p:spPr>
          <a:xfrm>
            <a:off x="3825620" y="4008500"/>
            <a:ext cx="633225" cy="63322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chemeClr val="bg1"/>
                </a:solidFill>
              </a:rPr>
              <a:t>3</a:t>
            </a:r>
            <a:endParaRPr lang="en-US" sz="1200" dirty="0"/>
          </a:p>
        </p:txBody>
      </p:sp>
      <p:sp>
        <p:nvSpPr>
          <p:cNvPr id="14" name="Etiqueta Reading"/>
          <p:cNvSpPr/>
          <p:nvPr/>
        </p:nvSpPr>
        <p:spPr>
          <a:xfrm>
            <a:off x="4504564" y="4201668"/>
            <a:ext cx="726948" cy="246888"/>
          </a:xfrm>
          <a:prstGeom prst="roundRect">
            <a:avLst>
              <a:gd name="adj" fmla="val 22222"/>
            </a:avLst>
          </a:prstGeom>
          <a:solidFill>
            <a:schemeClr val="bg1"/>
          </a:solidFill>
          <a:ln w="9525">
            <a:solidFill>
              <a:schemeClr val="tx2"/>
            </a:solidFill>
            <a:prstDash val="solid"/>
          </a:ln>
        </p:spPr>
      </p:sp>
      <p:sp>
        <p:nvSpPr>
          <p:cNvPr id="15" name="Text 12"/>
          <p:cNvSpPr txBox="1"/>
          <p:nvPr/>
        </p:nvSpPr>
        <p:spPr>
          <a:xfrm>
            <a:off x="4504564" y="4201668"/>
            <a:ext cx="726948" cy="2468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chemeClr val="tx2"/>
                </a:solidFill>
              </a:rPr>
              <a:t>Reading</a:t>
            </a:r>
            <a:endParaRPr lang="en-US" sz="1100" dirty="0"/>
          </a:p>
        </p:txBody>
      </p:sp>
      <p:sp>
        <p:nvSpPr>
          <p:cNvPr id="16" name="Zona 4 Allentown"/>
          <p:cNvSpPr/>
          <p:nvPr/>
        </p:nvSpPr>
        <p:spPr>
          <a:xfrm>
            <a:off x="4568177" y="3443465"/>
            <a:ext cx="629438" cy="629438"/>
          </a:xfrm>
          <a:prstGeom prst="ellipse">
            <a:avLst/>
          </a:prstGeom>
          <a:solidFill>
            <a:schemeClr val="accent2"/>
          </a:solidFill>
          <a:ln w="19050">
            <a:solidFill>
              <a:schemeClr val="bg1"/>
            </a:solidFill>
            <a:prstDash val="solid"/>
          </a:ln>
        </p:spPr>
      </p:sp>
      <p:sp>
        <p:nvSpPr>
          <p:cNvPr id="17" name="Text 14"/>
          <p:cNvSpPr txBox="1"/>
          <p:nvPr/>
        </p:nvSpPr>
        <p:spPr>
          <a:xfrm>
            <a:off x="4568177" y="3443465"/>
            <a:ext cx="629438" cy="62943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chemeClr val="bg1"/>
                </a:solidFill>
              </a:rPr>
              <a:t>4</a:t>
            </a:r>
            <a:endParaRPr lang="en-US" sz="1200" dirty="0"/>
          </a:p>
        </p:txBody>
      </p:sp>
      <p:sp>
        <p:nvSpPr>
          <p:cNvPr id="18" name="Etiqueta Allentown"/>
          <p:cNvSpPr/>
          <p:nvPr/>
        </p:nvSpPr>
        <p:spPr>
          <a:xfrm>
            <a:off x="4441698" y="3150857"/>
            <a:ext cx="882396" cy="246888"/>
          </a:xfrm>
          <a:prstGeom prst="roundRect">
            <a:avLst>
              <a:gd name="adj" fmla="val 22222"/>
            </a:avLst>
          </a:prstGeom>
          <a:solidFill>
            <a:schemeClr val="bg1"/>
          </a:solidFill>
          <a:ln w="9525">
            <a:solidFill>
              <a:schemeClr val="tx2"/>
            </a:solidFill>
            <a:prstDash val="solid"/>
          </a:ln>
        </p:spPr>
      </p:sp>
      <p:sp>
        <p:nvSpPr>
          <p:cNvPr id="19" name="Text 16"/>
          <p:cNvSpPr txBox="1"/>
          <p:nvPr/>
        </p:nvSpPr>
        <p:spPr>
          <a:xfrm>
            <a:off x="4441698" y="3150857"/>
            <a:ext cx="882396" cy="2468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chemeClr val="tx2"/>
                </a:solidFill>
              </a:rPr>
              <a:t>Allentown</a:t>
            </a:r>
            <a:endParaRPr lang="en-US" sz="1100" dirty="0"/>
          </a:p>
        </p:txBody>
      </p:sp>
      <p:sp>
        <p:nvSpPr>
          <p:cNvPr id="20" name="Zona 5 Hazleton"/>
          <p:cNvSpPr/>
          <p:nvPr/>
        </p:nvSpPr>
        <p:spPr>
          <a:xfrm>
            <a:off x="3772445" y="2693453"/>
            <a:ext cx="593270" cy="593270"/>
          </a:xfrm>
          <a:prstGeom prst="ellipse">
            <a:avLst/>
          </a:prstGeom>
          <a:solidFill>
            <a:schemeClr val="accent2"/>
          </a:solidFill>
          <a:ln w="19050">
            <a:solidFill>
              <a:schemeClr val="bg1"/>
            </a:solidFill>
            <a:prstDash val="solid"/>
          </a:ln>
        </p:spPr>
      </p:sp>
      <p:sp>
        <p:nvSpPr>
          <p:cNvPr id="21" name="Text 18"/>
          <p:cNvSpPr txBox="1"/>
          <p:nvPr/>
        </p:nvSpPr>
        <p:spPr>
          <a:xfrm>
            <a:off x="3772445" y="2693453"/>
            <a:ext cx="593270" cy="59327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chemeClr val="bg1"/>
                </a:solidFill>
              </a:rPr>
              <a:t>5</a:t>
            </a:r>
            <a:endParaRPr lang="en-US" sz="1200" dirty="0"/>
          </a:p>
        </p:txBody>
      </p:sp>
      <p:sp>
        <p:nvSpPr>
          <p:cNvPr id="22" name="Etiqueta Hazleton"/>
          <p:cNvSpPr/>
          <p:nvPr/>
        </p:nvSpPr>
        <p:spPr>
          <a:xfrm>
            <a:off x="2922053" y="2866644"/>
            <a:ext cx="804672" cy="246888"/>
          </a:xfrm>
          <a:prstGeom prst="roundRect">
            <a:avLst>
              <a:gd name="adj" fmla="val 22222"/>
            </a:avLst>
          </a:prstGeom>
          <a:solidFill>
            <a:schemeClr val="bg1"/>
          </a:solidFill>
          <a:ln w="9525">
            <a:solidFill>
              <a:schemeClr val="tx2"/>
            </a:solidFill>
            <a:prstDash val="solid"/>
          </a:ln>
        </p:spPr>
      </p:sp>
      <p:sp>
        <p:nvSpPr>
          <p:cNvPr id="23" name="Text 20"/>
          <p:cNvSpPr txBox="1"/>
          <p:nvPr/>
        </p:nvSpPr>
        <p:spPr>
          <a:xfrm>
            <a:off x="2922053" y="2866644"/>
            <a:ext cx="804672" cy="2468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chemeClr val="tx2"/>
                </a:solidFill>
              </a:rPr>
              <a:t>Hazleton</a:t>
            </a:r>
            <a:endParaRPr lang="en-US" sz="1100" dirty="0"/>
          </a:p>
        </p:txBody>
      </p:sp>
      <p:sp>
        <p:nvSpPr>
          <p:cNvPr id="24" name="Zona 6 Wilkes-Barre"/>
          <p:cNvSpPr/>
          <p:nvPr/>
        </p:nvSpPr>
        <p:spPr>
          <a:xfrm>
            <a:off x="4001464" y="2154376"/>
            <a:ext cx="427839" cy="427839"/>
          </a:xfrm>
          <a:prstGeom prst="ellipse">
            <a:avLst/>
          </a:prstGeom>
          <a:solidFill>
            <a:schemeClr val="accent2"/>
          </a:solidFill>
          <a:ln w="19050">
            <a:solidFill>
              <a:schemeClr val="bg1"/>
            </a:solidFill>
            <a:prstDash val="solid"/>
          </a:ln>
        </p:spPr>
      </p:sp>
      <p:sp>
        <p:nvSpPr>
          <p:cNvPr id="25" name="Text 22"/>
          <p:cNvSpPr txBox="1"/>
          <p:nvPr/>
        </p:nvSpPr>
        <p:spPr>
          <a:xfrm>
            <a:off x="4001464" y="2154376"/>
            <a:ext cx="427839" cy="42783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chemeClr val="bg1"/>
                </a:solidFill>
              </a:rPr>
              <a:t>6</a:t>
            </a:r>
            <a:endParaRPr lang="en-US" sz="1200" dirty="0"/>
          </a:p>
        </p:txBody>
      </p:sp>
      <p:sp>
        <p:nvSpPr>
          <p:cNvPr id="26" name="Etiqueta Wilkes-Barre"/>
          <p:cNvSpPr/>
          <p:nvPr/>
        </p:nvSpPr>
        <p:spPr>
          <a:xfrm>
            <a:off x="2840176" y="2244852"/>
            <a:ext cx="1115568" cy="246888"/>
          </a:xfrm>
          <a:prstGeom prst="roundRect">
            <a:avLst>
              <a:gd name="adj" fmla="val 22222"/>
            </a:avLst>
          </a:prstGeom>
          <a:solidFill>
            <a:schemeClr val="bg1"/>
          </a:solidFill>
          <a:ln w="9525">
            <a:solidFill>
              <a:schemeClr val="tx2"/>
            </a:solidFill>
            <a:prstDash val="solid"/>
          </a:ln>
        </p:spPr>
      </p:sp>
      <p:sp>
        <p:nvSpPr>
          <p:cNvPr id="27" name="Text 24"/>
          <p:cNvSpPr txBox="1"/>
          <p:nvPr/>
        </p:nvSpPr>
        <p:spPr>
          <a:xfrm>
            <a:off x="2840176" y="2244852"/>
            <a:ext cx="1115568" cy="2468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chemeClr val="tx2"/>
                </a:solidFill>
              </a:rPr>
              <a:t>Wilkes-Barre</a:t>
            </a:r>
            <a:endParaRPr lang="en-US" sz="1100" dirty="0"/>
          </a:p>
        </p:txBody>
      </p:sp>
      <p:sp>
        <p:nvSpPr>
          <p:cNvPr id="28" name="Zona 6 Scranton"/>
          <p:cNvSpPr/>
          <p:nvPr/>
        </p:nvSpPr>
        <p:spPr>
          <a:xfrm>
            <a:off x="4386290" y="1825970"/>
            <a:ext cx="371420" cy="371420"/>
          </a:xfrm>
          <a:prstGeom prst="ellipse">
            <a:avLst/>
          </a:prstGeom>
          <a:solidFill>
            <a:schemeClr val="accent2"/>
          </a:solidFill>
          <a:ln w="19050">
            <a:solidFill>
              <a:schemeClr val="bg1"/>
            </a:solidFill>
            <a:prstDash val="solid"/>
          </a:ln>
        </p:spPr>
      </p:sp>
      <p:sp>
        <p:nvSpPr>
          <p:cNvPr id="29" name="Text 26"/>
          <p:cNvSpPr txBox="1"/>
          <p:nvPr/>
        </p:nvSpPr>
        <p:spPr>
          <a:xfrm>
            <a:off x="4386290" y="1825970"/>
            <a:ext cx="371420" cy="3714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chemeClr val="bg1"/>
                </a:solidFill>
              </a:rPr>
              <a:t>6</a:t>
            </a:r>
            <a:endParaRPr lang="en-US" sz="1200" dirty="0"/>
          </a:p>
        </p:txBody>
      </p:sp>
      <p:sp>
        <p:nvSpPr>
          <p:cNvPr id="30" name="Etiqueta Scranton"/>
          <p:cNvSpPr/>
          <p:nvPr/>
        </p:nvSpPr>
        <p:spPr>
          <a:xfrm>
            <a:off x="3535898" y="1888236"/>
            <a:ext cx="804672" cy="246888"/>
          </a:xfrm>
          <a:prstGeom prst="roundRect">
            <a:avLst>
              <a:gd name="adj" fmla="val 22222"/>
            </a:avLst>
          </a:prstGeom>
          <a:solidFill>
            <a:schemeClr val="bg1"/>
          </a:solidFill>
          <a:ln w="9525">
            <a:solidFill>
              <a:schemeClr val="tx2"/>
            </a:solidFill>
            <a:prstDash val="solid"/>
          </a:ln>
        </p:spPr>
      </p:sp>
      <p:sp>
        <p:nvSpPr>
          <p:cNvPr id="31" name="Text 28"/>
          <p:cNvSpPr txBox="1"/>
          <p:nvPr/>
        </p:nvSpPr>
        <p:spPr>
          <a:xfrm>
            <a:off x="3535898" y="1888236"/>
            <a:ext cx="804672" cy="2468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chemeClr val="tx2"/>
                </a:solidFill>
              </a:rPr>
              <a:t>Scranton</a:t>
            </a:r>
            <a:endParaRPr lang="en-US" sz="1100" dirty="0"/>
          </a:p>
        </p:txBody>
      </p:sp>
      <p:sp>
        <p:nvSpPr>
          <p:cNvPr id="32" name="Zona 7 Harrisburg"/>
          <p:cNvSpPr/>
          <p:nvPr/>
        </p:nvSpPr>
        <p:spPr>
          <a:xfrm>
            <a:off x="2356222" y="4239886"/>
            <a:ext cx="444772" cy="444772"/>
          </a:xfrm>
          <a:prstGeom prst="ellipse">
            <a:avLst/>
          </a:prstGeom>
          <a:solidFill>
            <a:schemeClr val="accent2"/>
          </a:solidFill>
          <a:ln w="19050">
            <a:solidFill>
              <a:schemeClr val="bg1"/>
            </a:solidFill>
            <a:prstDash val="solid"/>
          </a:ln>
        </p:spPr>
      </p:sp>
      <p:sp>
        <p:nvSpPr>
          <p:cNvPr id="33" name="Text 30"/>
          <p:cNvSpPr txBox="1"/>
          <p:nvPr/>
        </p:nvSpPr>
        <p:spPr>
          <a:xfrm>
            <a:off x="2356222" y="4239886"/>
            <a:ext cx="444772" cy="4447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chemeClr val="bg1"/>
                </a:solidFill>
              </a:rPr>
              <a:t>7</a:t>
            </a:r>
            <a:endParaRPr lang="en-US" sz="1200" dirty="0"/>
          </a:p>
        </p:txBody>
      </p:sp>
      <p:sp>
        <p:nvSpPr>
          <p:cNvPr id="34" name="Etiqueta Harrisburg"/>
          <p:cNvSpPr/>
          <p:nvPr/>
        </p:nvSpPr>
        <p:spPr>
          <a:xfrm>
            <a:off x="1350382" y="4338828"/>
            <a:ext cx="960120" cy="246888"/>
          </a:xfrm>
          <a:prstGeom prst="roundRect">
            <a:avLst>
              <a:gd name="adj" fmla="val 22222"/>
            </a:avLst>
          </a:prstGeom>
          <a:solidFill>
            <a:schemeClr val="bg1"/>
          </a:solidFill>
          <a:ln w="9525">
            <a:solidFill>
              <a:schemeClr val="tx2"/>
            </a:solidFill>
            <a:prstDash val="solid"/>
          </a:ln>
        </p:spPr>
      </p:sp>
      <p:sp>
        <p:nvSpPr>
          <p:cNvPr id="35" name="Text 32"/>
          <p:cNvSpPr txBox="1"/>
          <p:nvPr/>
        </p:nvSpPr>
        <p:spPr>
          <a:xfrm>
            <a:off x="1350382" y="4338828"/>
            <a:ext cx="960120" cy="2468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chemeClr val="tx2"/>
                </a:solidFill>
              </a:rPr>
              <a:t>Harrisburg</a:t>
            </a:r>
            <a:endParaRPr lang="en-US" sz="1100" dirty="0"/>
          </a:p>
        </p:txBody>
      </p:sp>
      <p:sp>
        <p:nvSpPr>
          <p:cNvPr id="36" name="Zona 7 Lebanon"/>
          <p:cNvSpPr/>
          <p:nvPr/>
        </p:nvSpPr>
        <p:spPr>
          <a:xfrm>
            <a:off x="3157249" y="4117369"/>
            <a:ext cx="397199" cy="397199"/>
          </a:xfrm>
          <a:prstGeom prst="ellipse">
            <a:avLst/>
          </a:prstGeom>
          <a:solidFill>
            <a:schemeClr val="accent2"/>
          </a:solidFill>
          <a:ln w="19050">
            <a:solidFill>
              <a:schemeClr val="bg1"/>
            </a:solidFill>
            <a:prstDash val="solid"/>
          </a:ln>
        </p:spPr>
      </p:sp>
      <p:sp>
        <p:nvSpPr>
          <p:cNvPr id="37" name="Text 34"/>
          <p:cNvSpPr txBox="1"/>
          <p:nvPr/>
        </p:nvSpPr>
        <p:spPr>
          <a:xfrm>
            <a:off x="3157249" y="4117369"/>
            <a:ext cx="397199" cy="39719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chemeClr val="bg1"/>
                </a:solidFill>
              </a:rPr>
              <a:t>7</a:t>
            </a:r>
            <a:endParaRPr lang="en-US" sz="1200" dirty="0"/>
          </a:p>
        </p:txBody>
      </p:sp>
      <p:sp>
        <p:nvSpPr>
          <p:cNvPr id="38" name="Etiqueta Lebanon"/>
          <p:cNvSpPr/>
          <p:nvPr/>
        </p:nvSpPr>
        <p:spPr>
          <a:xfrm>
            <a:off x="2992374" y="3824761"/>
            <a:ext cx="726948" cy="246888"/>
          </a:xfrm>
          <a:prstGeom prst="roundRect">
            <a:avLst>
              <a:gd name="adj" fmla="val 22222"/>
            </a:avLst>
          </a:prstGeom>
          <a:solidFill>
            <a:schemeClr val="bg1"/>
          </a:solidFill>
          <a:ln w="9525">
            <a:solidFill>
              <a:schemeClr val="tx2"/>
            </a:solidFill>
            <a:prstDash val="solid"/>
          </a:ln>
        </p:spPr>
      </p:sp>
      <p:sp>
        <p:nvSpPr>
          <p:cNvPr id="39" name="Text 36"/>
          <p:cNvSpPr txBox="1"/>
          <p:nvPr/>
        </p:nvSpPr>
        <p:spPr>
          <a:xfrm>
            <a:off x="2992374" y="3824761"/>
            <a:ext cx="726948" cy="2468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chemeClr val="tx2"/>
                </a:solidFill>
              </a:rPr>
              <a:t>Lebanon</a:t>
            </a:r>
            <a:endParaRPr lang="en-US" sz="1100" dirty="0"/>
          </a:p>
        </p:txBody>
      </p:sp>
      <p:sp>
        <p:nvSpPr>
          <p:cNvPr id="40" name="Zona 7 Lancaster"/>
          <p:cNvSpPr/>
          <p:nvPr/>
        </p:nvSpPr>
        <p:spPr>
          <a:xfrm>
            <a:off x="3305019" y="4740627"/>
            <a:ext cx="449129" cy="449129"/>
          </a:xfrm>
          <a:prstGeom prst="ellipse">
            <a:avLst/>
          </a:prstGeom>
          <a:solidFill>
            <a:schemeClr val="accent2"/>
          </a:solidFill>
          <a:ln w="19050">
            <a:solidFill>
              <a:schemeClr val="bg1"/>
            </a:solidFill>
            <a:prstDash val="solid"/>
          </a:ln>
        </p:spPr>
      </p:sp>
      <p:sp>
        <p:nvSpPr>
          <p:cNvPr id="41" name="Text 38"/>
          <p:cNvSpPr txBox="1"/>
          <p:nvPr/>
        </p:nvSpPr>
        <p:spPr>
          <a:xfrm>
            <a:off x="3305019" y="4740627"/>
            <a:ext cx="449129" cy="44912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chemeClr val="bg1"/>
                </a:solidFill>
              </a:rPr>
              <a:t>7</a:t>
            </a:r>
            <a:endParaRPr lang="en-US" sz="1200" dirty="0"/>
          </a:p>
        </p:txBody>
      </p:sp>
      <p:sp>
        <p:nvSpPr>
          <p:cNvPr id="42" name="Etiqueta Lancaster"/>
          <p:cNvSpPr/>
          <p:nvPr/>
        </p:nvSpPr>
        <p:spPr>
          <a:xfrm>
            <a:off x="3088386" y="5235477"/>
            <a:ext cx="882396" cy="246888"/>
          </a:xfrm>
          <a:prstGeom prst="roundRect">
            <a:avLst>
              <a:gd name="adj" fmla="val 22222"/>
            </a:avLst>
          </a:prstGeom>
          <a:solidFill>
            <a:schemeClr val="bg1"/>
          </a:solidFill>
          <a:ln w="9525">
            <a:solidFill>
              <a:schemeClr val="tx2"/>
            </a:solidFill>
            <a:prstDash val="solid"/>
          </a:ln>
        </p:spPr>
      </p:sp>
      <p:sp>
        <p:nvSpPr>
          <p:cNvPr id="43" name="Text 40"/>
          <p:cNvSpPr txBox="1"/>
          <p:nvPr/>
        </p:nvSpPr>
        <p:spPr>
          <a:xfrm>
            <a:off x="3088386" y="5235477"/>
            <a:ext cx="882396" cy="2468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chemeClr val="tx2"/>
                </a:solidFill>
              </a:rPr>
              <a:t>Lancaster</a:t>
            </a:r>
            <a:endParaRPr lang="en-US" sz="1100" dirty="0"/>
          </a:p>
        </p:txBody>
      </p:sp>
      <p:sp>
        <p:nvSpPr>
          <p:cNvPr id="44" name="Zona 7 York"/>
          <p:cNvSpPr/>
          <p:nvPr/>
        </p:nvSpPr>
        <p:spPr>
          <a:xfrm>
            <a:off x="2623201" y="4909201"/>
            <a:ext cx="422878" cy="422878"/>
          </a:xfrm>
          <a:prstGeom prst="ellipse">
            <a:avLst/>
          </a:prstGeom>
          <a:solidFill>
            <a:schemeClr val="accent2"/>
          </a:solidFill>
          <a:ln w="19050">
            <a:solidFill>
              <a:schemeClr val="bg1"/>
            </a:solidFill>
            <a:prstDash val="solid"/>
          </a:ln>
        </p:spPr>
      </p:sp>
      <p:sp>
        <p:nvSpPr>
          <p:cNvPr id="45" name="Text 42"/>
          <p:cNvSpPr txBox="1"/>
          <p:nvPr/>
        </p:nvSpPr>
        <p:spPr>
          <a:xfrm>
            <a:off x="2623201" y="4909201"/>
            <a:ext cx="422878" cy="42287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chemeClr val="bg1"/>
                </a:solidFill>
              </a:rPr>
              <a:t>7</a:t>
            </a:r>
            <a:endParaRPr lang="en-US" sz="1200" dirty="0"/>
          </a:p>
        </p:txBody>
      </p:sp>
      <p:sp>
        <p:nvSpPr>
          <p:cNvPr id="46" name="Etiqueta York"/>
          <p:cNvSpPr/>
          <p:nvPr/>
        </p:nvSpPr>
        <p:spPr>
          <a:xfrm>
            <a:off x="2083705" y="4997196"/>
            <a:ext cx="493776" cy="246888"/>
          </a:xfrm>
          <a:prstGeom prst="roundRect">
            <a:avLst>
              <a:gd name="adj" fmla="val 22222"/>
            </a:avLst>
          </a:prstGeom>
          <a:solidFill>
            <a:schemeClr val="bg1"/>
          </a:solidFill>
          <a:ln w="9525">
            <a:solidFill>
              <a:schemeClr val="tx2"/>
            </a:solidFill>
            <a:prstDash val="solid"/>
          </a:ln>
        </p:spPr>
      </p:sp>
      <p:sp>
        <p:nvSpPr>
          <p:cNvPr id="47" name="Text 44"/>
          <p:cNvSpPr txBox="1"/>
          <p:nvPr/>
        </p:nvSpPr>
        <p:spPr>
          <a:xfrm>
            <a:off x="2083705" y="4997196"/>
            <a:ext cx="493776" cy="2468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chemeClr val="tx2"/>
                </a:solidFill>
              </a:rPr>
              <a:t>York</a:t>
            </a:r>
            <a:endParaRPr lang="en-US" sz="1100" dirty="0"/>
          </a:p>
        </p:txBody>
      </p:sp>
      <p:sp>
        <p:nvSpPr>
          <p:cNvPr id="48" name="Zona 8 Wilmington"/>
          <p:cNvSpPr/>
          <p:nvPr/>
        </p:nvSpPr>
        <p:spPr>
          <a:xfrm>
            <a:off x="4567872" y="5390832"/>
            <a:ext cx="410592" cy="410592"/>
          </a:xfrm>
          <a:prstGeom prst="ellipse">
            <a:avLst/>
          </a:prstGeom>
          <a:solidFill>
            <a:schemeClr val="accent2"/>
          </a:solidFill>
          <a:ln w="19050">
            <a:solidFill>
              <a:schemeClr val="bg1"/>
            </a:solidFill>
            <a:prstDash val="solid"/>
          </a:ln>
        </p:spPr>
      </p:sp>
      <p:sp>
        <p:nvSpPr>
          <p:cNvPr id="49" name="Text 46"/>
          <p:cNvSpPr txBox="1"/>
          <p:nvPr/>
        </p:nvSpPr>
        <p:spPr>
          <a:xfrm>
            <a:off x="4567872" y="5390832"/>
            <a:ext cx="410592" cy="410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chemeClr val="bg1"/>
                </a:solidFill>
              </a:rPr>
              <a:t>8</a:t>
            </a:r>
            <a:endParaRPr lang="en-US" sz="1200" dirty="0"/>
          </a:p>
        </p:txBody>
      </p:sp>
      <p:sp>
        <p:nvSpPr>
          <p:cNvPr id="50" name="Etiqueta Wilmington"/>
          <p:cNvSpPr/>
          <p:nvPr/>
        </p:nvSpPr>
        <p:spPr>
          <a:xfrm>
            <a:off x="3562032" y="5472684"/>
            <a:ext cx="960120" cy="246888"/>
          </a:xfrm>
          <a:prstGeom prst="roundRect">
            <a:avLst>
              <a:gd name="adj" fmla="val 22222"/>
            </a:avLst>
          </a:prstGeom>
          <a:solidFill>
            <a:schemeClr val="bg1"/>
          </a:solidFill>
          <a:ln w="9525">
            <a:solidFill>
              <a:schemeClr val="tx2"/>
            </a:solidFill>
            <a:prstDash val="solid"/>
          </a:ln>
        </p:spPr>
      </p:sp>
      <p:sp>
        <p:nvSpPr>
          <p:cNvPr id="51" name="Text 48"/>
          <p:cNvSpPr txBox="1"/>
          <p:nvPr/>
        </p:nvSpPr>
        <p:spPr>
          <a:xfrm>
            <a:off x="3562032" y="5472684"/>
            <a:ext cx="960120" cy="2468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chemeClr val="tx2"/>
                </a:solidFill>
              </a:rPr>
              <a:t>Wilmington</a:t>
            </a:r>
            <a:endParaRPr lang="en-US" sz="1100" dirty="0"/>
          </a:p>
        </p:txBody>
      </p:sp>
      <p:sp>
        <p:nvSpPr>
          <p:cNvPr id="52" name="Text 49"/>
          <p:cNvSpPr txBox="1"/>
          <p:nvPr/>
        </p:nvSpPr>
        <p:spPr>
          <a:xfrm>
            <a:off x="8275320" y="1554480"/>
            <a:ext cx="22860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chemeClr val="accent3"/>
                </a:solidFill>
              </a:rPr>
              <a:t>Zona</a:t>
            </a:r>
            <a:endParaRPr lang="en-US" sz="1100" dirty="0"/>
          </a:p>
        </p:txBody>
      </p:sp>
      <p:sp>
        <p:nvSpPr>
          <p:cNvPr id="53" name="Text 50"/>
          <p:cNvSpPr txBox="1"/>
          <p:nvPr/>
        </p:nvSpPr>
        <p:spPr>
          <a:xfrm>
            <a:off x="10744200" y="1554480"/>
            <a:ext cx="896112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b="1" dirty="0">
                <a:solidFill>
                  <a:schemeClr val="accent3"/>
                </a:solidFill>
              </a:rPr>
              <a:t>Líderes</a:t>
            </a:r>
            <a:endParaRPr lang="en-US" sz="1100" dirty="0"/>
          </a:p>
        </p:txBody>
      </p:sp>
      <p:sp>
        <p:nvSpPr>
          <p:cNvPr id="54" name="Shape 51"/>
          <p:cNvSpPr/>
          <p:nvPr/>
        </p:nvSpPr>
        <p:spPr>
          <a:xfrm>
            <a:off x="7818120" y="1938528"/>
            <a:ext cx="310896" cy="310896"/>
          </a:xfrm>
          <a:prstGeom prst="ellipse">
            <a:avLst/>
          </a:prstGeom>
          <a:solidFill>
            <a:schemeClr val="accent2"/>
          </a:solidFill>
          <a:ln w="12700">
            <a:solidFill>
              <a:schemeClr val="accent2"/>
            </a:solidFill>
            <a:prstDash val="solid"/>
          </a:ln>
        </p:spPr>
      </p:sp>
      <p:sp>
        <p:nvSpPr>
          <p:cNvPr id="55" name="Text 52"/>
          <p:cNvSpPr txBox="1"/>
          <p:nvPr/>
        </p:nvSpPr>
        <p:spPr>
          <a:xfrm>
            <a:off x="7818120" y="1938528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chemeClr val="bg1"/>
                </a:solidFill>
              </a:rPr>
              <a:t>1</a:t>
            </a:r>
            <a:endParaRPr lang="en-US" sz="1200" dirty="0"/>
          </a:p>
        </p:txBody>
      </p:sp>
      <p:sp>
        <p:nvSpPr>
          <p:cNvPr id="56" name="Text 53"/>
          <p:cNvSpPr txBox="1"/>
          <p:nvPr/>
        </p:nvSpPr>
        <p:spPr>
          <a:xfrm>
            <a:off x="8275320" y="1847088"/>
            <a:ext cx="2743200" cy="4937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chemeClr val="tx2"/>
                </a:solidFill>
              </a:rPr>
              <a:t>Philadelphia Noreste</a:t>
            </a:r>
            <a:endParaRPr lang="en-US" sz="1200" dirty="0"/>
          </a:p>
          <a:p>
            <a:pPr indent="0" marL="0">
              <a:buNone/>
            </a:pPr>
            <a:r>
              <a:rPr lang="en-US" sz="1100" dirty="0">
                <a:solidFill>
                  <a:schemeClr val="tx1"/>
                </a:solidFill>
              </a:rPr>
              <a:t>9,649 electores · votó 18.8 % · PRM 64.9 %</a:t>
            </a:r>
            <a:endParaRPr lang="en-US" sz="1200" dirty="0"/>
          </a:p>
        </p:txBody>
      </p:sp>
      <p:sp>
        <p:nvSpPr>
          <p:cNvPr id="57" name="Text 54"/>
          <p:cNvSpPr txBox="1"/>
          <p:nvPr/>
        </p:nvSpPr>
        <p:spPr>
          <a:xfrm>
            <a:off x="10744200" y="1847088"/>
            <a:ext cx="896112" cy="4937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800" b="1" dirty="0">
                <a:solidFill>
                  <a:schemeClr val="accent2"/>
                </a:solidFill>
              </a:rPr>
              <a:t>81</a:t>
            </a:r>
            <a:endParaRPr lang="en-US" sz="1800" dirty="0"/>
          </a:p>
        </p:txBody>
      </p:sp>
      <p:sp>
        <p:nvSpPr>
          <p:cNvPr id="58" name="Shape 55"/>
          <p:cNvSpPr/>
          <p:nvPr/>
        </p:nvSpPr>
        <p:spPr>
          <a:xfrm>
            <a:off x="7818120" y="2446020"/>
            <a:ext cx="310896" cy="310896"/>
          </a:xfrm>
          <a:prstGeom prst="ellipse">
            <a:avLst/>
          </a:prstGeom>
          <a:solidFill>
            <a:schemeClr val="accent2"/>
          </a:solidFill>
          <a:ln w="12700">
            <a:solidFill>
              <a:schemeClr val="accent2"/>
            </a:solidFill>
            <a:prstDash val="solid"/>
          </a:ln>
        </p:spPr>
      </p:sp>
      <p:sp>
        <p:nvSpPr>
          <p:cNvPr id="59" name="Text 56"/>
          <p:cNvSpPr txBox="1"/>
          <p:nvPr/>
        </p:nvSpPr>
        <p:spPr>
          <a:xfrm>
            <a:off x="7818120" y="2446020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chemeClr val="bg1"/>
                </a:solidFill>
              </a:rPr>
              <a:t>2</a:t>
            </a:r>
            <a:endParaRPr lang="en-US" sz="1200" dirty="0"/>
          </a:p>
        </p:txBody>
      </p:sp>
      <p:sp>
        <p:nvSpPr>
          <p:cNvPr id="60" name="Text 57"/>
          <p:cNvSpPr txBox="1"/>
          <p:nvPr/>
        </p:nvSpPr>
        <p:spPr>
          <a:xfrm>
            <a:off x="8275320" y="2354580"/>
            <a:ext cx="2743200" cy="4937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chemeClr val="tx2"/>
                </a:solidFill>
              </a:rPr>
              <a:t>Philadelphia Kensington</a:t>
            </a:r>
            <a:endParaRPr lang="en-US" sz="1200" dirty="0"/>
          </a:p>
          <a:p>
            <a:pPr indent="0" marL="0">
              <a:buNone/>
            </a:pPr>
            <a:r>
              <a:rPr lang="en-US" sz="1100" dirty="0">
                <a:solidFill>
                  <a:schemeClr val="tx1"/>
                </a:solidFill>
              </a:rPr>
              <a:t>6,588 electores · votó 16.9 % · PRM 65.8 %</a:t>
            </a:r>
            <a:endParaRPr lang="en-US" sz="1200" dirty="0"/>
          </a:p>
        </p:txBody>
      </p:sp>
      <p:sp>
        <p:nvSpPr>
          <p:cNvPr id="61" name="Text 58"/>
          <p:cNvSpPr txBox="1"/>
          <p:nvPr/>
        </p:nvSpPr>
        <p:spPr>
          <a:xfrm>
            <a:off x="10744200" y="2354580"/>
            <a:ext cx="896112" cy="4937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800" b="1" dirty="0">
                <a:solidFill>
                  <a:schemeClr val="accent2"/>
                </a:solidFill>
              </a:rPr>
              <a:t>55</a:t>
            </a:r>
            <a:endParaRPr lang="en-US" sz="1800" dirty="0"/>
          </a:p>
        </p:txBody>
      </p:sp>
      <p:sp>
        <p:nvSpPr>
          <p:cNvPr id="62" name="Shape 59"/>
          <p:cNvSpPr/>
          <p:nvPr/>
        </p:nvSpPr>
        <p:spPr>
          <a:xfrm>
            <a:off x="7818120" y="2953512"/>
            <a:ext cx="310896" cy="310896"/>
          </a:xfrm>
          <a:prstGeom prst="ellipse">
            <a:avLst/>
          </a:prstGeom>
          <a:solidFill>
            <a:schemeClr val="accent2"/>
          </a:solidFill>
          <a:ln w="12700">
            <a:solidFill>
              <a:schemeClr val="accent2"/>
            </a:solidFill>
            <a:prstDash val="solid"/>
          </a:ln>
        </p:spPr>
      </p:sp>
      <p:sp>
        <p:nvSpPr>
          <p:cNvPr id="63" name="Text 60"/>
          <p:cNvSpPr txBox="1"/>
          <p:nvPr/>
        </p:nvSpPr>
        <p:spPr>
          <a:xfrm>
            <a:off x="7818120" y="2953512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chemeClr val="bg1"/>
                </a:solidFill>
              </a:rPr>
              <a:t>3</a:t>
            </a:r>
            <a:endParaRPr lang="en-US" sz="1200" dirty="0"/>
          </a:p>
        </p:txBody>
      </p:sp>
      <p:sp>
        <p:nvSpPr>
          <p:cNvPr id="64" name="Text 61"/>
          <p:cNvSpPr txBox="1"/>
          <p:nvPr/>
        </p:nvSpPr>
        <p:spPr>
          <a:xfrm>
            <a:off x="8275320" y="2862072"/>
            <a:ext cx="2743200" cy="4937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chemeClr val="tx2"/>
                </a:solidFill>
              </a:rPr>
              <a:t>Berks (Reading)</a:t>
            </a:r>
            <a:endParaRPr lang="en-US" sz="1200" dirty="0"/>
          </a:p>
          <a:p>
            <a:pPr indent="0" marL="0">
              <a:buNone/>
            </a:pPr>
            <a:r>
              <a:rPr lang="en-US" sz="1100" dirty="0">
                <a:solidFill>
                  <a:schemeClr val="tx1"/>
                </a:solidFill>
              </a:rPr>
              <a:t>8,368 electores · votó 18.8 % · PRM 59.5 %</a:t>
            </a:r>
            <a:endParaRPr lang="en-US" sz="1200" dirty="0"/>
          </a:p>
        </p:txBody>
      </p:sp>
      <p:sp>
        <p:nvSpPr>
          <p:cNvPr id="65" name="Text 62"/>
          <p:cNvSpPr txBox="1"/>
          <p:nvPr/>
        </p:nvSpPr>
        <p:spPr>
          <a:xfrm>
            <a:off x="10744200" y="2862072"/>
            <a:ext cx="896112" cy="4937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800" b="1" dirty="0">
                <a:solidFill>
                  <a:schemeClr val="accent2"/>
                </a:solidFill>
              </a:rPr>
              <a:t>70</a:t>
            </a:r>
            <a:endParaRPr lang="en-US" sz="1800" dirty="0"/>
          </a:p>
        </p:txBody>
      </p:sp>
      <p:sp>
        <p:nvSpPr>
          <p:cNvPr id="66" name="Shape 63"/>
          <p:cNvSpPr/>
          <p:nvPr/>
        </p:nvSpPr>
        <p:spPr>
          <a:xfrm>
            <a:off x="7818120" y="3461004"/>
            <a:ext cx="310896" cy="310896"/>
          </a:xfrm>
          <a:prstGeom prst="ellipse">
            <a:avLst/>
          </a:prstGeom>
          <a:solidFill>
            <a:schemeClr val="accent2"/>
          </a:solidFill>
          <a:ln w="12700">
            <a:solidFill>
              <a:schemeClr val="accent2"/>
            </a:solidFill>
            <a:prstDash val="solid"/>
          </a:ln>
        </p:spPr>
      </p:sp>
      <p:sp>
        <p:nvSpPr>
          <p:cNvPr id="67" name="Text 64"/>
          <p:cNvSpPr txBox="1"/>
          <p:nvPr/>
        </p:nvSpPr>
        <p:spPr>
          <a:xfrm>
            <a:off x="7818120" y="3461004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chemeClr val="bg1"/>
                </a:solidFill>
              </a:rPr>
              <a:t>4</a:t>
            </a:r>
            <a:endParaRPr lang="en-US" sz="1200" dirty="0"/>
          </a:p>
        </p:txBody>
      </p:sp>
      <p:sp>
        <p:nvSpPr>
          <p:cNvPr id="68" name="Text 65"/>
          <p:cNvSpPr txBox="1"/>
          <p:nvPr/>
        </p:nvSpPr>
        <p:spPr>
          <a:xfrm>
            <a:off x="8275320" y="3369564"/>
            <a:ext cx="2743200" cy="4937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chemeClr val="tx2"/>
                </a:solidFill>
              </a:rPr>
              <a:t>Lehigh Valley (Allentown)</a:t>
            </a:r>
            <a:endParaRPr lang="en-US" sz="1200" dirty="0"/>
          </a:p>
          <a:p>
            <a:pPr indent="0" marL="0">
              <a:buNone/>
            </a:pPr>
            <a:r>
              <a:rPr lang="en-US" sz="1100" dirty="0">
                <a:solidFill>
                  <a:schemeClr val="tx1"/>
                </a:solidFill>
              </a:rPr>
              <a:t>8,183 electores · votó 20.7 % · PRM 63.0 %</a:t>
            </a:r>
            <a:endParaRPr lang="en-US" sz="1200" dirty="0"/>
          </a:p>
        </p:txBody>
      </p:sp>
      <p:sp>
        <p:nvSpPr>
          <p:cNvPr id="69" name="Text 66"/>
          <p:cNvSpPr txBox="1"/>
          <p:nvPr/>
        </p:nvSpPr>
        <p:spPr>
          <a:xfrm>
            <a:off x="10744200" y="3369564"/>
            <a:ext cx="896112" cy="4937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800" b="1" dirty="0">
                <a:solidFill>
                  <a:schemeClr val="accent2"/>
                </a:solidFill>
              </a:rPr>
              <a:t>69</a:t>
            </a:r>
            <a:endParaRPr lang="en-US" sz="1800" dirty="0"/>
          </a:p>
        </p:txBody>
      </p:sp>
      <p:sp>
        <p:nvSpPr>
          <p:cNvPr id="70" name="Shape 67"/>
          <p:cNvSpPr/>
          <p:nvPr/>
        </p:nvSpPr>
        <p:spPr>
          <a:xfrm>
            <a:off x="7818120" y="3968496"/>
            <a:ext cx="310896" cy="310896"/>
          </a:xfrm>
          <a:prstGeom prst="ellipse">
            <a:avLst/>
          </a:prstGeom>
          <a:solidFill>
            <a:schemeClr val="accent2"/>
          </a:solidFill>
          <a:ln w="12700">
            <a:solidFill>
              <a:schemeClr val="accent2"/>
            </a:solidFill>
            <a:prstDash val="solid"/>
          </a:ln>
        </p:spPr>
      </p:sp>
      <p:sp>
        <p:nvSpPr>
          <p:cNvPr id="71" name="Text 68"/>
          <p:cNvSpPr txBox="1"/>
          <p:nvPr/>
        </p:nvSpPr>
        <p:spPr>
          <a:xfrm>
            <a:off x="7818120" y="3968496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chemeClr val="bg1"/>
                </a:solidFill>
              </a:rPr>
              <a:t>5</a:t>
            </a:r>
            <a:endParaRPr lang="en-US" sz="1200" dirty="0"/>
          </a:p>
        </p:txBody>
      </p:sp>
      <p:sp>
        <p:nvSpPr>
          <p:cNvPr id="72" name="Text 69"/>
          <p:cNvSpPr txBox="1"/>
          <p:nvPr/>
        </p:nvSpPr>
        <p:spPr>
          <a:xfrm>
            <a:off x="8275320" y="3877056"/>
            <a:ext cx="2743200" cy="4937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chemeClr val="tx2"/>
                </a:solidFill>
              </a:rPr>
              <a:t>Hazleton</a:t>
            </a:r>
            <a:endParaRPr lang="en-US" sz="1200" dirty="0"/>
          </a:p>
          <a:p>
            <a:pPr indent="0" marL="0">
              <a:buNone/>
            </a:pPr>
            <a:r>
              <a:rPr lang="en-US" sz="1100" dirty="0">
                <a:solidFill>
                  <a:schemeClr val="tx1"/>
                </a:solidFill>
              </a:rPr>
              <a:t>6,520 electores · votó 17.8 % · PRM 65.6 %</a:t>
            </a:r>
            <a:endParaRPr lang="en-US" sz="1200" dirty="0"/>
          </a:p>
        </p:txBody>
      </p:sp>
      <p:sp>
        <p:nvSpPr>
          <p:cNvPr id="73" name="Text 70"/>
          <p:cNvSpPr txBox="1"/>
          <p:nvPr/>
        </p:nvSpPr>
        <p:spPr>
          <a:xfrm>
            <a:off x="10744200" y="3877056"/>
            <a:ext cx="896112" cy="4937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800" b="1" dirty="0">
                <a:solidFill>
                  <a:schemeClr val="accent2"/>
                </a:solidFill>
              </a:rPr>
              <a:t>55</a:t>
            </a:r>
            <a:endParaRPr lang="en-US" sz="1800" dirty="0"/>
          </a:p>
        </p:txBody>
      </p:sp>
      <p:sp>
        <p:nvSpPr>
          <p:cNvPr id="74" name="Shape 71"/>
          <p:cNvSpPr/>
          <p:nvPr/>
        </p:nvSpPr>
        <p:spPr>
          <a:xfrm>
            <a:off x="7818120" y="4475988"/>
            <a:ext cx="310896" cy="310896"/>
          </a:xfrm>
          <a:prstGeom prst="ellipse">
            <a:avLst/>
          </a:prstGeom>
          <a:solidFill>
            <a:schemeClr val="accent2"/>
          </a:solidFill>
          <a:ln w="12700">
            <a:solidFill>
              <a:schemeClr val="accent2"/>
            </a:solidFill>
            <a:prstDash val="solid"/>
          </a:ln>
        </p:spPr>
      </p:sp>
      <p:sp>
        <p:nvSpPr>
          <p:cNvPr id="75" name="Text 72"/>
          <p:cNvSpPr txBox="1"/>
          <p:nvPr/>
        </p:nvSpPr>
        <p:spPr>
          <a:xfrm>
            <a:off x="7818120" y="4475988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chemeClr val="bg1"/>
                </a:solidFill>
              </a:rPr>
              <a:t>6</a:t>
            </a:r>
            <a:endParaRPr lang="en-US" sz="1200" dirty="0"/>
          </a:p>
        </p:txBody>
      </p:sp>
      <p:sp>
        <p:nvSpPr>
          <p:cNvPr id="76" name="Text 73"/>
          <p:cNvSpPr txBox="1"/>
          <p:nvPr/>
        </p:nvSpPr>
        <p:spPr>
          <a:xfrm>
            <a:off x="8275320" y="4384548"/>
            <a:ext cx="2743200" cy="4937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chemeClr val="tx2"/>
                </a:solidFill>
              </a:rPr>
              <a:t>Wilkes-Barre y Scranton</a:t>
            </a:r>
            <a:endParaRPr lang="en-US" sz="1200" dirty="0"/>
          </a:p>
          <a:p>
            <a:pPr indent="0" marL="0">
              <a:buNone/>
            </a:pPr>
            <a:r>
              <a:rPr lang="en-US" sz="1100" dirty="0">
                <a:solidFill>
                  <a:schemeClr val="tx1"/>
                </a:solidFill>
              </a:rPr>
              <a:t>1,767 electores · votó 15.3 % · PRM 63.5 %</a:t>
            </a:r>
            <a:endParaRPr lang="en-US" sz="1200" dirty="0"/>
          </a:p>
        </p:txBody>
      </p:sp>
      <p:sp>
        <p:nvSpPr>
          <p:cNvPr id="77" name="Text 74"/>
          <p:cNvSpPr txBox="1"/>
          <p:nvPr/>
        </p:nvSpPr>
        <p:spPr>
          <a:xfrm>
            <a:off x="10744200" y="4384548"/>
            <a:ext cx="896112" cy="4937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800" b="1" dirty="0">
                <a:solidFill>
                  <a:schemeClr val="accent2"/>
                </a:solidFill>
              </a:rPr>
              <a:t>15</a:t>
            </a:r>
            <a:endParaRPr lang="en-US" sz="1800" dirty="0"/>
          </a:p>
        </p:txBody>
      </p:sp>
      <p:sp>
        <p:nvSpPr>
          <p:cNvPr id="78" name="Shape 75"/>
          <p:cNvSpPr/>
          <p:nvPr/>
        </p:nvSpPr>
        <p:spPr>
          <a:xfrm>
            <a:off x="7818120" y="4983480"/>
            <a:ext cx="310896" cy="310896"/>
          </a:xfrm>
          <a:prstGeom prst="ellipse">
            <a:avLst/>
          </a:prstGeom>
          <a:solidFill>
            <a:schemeClr val="accent2"/>
          </a:solidFill>
          <a:ln w="12700">
            <a:solidFill>
              <a:schemeClr val="accent2"/>
            </a:solidFill>
            <a:prstDash val="solid"/>
          </a:ln>
        </p:spPr>
      </p:sp>
      <p:sp>
        <p:nvSpPr>
          <p:cNvPr id="79" name="Text 76"/>
          <p:cNvSpPr txBox="1"/>
          <p:nvPr/>
        </p:nvSpPr>
        <p:spPr>
          <a:xfrm>
            <a:off x="7818120" y="4983480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chemeClr val="bg1"/>
                </a:solidFill>
              </a:rPr>
              <a:t>7</a:t>
            </a:r>
            <a:endParaRPr lang="en-US" sz="1200" dirty="0"/>
          </a:p>
        </p:txBody>
      </p:sp>
      <p:sp>
        <p:nvSpPr>
          <p:cNvPr id="80" name="Text 77"/>
          <p:cNvSpPr txBox="1"/>
          <p:nvPr/>
        </p:nvSpPr>
        <p:spPr>
          <a:xfrm>
            <a:off x="8275320" y="4892040"/>
            <a:ext cx="2743200" cy="4937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chemeClr val="tx2"/>
                </a:solidFill>
              </a:rPr>
              <a:t>Harrisburg, Lancaster, York y Lebanon</a:t>
            </a:r>
            <a:endParaRPr lang="en-US" sz="1200" dirty="0"/>
          </a:p>
          <a:p>
            <a:pPr indent="0" marL="0">
              <a:buNone/>
            </a:pPr>
            <a:r>
              <a:rPr lang="en-US" sz="1100" dirty="0">
                <a:solidFill>
                  <a:schemeClr val="tx1"/>
                </a:solidFill>
              </a:rPr>
              <a:t>5,450 electores · votó 20.9 % · PRM 61.6 %</a:t>
            </a:r>
            <a:endParaRPr lang="en-US" sz="1200" dirty="0"/>
          </a:p>
        </p:txBody>
      </p:sp>
      <p:sp>
        <p:nvSpPr>
          <p:cNvPr id="81" name="Text 78"/>
          <p:cNvSpPr txBox="1"/>
          <p:nvPr/>
        </p:nvSpPr>
        <p:spPr>
          <a:xfrm>
            <a:off x="10744200" y="4892040"/>
            <a:ext cx="896112" cy="4937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800" b="1" dirty="0">
                <a:solidFill>
                  <a:schemeClr val="accent2"/>
                </a:solidFill>
              </a:rPr>
              <a:t>46</a:t>
            </a:r>
            <a:endParaRPr lang="en-US" sz="1800" dirty="0"/>
          </a:p>
        </p:txBody>
      </p:sp>
      <p:sp>
        <p:nvSpPr>
          <p:cNvPr id="82" name="Shape 79"/>
          <p:cNvSpPr/>
          <p:nvPr/>
        </p:nvSpPr>
        <p:spPr>
          <a:xfrm>
            <a:off x="7818120" y="5490972"/>
            <a:ext cx="310896" cy="310896"/>
          </a:xfrm>
          <a:prstGeom prst="ellipse">
            <a:avLst/>
          </a:prstGeom>
          <a:solidFill>
            <a:schemeClr val="accent2"/>
          </a:solidFill>
          <a:ln w="12700">
            <a:solidFill>
              <a:schemeClr val="accent2"/>
            </a:solidFill>
            <a:prstDash val="solid"/>
          </a:ln>
        </p:spPr>
      </p:sp>
      <p:sp>
        <p:nvSpPr>
          <p:cNvPr id="83" name="Text 80"/>
          <p:cNvSpPr txBox="1"/>
          <p:nvPr/>
        </p:nvSpPr>
        <p:spPr>
          <a:xfrm>
            <a:off x="7818120" y="5490972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chemeClr val="bg1"/>
                </a:solidFill>
              </a:rPr>
              <a:t>8</a:t>
            </a:r>
            <a:endParaRPr lang="en-US" sz="1200" dirty="0"/>
          </a:p>
        </p:txBody>
      </p:sp>
      <p:sp>
        <p:nvSpPr>
          <p:cNvPr id="84" name="Text 81"/>
          <p:cNvSpPr txBox="1"/>
          <p:nvPr/>
        </p:nvSpPr>
        <p:spPr>
          <a:xfrm>
            <a:off x="8275320" y="5399532"/>
            <a:ext cx="2743200" cy="4937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chemeClr val="tx2"/>
                </a:solidFill>
              </a:rPr>
              <a:t>Delaware (Wilmington)</a:t>
            </a:r>
            <a:endParaRPr lang="en-US" sz="1200" dirty="0"/>
          </a:p>
          <a:p>
            <a:pPr indent="0" marL="0">
              <a:buNone/>
            </a:pPr>
            <a:r>
              <a:rPr lang="en-US" sz="1100" dirty="0">
                <a:solidFill>
                  <a:schemeClr val="tx1"/>
                </a:solidFill>
              </a:rPr>
              <a:t>1,004 electores · votó 17.0 % · PRM 65.9 %</a:t>
            </a:r>
            <a:endParaRPr lang="en-US" sz="1200" dirty="0"/>
          </a:p>
        </p:txBody>
      </p:sp>
      <p:sp>
        <p:nvSpPr>
          <p:cNvPr id="85" name="Text 82"/>
          <p:cNvSpPr txBox="1"/>
          <p:nvPr/>
        </p:nvSpPr>
        <p:spPr>
          <a:xfrm>
            <a:off x="10744200" y="5399532"/>
            <a:ext cx="896112" cy="4937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800" b="1" dirty="0">
                <a:solidFill>
                  <a:schemeClr val="accent2"/>
                </a:solidFill>
              </a:rPr>
              <a:t>9</a:t>
            </a:r>
            <a:endParaRPr lang="en-US" sz="1800" dirty="0"/>
          </a:p>
        </p:txBody>
      </p:sp>
      <p:sp>
        <p:nvSpPr>
          <p:cNvPr id="86" name="Fuente"/>
          <p:cNvSpPr txBox="1"/>
          <p:nvPr/>
        </p:nvSpPr>
        <p:spPr>
          <a:xfrm>
            <a:off x="548640" y="5989320"/>
            <a:ext cx="1109167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i="1" dirty="0">
                <a:solidFill>
                  <a:schemeClr val="accent4"/>
                </a:solidFill>
              </a:rPr>
              <a:t>Electores: Seccional PRM Pennsylvania (2024). Cada círculo es una ciudad; el número indica su zona y el tamaño, sus electores. Versión interactiva en el enlace web.</a:t>
            </a:r>
            <a:endParaRPr lang="en-US" sz="1000" dirty="0"/>
          </a:p>
        </p:txBody>
      </p:sp>
      <p:sp>
        <p:nvSpPr>
          <p:cNvPr id="88" name="Barra de navegación"/>
          <p:cNvSpPr/>
          <p:nvPr/>
        </p:nvSpPr>
        <p:spPr>
          <a:xfrm>
            <a:off x="0" y="0"/>
            <a:ext cx="12191695" cy="384048"/>
          </a:xfrm>
          <a:prstGeom prst="rect">
            <a:avLst/>
          </a:prstGeom>
          <a:solidFill>
            <a:srgbClr val="F4F7FB"/>
          </a:solidFill>
          <a:ln w="12700">
            <a:solidFill>
              <a:srgbClr val="F4F7FB"/>
            </a:solidFill>
            <a:prstDash val="solid"/>
          </a:ln>
        </p:spPr>
      </p:sp>
      <p:sp>
        <p:nvSpPr>
          <p:cNvPr id="89" name="Shape 85"/>
          <p:cNvSpPr/>
          <p:nvPr/>
        </p:nvSpPr>
        <p:spPr>
          <a:xfrm>
            <a:off x="0" y="384048"/>
            <a:ext cx="12191695" cy="0"/>
          </a:xfrm>
          <a:prstGeom prst="line">
            <a:avLst/>
          </a:prstGeom>
          <a:noFill/>
          <a:ln w="9525">
            <a:solidFill>
              <a:srgbClr val="D6DEEA"/>
            </a:solidFill>
            <a:prstDash val="solid"/>
          </a:ln>
        </p:spPr>
      </p:sp>
      <p:sp>
        <p:nvSpPr>
          <p:cNvPr id="90" name="Pestaña Diagnóstico"/>
          <p:cNvSpPr txBox="1"/>
          <p:nvPr/>
        </p:nvSpPr>
        <p:spPr>
          <a:xfrm>
            <a:off x="548640" y="0"/>
            <a:ext cx="277291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spc="150" kern="0" dirty="0">
                <a:solidFill>
                  <a:srgbClr val="002B63"/>
                </a:solidFill>
              </a:rPr>
              <a:t>DIAGNÓSTICO</a:t>
            </a:r>
            <a:endParaRPr lang="en-US" sz="1000" dirty="0"/>
          </a:p>
        </p:txBody>
      </p:sp>
      <p:sp>
        <p:nvSpPr>
          <p:cNvPr id="91" name="Sección actual"/>
          <p:cNvSpPr/>
          <p:nvPr/>
        </p:nvSpPr>
        <p:spPr>
          <a:xfrm>
            <a:off x="1380515" y="338328"/>
            <a:ext cx="1109167" cy="45720"/>
          </a:xfrm>
          <a:prstGeom prst="rect">
            <a:avLst/>
          </a:prstGeom>
          <a:solidFill>
            <a:srgbClr val="DA1822"/>
          </a:solidFill>
          <a:ln w="12700">
            <a:solidFill>
              <a:srgbClr val="DA1822"/>
            </a:solidFill>
            <a:prstDash val="solid"/>
          </a:ln>
        </p:spPr>
      </p:sp>
      <p:sp>
        <p:nvSpPr>
          <p:cNvPr id="92" name="Pestaña Meta"/>
          <p:cNvSpPr txBox="1"/>
          <p:nvPr/>
        </p:nvSpPr>
        <p:spPr>
          <a:xfrm>
            <a:off x="3321558" y="0"/>
            <a:ext cx="277291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u="none" spc="150" kern="0" dirty="0">
                <a:solidFill>
                  <a:srgbClr val="5A6B86"/>
                </a:solidFill>
                <a:hlinkClick r:id="rId2" action="ppaction://hlinksldjump" tooltip="Ir a Meta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META</a:t>
            </a:r>
            <a:endParaRPr lang="en-US" sz="1000" dirty="0"/>
          </a:p>
        </p:txBody>
      </p:sp>
      <p:sp>
        <p:nvSpPr>
          <p:cNvPr id="93" name="Pestaña Plan y recomendación"/>
          <p:cNvSpPr txBox="1"/>
          <p:nvPr/>
        </p:nvSpPr>
        <p:spPr>
          <a:xfrm>
            <a:off x="6094476" y="0"/>
            <a:ext cx="277291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u="none" spc="150" kern="0" dirty="0">
                <a:solidFill>
                  <a:srgbClr val="5A6B86"/>
                </a:solidFill>
                <a:hlinkClick r:id="rId3" action="ppaction://hlinksldjump" tooltip="Ir a Plan y recomendación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PLAN Y RECOMENDACIÓN</a:t>
            </a:r>
            <a:endParaRPr lang="en-US" sz="1000" dirty="0"/>
          </a:p>
        </p:txBody>
      </p:sp>
      <p:sp>
        <p:nvSpPr>
          <p:cNvPr id="94" name="Pestaña Ficha técnica"/>
          <p:cNvSpPr txBox="1"/>
          <p:nvPr/>
        </p:nvSpPr>
        <p:spPr>
          <a:xfrm>
            <a:off x="8867394" y="0"/>
            <a:ext cx="277291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u="none" spc="150" kern="0" dirty="0">
                <a:solidFill>
                  <a:srgbClr val="5A6B86"/>
                </a:solidFill>
                <a:hlinkClick r:id="rId4" action="ppaction://hlinksldjump" tooltip="Ir a Ficha técnica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FICHA TÉCNICA</a:t>
            </a:r>
            <a:endParaRPr lang="en-US" sz="10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55680" y="640080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accent4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3</a:t>
            </a:fld>
            <a:endParaRPr lang="en-US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title" hasCustomPrompt="1"/>
          </p:nvPr>
        </p:nvSpPr>
        <p:spPr>
          <a:xfrm>
            <a:off x="548640" y="502920"/>
            <a:ext cx="11091672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800" b="1" dirty="0">
                <a:solidFill>
                  <a:schemeClr val="tx2"/>
                </a:solidFill>
              </a:rPr>
              <a:t>Meta: 6,140 votos para David Collado, un 10 % más que el PRM y aliados en 2024</a:t>
            </a:r>
            <a:endParaRPr lang="en-US" sz="2800" dirty="0"/>
          </a:p>
        </p:txBody>
      </p:sp>
      <p:graphicFrame>
        <p:nvGraphicFramePr>
          <p:cNvPr id="3" name="Comparacion PRM" descr=""/>
          <p:cNvGraphicFramePr/>
          <p:nvPr/>
        </p:nvGraphicFramePr>
        <p:xfrm>
          <a:off x="548640" y="1600200"/>
          <a:ext cx="6675120" cy="379476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1"/>
          </a:graphicData>
        </a:graphic>
      </p:graphicFrame>
      <p:sp>
        <p:nvSpPr>
          <p:cNvPr id="4" name="Text 1"/>
          <p:cNvSpPr txBox="1"/>
          <p:nvPr/>
        </p:nvSpPr>
        <p:spPr>
          <a:xfrm>
            <a:off x="548640" y="5440680"/>
            <a:ext cx="667512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chemeClr val="tx2"/>
                </a:solidFill>
              </a:rPr>
              <a:t>Red de 4,000 votantes comprometidos: </a:t>
            </a:r>
            <a:pPr indent="0" marL="0">
              <a:buNone/>
            </a:pPr>
            <a:r>
              <a:rPr lang="en-US" sz="1400" dirty="0">
                <a:solidFill>
                  <a:schemeClr val="tx1"/>
                </a:solidFill>
              </a:rPr>
              <a:t>si vota el 85 %, son unos 3,400 votos, el 55 % de la meta.</a:t>
            </a:r>
            <a:endParaRPr lang="en-US" sz="1400" dirty="0"/>
          </a:p>
        </p:txBody>
      </p:sp>
      <p:sp>
        <p:nvSpPr>
          <p:cNvPr id="5" name="Tres niveles"/>
          <p:cNvSpPr/>
          <p:nvPr/>
        </p:nvSpPr>
        <p:spPr>
          <a:xfrm>
            <a:off x="7589520" y="1600200"/>
            <a:ext cx="4050792" cy="1874520"/>
          </a:xfrm>
          <a:prstGeom prst="roundRect">
            <a:avLst>
              <a:gd name="adj" fmla="val 3902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6" name="Text 3"/>
          <p:cNvSpPr txBox="1"/>
          <p:nvPr/>
        </p:nvSpPr>
        <p:spPr>
          <a:xfrm>
            <a:off x="7818120" y="1691640"/>
            <a:ext cx="36118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chemeClr val="tx2"/>
                </a:solidFill>
              </a:rPr>
              <a:t>Tres niveles de meta</a:t>
            </a:r>
            <a:endParaRPr lang="en-US" sz="1700" dirty="0"/>
          </a:p>
        </p:txBody>
      </p:sp>
      <p:sp>
        <p:nvSpPr>
          <p:cNvPr id="7" name="Text 4"/>
          <p:cNvSpPr txBox="1"/>
          <p:nvPr/>
        </p:nvSpPr>
        <p:spPr>
          <a:xfrm>
            <a:off x="7818120" y="2121408"/>
            <a:ext cx="237744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chemeClr val="tx2"/>
                </a:solidFill>
              </a:rPr>
              <a:t>Piso  </a:t>
            </a:r>
            <a:pPr indent="0" marL="0">
              <a:buNone/>
            </a:pPr>
            <a:r>
              <a:rPr lang="en-US" sz="1500" dirty="0">
                <a:solidFill>
                  <a:schemeClr val="tx1"/>
                </a:solidFill>
              </a:rPr>
              <a:t>igualar 2024</a:t>
            </a:r>
            <a:endParaRPr lang="en-US" sz="1500" dirty="0"/>
          </a:p>
        </p:txBody>
      </p:sp>
      <p:sp>
        <p:nvSpPr>
          <p:cNvPr id="8" name="Text 5"/>
          <p:cNvSpPr txBox="1"/>
          <p:nvPr/>
        </p:nvSpPr>
        <p:spPr>
          <a:xfrm>
            <a:off x="10058400" y="2121408"/>
            <a:ext cx="13716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500" b="1" dirty="0">
                <a:solidFill>
                  <a:schemeClr val="tx2"/>
                </a:solidFill>
              </a:rPr>
              <a:t>5,581 votos</a:t>
            </a:r>
            <a:endParaRPr lang="en-US" sz="1500" dirty="0"/>
          </a:p>
        </p:txBody>
      </p:sp>
      <p:sp>
        <p:nvSpPr>
          <p:cNvPr id="9" name="Text 6"/>
          <p:cNvSpPr txBox="1"/>
          <p:nvPr/>
        </p:nvSpPr>
        <p:spPr>
          <a:xfrm>
            <a:off x="7818120" y="2551176"/>
            <a:ext cx="237744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chemeClr val="accent2"/>
                </a:solidFill>
              </a:rPr>
              <a:t>Meta  </a:t>
            </a:r>
            <a:pPr indent="0" marL="0">
              <a:buNone/>
            </a:pPr>
            <a:r>
              <a:rPr lang="en-US" sz="1500" dirty="0">
                <a:solidFill>
                  <a:schemeClr val="tx1"/>
                </a:solidFill>
              </a:rPr>
              <a:t>+10 %</a:t>
            </a:r>
            <a:endParaRPr lang="en-US" sz="1500" dirty="0"/>
          </a:p>
        </p:txBody>
      </p:sp>
      <p:sp>
        <p:nvSpPr>
          <p:cNvPr id="10" name="Text 7"/>
          <p:cNvSpPr txBox="1"/>
          <p:nvPr/>
        </p:nvSpPr>
        <p:spPr>
          <a:xfrm>
            <a:off x="10058400" y="2551176"/>
            <a:ext cx="13716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500" b="1" dirty="0">
                <a:solidFill>
                  <a:schemeClr val="accent2"/>
                </a:solidFill>
              </a:rPr>
              <a:t>6,140 votos</a:t>
            </a:r>
            <a:endParaRPr lang="en-US" sz="1500" dirty="0"/>
          </a:p>
        </p:txBody>
      </p:sp>
      <p:sp>
        <p:nvSpPr>
          <p:cNvPr id="11" name="Text 8"/>
          <p:cNvSpPr txBox="1"/>
          <p:nvPr/>
        </p:nvSpPr>
        <p:spPr>
          <a:xfrm>
            <a:off x="7818120" y="2980944"/>
            <a:ext cx="237744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chemeClr val="tx2"/>
                </a:solidFill>
              </a:rPr>
              <a:t>Techo  </a:t>
            </a:r>
            <a:pPr indent="0" marL="0">
              <a:buNone/>
            </a:pPr>
            <a:r>
              <a:rPr lang="en-US" sz="1500" dirty="0">
                <a:solidFill>
                  <a:schemeClr val="tx1"/>
                </a:solidFill>
              </a:rPr>
              <a:t>+20 %</a:t>
            </a:r>
            <a:endParaRPr lang="en-US" sz="1500" dirty="0"/>
          </a:p>
        </p:txBody>
      </p:sp>
      <p:sp>
        <p:nvSpPr>
          <p:cNvPr id="12" name="Text 9"/>
          <p:cNvSpPr txBox="1"/>
          <p:nvPr/>
        </p:nvSpPr>
        <p:spPr>
          <a:xfrm>
            <a:off x="10058400" y="2980944"/>
            <a:ext cx="13716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500" b="1" dirty="0">
                <a:solidFill>
                  <a:schemeClr val="tx2"/>
                </a:solidFill>
              </a:rPr>
              <a:t>6,700 votos</a:t>
            </a:r>
            <a:endParaRPr lang="en-US" sz="1500" dirty="0"/>
          </a:p>
        </p:txBody>
      </p:sp>
      <p:sp>
        <p:nvSpPr>
          <p:cNvPr id="13" name="Desgaste"/>
          <p:cNvSpPr/>
          <p:nvPr/>
        </p:nvSpPr>
        <p:spPr>
          <a:xfrm>
            <a:off x="7589520" y="3657600"/>
            <a:ext cx="4050792" cy="2194560"/>
          </a:xfrm>
          <a:prstGeom prst="roundRect">
            <a:avLst>
              <a:gd name="adj" fmla="val 3333"/>
            </a:avLst>
          </a:prstGeom>
          <a:solidFill>
            <a:schemeClr val="tx2"/>
          </a:solidFill>
          <a:ln w="12700">
            <a:solidFill>
              <a:schemeClr val="tx2"/>
            </a:solidFill>
            <a:prstDash val="solid"/>
          </a:ln>
        </p:spPr>
      </p:sp>
      <p:sp>
        <p:nvSpPr>
          <p:cNvPr id="14" name="Text 11"/>
          <p:cNvSpPr txBox="1"/>
          <p:nvPr/>
        </p:nvSpPr>
        <p:spPr>
          <a:xfrm>
            <a:off x="7818120" y="3749040"/>
            <a:ext cx="36118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chemeClr val="bg1"/>
                </a:solidFill>
              </a:rPr>
              <a:t>Si hay desgaste: participación necesaria para la meta</a:t>
            </a:r>
            <a:endParaRPr lang="en-US" sz="1500" dirty="0"/>
          </a:p>
        </p:txBody>
      </p:sp>
      <p:sp>
        <p:nvSpPr>
          <p:cNvPr id="15" name="Text 12"/>
          <p:cNvSpPr txBox="1"/>
          <p:nvPr/>
        </p:nvSpPr>
        <p:spPr>
          <a:xfrm>
            <a:off x="7818120" y="4370832"/>
            <a:ext cx="27432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chemeClr val="accent4"/>
                </a:solidFill>
              </a:rPr>
              <a:t>Collado al 63 % (como 2024)</a:t>
            </a:r>
            <a:endParaRPr lang="en-US" sz="1300" dirty="0"/>
          </a:p>
        </p:txBody>
      </p:sp>
      <p:sp>
        <p:nvSpPr>
          <p:cNvPr id="16" name="Text 13"/>
          <p:cNvSpPr txBox="1"/>
          <p:nvPr/>
        </p:nvSpPr>
        <p:spPr>
          <a:xfrm>
            <a:off x="10515600" y="4370832"/>
            <a:ext cx="9144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600" b="1" dirty="0">
                <a:solidFill>
                  <a:schemeClr val="bg1"/>
                </a:solidFill>
              </a:rPr>
              <a:t>20.7 %</a:t>
            </a:r>
            <a:endParaRPr lang="en-US" sz="1600" dirty="0"/>
          </a:p>
        </p:txBody>
      </p:sp>
      <p:sp>
        <p:nvSpPr>
          <p:cNvPr id="17" name="Text 14"/>
          <p:cNvSpPr txBox="1"/>
          <p:nvPr/>
        </p:nvSpPr>
        <p:spPr>
          <a:xfrm>
            <a:off x="7818120" y="4828032"/>
            <a:ext cx="27432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chemeClr val="bg1"/>
                </a:solidFill>
              </a:rPr>
              <a:t>Collado al 58 % (desgaste)</a:t>
            </a:r>
            <a:endParaRPr lang="en-US" sz="1300" dirty="0"/>
          </a:p>
        </p:txBody>
      </p:sp>
      <p:sp>
        <p:nvSpPr>
          <p:cNvPr id="18" name="Text 15"/>
          <p:cNvSpPr txBox="1"/>
          <p:nvPr/>
        </p:nvSpPr>
        <p:spPr>
          <a:xfrm>
            <a:off x="10515600" y="4828032"/>
            <a:ext cx="9144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600" b="1" dirty="0">
                <a:solidFill>
                  <a:schemeClr val="bg1"/>
                </a:solidFill>
              </a:rPr>
              <a:t>22.6 %</a:t>
            </a:r>
            <a:endParaRPr lang="en-US" sz="1600" dirty="0"/>
          </a:p>
        </p:txBody>
      </p:sp>
      <p:sp>
        <p:nvSpPr>
          <p:cNvPr id="19" name="Text 16"/>
          <p:cNvSpPr txBox="1"/>
          <p:nvPr/>
        </p:nvSpPr>
        <p:spPr>
          <a:xfrm>
            <a:off x="7818120" y="5285232"/>
            <a:ext cx="27432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chemeClr val="accent4"/>
                </a:solidFill>
              </a:rPr>
              <a:t>Collado al 53 % (desgaste fuerte)</a:t>
            </a:r>
            <a:endParaRPr lang="en-US" sz="1300" dirty="0"/>
          </a:p>
        </p:txBody>
      </p:sp>
      <p:sp>
        <p:nvSpPr>
          <p:cNvPr id="20" name="Text 17"/>
          <p:cNvSpPr txBox="1"/>
          <p:nvPr/>
        </p:nvSpPr>
        <p:spPr>
          <a:xfrm>
            <a:off x="10515600" y="5285232"/>
            <a:ext cx="9144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600" b="1" dirty="0">
                <a:solidFill>
                  <a:schemeClr val="bg1"/>
                </a:solidFill>
              </a:rPr>
              <a:t>24.7 %</a:t>
            </a:r>
            <a:endParaRPr lang="en-US" sz="1600" dirty="0"/>
          </a:p>
        </p:txBody>
      </p:sp>
      <p:sp>
        <p:nvSpPr>
          <p:cNvPr id="21" name="Fuente"/>
          <p:cNvSpPr txBox="1"/>
          <p:nvPr/>
        </p:nvSpPr>
        <p:spPr>
          <a:xfrm>
            <a:off x="548640" y="5989320"/>
            <a:ext cx="1109167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i="1" dirty="0">
                <a:solidFill>
                  <a:schemeClr val="accent4"/>
                </a:solidFill>
              </a:rPr>
              <a:t>Fuente 2024: JCE, resultado presidencial por colegios, OCLEE Philadelphia (PRM y aliados 5,581 votos, 63.4 % de los válidos). Escenarios 2028: proyección propia.</a:t>
            </a:r>
            <a:endParaRPr lang="en-US" sz="1000" dirty="0"/>
          </a:p>
        </p:txBody>
      </p:sp>
      <p:sp>
        <p:nvSpPr>
          <p:cNvPr id="23" name="Barra de navegación"/>
          <p:cNvSpPr/>
          <p:nvPr/>
        </p:nvSpPr>
        <p:spPr>
          <a:xfrm>
            <a:off x="0" y="0"/>
            <a:ext cx="12191695" cy="384048"/>
          </a:xfrm>
          <a:prstGeom prst="rect">
            <a:avLst/>
          </a:prstGeom>
          <a:solidFill>
            <a:srgbClr val="F4F7FB"/>
          </a:solidFill>
          <a:ln w="12700">
            <a:solidFill>
              <a:srgbClr val="F4F7FB"/>
            </a:solidFill>
            <a:prstDash val="solid"/>
          </a:ln>
        </p:spPr>
      </p:sp>
      <p:sp>
        <p:nvSpPr>
          <p:cNvPr id="24" name="Shape 20"/>
          <p:cNvSpPr/>
          <p:nvPr/>
        </p:nvSpPr>
        <p:spPr>
          <a:xfrm>
            <a:off x="0" y="384048"/>
            <a:ext cx="12191695" cy="0"/>
          </a:xfrm>
          <a:prstGeom prst="line">
            <a:avLst/>
          </a:prstGeom>
          <a:noFill/>
          <a:ln w="9525">
            <a:solidFill>
              <a:srgbClr val="D6DEEA"/>
            </a:solidFill>
            <a:prstDash val="solid"/>
          </a:ln>
        </p:spPr>
      </p:sp>
      <p:sp>
        <p:nvSpPr>
          <p:cNvPr id="25" name="Pestaña Diagnóstico"/>
          <p:cNvSpPr txBox="1"/>
          <p:nvPr/>
        </p:nvSpPr>
        <p:spPr>
          <a:xfrm>
            <a:off x="548640" y="0"/>
            <a:ext cx="277291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u="none" spc="150" kern="0" dirty="0">
                <a:solidFill>
                  <a:srgbClr val="5A6B86"/>
                </a:solidFill>
                <a:hlinkClick r:id="rId2" action="ppaction://hlinksldjump" tooltip="Ir a Diagnóstico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DIAGNÓSTICO</a:t>
            </a:r>
            <a:endParaRPr lang="en-US" sz="1000" dirty="0"/>
          </a:p>
        </p:txBody>
      </p:sp>
      <p:sp>
        <p:nvSpPr>
          <p:cNvPr id="26" name="Pestaña Meta"/>
          <p:cNvSpPr txBox="1"/>
          <p:nvPr/>
        </p:nvSpPr>
        <p:spPr>
          <a:xfrm>
            <a:off x="3321558" y="0"/>
            <a:ext cx="277291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spc="150" kern="0" dirty="0">
                <a:solidFill>
                  <a:srgbClr val="002B63"/>
                </a:solidFill>
              </a:rPr>
              <a:t>META</a:t>
            </a:r>
            <a:endParaRPr lang="en-US" sz="1000" dirty="0"/>
          </a:p>
        </p:txBody>
      </p:sp>
      <p:sp>
        <p:nvSpPr>
          <p:cNvPr id="27" name="Sección actual"/>
          <p:cNvSpPr/>
          <p:nvPr/>
        </p:nvSpPr>
        <p:spPr>
          <a:xfrm>
            <a:off x="4153433" y="338328"/>
            <a:ext cx="1109167" cy="45720"/>
          </a:xfrm>
          <a:prstGeom prst="rect">
            <a:avLst/>
          </a:prstGeom>
          <a:solidFill>
            <a:srgbClr val="DA1822"/>
          </a:solidFill>
          <a:ln w="12700">
            <a:solidFill>
              <a:srgbClr val="DA1822"/>
            </a:solidFill>
            <a:prstDash val="solid"/>
          </a:ln>
        </p:spPr>
      </p:sp>
      <p:sp>
        <p:nvSpPr>
          <p:cNvPr id="28" name="Pestaña Plan y recomendación"/>
          <p:cNvSpPr txBox="1"/>
          <p:nvPr/>
        </p:nvSpPr>
        <p:spPr>
          <a:xfrm>
            <a:off x="6094476" y="0"/>
            <a:ext cx="277291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u="none" spc="150" kern="0" dirty="0">
                <a:solidFill>
                  <a:srgbClr val="5A6B86"/>
                </a:solidFill>
                <a:hlinkClick r:id="rId3" action="ppaction://hlinksldjump" tooltip="Ir a Plan y recomendación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PLAN Y RECOMENDACIÓN</a:t>
            </a:r>
            <a:endParaRPr lang="en-US" sz="1000" dirty="0"/>
          </a:p>
        </p:txBody>
      </p:sp>
      <p:sp>
        <p:nvSpPr>
          <p:cNvPr id="29" name="Pestaña Ficha técnica"/>
          <p:cNvSpPr txBox="1"/>
          <p:nvPr/>
        </p:nvSpPr>
        <p:spPr>
          <a:xfrm>
            <a:off x="8867394" y="0"/>
            <a:ext cx="277291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u="none" spc="150" kern="0" dirty="0">
                <a:solidFill>
                  <a:srgbClr val="5A6B86"/>
                </a:solidFill>
                <a:hlinkClick r:id="rId4" action="ppaction://hlinksldjump" tooltip="Ir a Ficha técnica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FICHA TÉCNICA</a:t>
            </a:r>
            <a:endParaRPr lang="en-US" sz="10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55680" y="640080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accent4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4</a:t>
            </a:fld>
            <a:endParaRPr lang="en-US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title" hasCustomPrompt="1"/>
          </p:nvPr>
        </p:nvSpPr>
        <p:spPr>
          <a:xfrm>
            <a:off x="548640" y="502920"/>
            <a:ext cx="11091672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800" b="1" dirty="0">
                <a:solidFill>
                  <a:schemeClr val="tx2"/>
                </a:solidFill>
              </a:rPr>
              <a:t>Una estructura clara: dirección ejecutiva, 5 áreas de apoyo y 8 coordinadores de zona</a:t>
            </a:r>
            <a:endParaRPr lang="en-US" sz="2800" dirty="0"/>
          </a:p>
        </p:txBody>
      </p:sp>
      <p:sp>
        <p:nvSpPr>
          <p:cNvPr id="3" name="Direccion ejecutiva"/>
          <p:cNvSpPr/>
          <p:nvPr/>
        </p:nvSpPr>
        <p:spPr>
          <a:xfrm>
            <a:off x="4498848" y="1508760"/>
            <a:ext cx="3200400" cy="731520"/>
          </a:xfrm>
          <a:prstGeom prst="roundRect">
            <a:avLst>
              <a:gd name="adj" fmla="val 10000"/>
            </a:avLst>
          </a:prstGeom>
          <a:solidFill>
            <a:schemeClr val="tx2"/>
          </a:solidFill>
          <a:ln w="12700">
            <a:solidFill>
              <a:schemeClr val="tx2"/>
            </a:solidFill>
            <a:prstDash val="solid"/>
          </a:ln>
        </p:spPr>
      </p:sp>
      <p:sp>
        <p:nvSpPr>
          <p:cNvPr id="4" name="Text 2"/>
          <p:cNvSpPr txBox="1"/>
          <p:nvPr/>
        </p:nvSpPr>
        <p:spPr>
          <a:xfrm>
            <a:off x="4498848" y="1508760"/>
            <a:ext cx="32004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chemeClr val="bg1"/>
                </a:solidFill>
              </a:rPr>
              <a:t>Dirección ejecutiva</a:t>
            </a:r>
            <a:endParaRPr lang="en-US" sz="1800" dirty="0"/>
          </a:p>
        </p:txBody>
      </p:sp>
      <p:sp>
        <p:nvSpPr>
          <p:cNvPr id="5" name="Seccional PRM"/>
          <p:cNvSpPr/>
          <p:nvPr/>
        </p:nvSpPr>
        <p:spPr>
          <a:xfrm>
            <a:off x="8412480" y="1554480"/>
            <a:ext cx="3227832" cy="640080"/>
          </a:xfrm>
          <a:prstGeom prst="roundRect">
            <a:avLst>
              <a:gd name="adj" fmla="val 11429"/>
            </a:avLst>
          </a:prstGeom>
          <a:solidFill>
            <a:schemeClr val="bg1"/>
          </a:solidFill>
          <a:ln w="12700">
            <a:solidFill>
              <a:schemeClr val="accent4"/>
            </a:solidFill>
            <a:prstDash val="dash"/>
          </a:ln>
        </p:spPr>
      </p:sp>
      <p:sp>
        <p:nvSpPr>
          <p:cNvPr id="6" name="Text 4"/>
          <p:cNvSpPr txBox="1"/>
          <p:nvPr/>
        </p:nvSpPr>
        <p:spPr>
          <a:xfrm>
            <a:off x="8503920" y="1554480"/>
            <a:ext cx="3044952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chemeClr val="tx1"/>
                </a:solidFill>
              </a:rPr>
              <a:t>Coordinación con la Seccional PRM Pennsylvania</a:t>
            </a:r>
            <a:endParaRPr lang="en-US" sz="1200" dirty="0"/>
          </a:p>
        </p:txBody>
      </p:sp>
      <p:sp>
        <p:nvSpPr>
          <p:cNvPr id="7" name="Shape 5"/>
          <p:cNvSpPr/>
          <p:nvPr/>
        </p:nvSpPr>
        <p:spPr>
          <a:xfrm>
            <a:off x="7699248" y="1874520"/>
            <a:ext cx="713232" cy="0"/>
          </a:xfrm>
          <a:prstGeom prst="line">
            <a:avLst/>
          </a:prstGeom>
          <a:noFill/>
          <a:ln w="19050">
            <a:solidFill>
              <a:schemeClr val="accent4"/>
            </a:solidFill>
            <a:prstDash val="solid"/>
          </a:ln>
        </p:spPr>
      </p:sp>
      <p:sp>
        <p:nvSpPr>
          <p:cNvPr id="8" name="Shape 6"/>
          <p:cNvSpPr/>
          <p:nvPr/>
        </p:nvSpPr>
        <p:spPr>
          <a:xfrm>
            <a:off x="6099048" y="2240280"/>
            <a:ext cx="0" cy="274320"/>
          </a:xfrm>
          <a:prstGeom prst="line">
            <a:avLst/>
          </a:prstGeom>
          <a:noFill/>
          <a:ln w="19050">
            <a:solidFill>
              <a:schemeClr val="accent4"/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1645920" y="2514600"/>
            <a:ext cx="9034272" cy="0"/>
          </a:xfrm>
          <a:prstGeom prst="line">
            <a:avLst/>
          </a:prstGeom>
          <a:noFill/>
          <a:ln w="19050">
            <a:solidFill>
              <a:schemeClr val="accent4"/>
            </a:solidFill>
            <a:prstDash val="solid"/>
          </a:ln>
        </p:spPr>
      </p:sp>
      <p:sp>
        <p:nvSpPr>
          <p:cNvPr id="10" name="Shape 8"/>
          <p:cNvSpPr/>
          <p:nvPr/>
        </p:nvSpPr>
        <p:spPr>
          <a:xfrm>
            <a:off x="1645920" y="2514600"/>
            <a:ext cx="0" cy="182880"/>
          </a:xfrm>
          <a:prstGeom prst="line">
            <a:avLst/>
          </a:prstGeom>
          <a:noFill/>
          <a:ln w="19050">
            <a:solidFill>
              <a:schemeClr val="accent4"/>
            </a:solidFill>
            <a:prstDash val="solid"/>
          </a:ln>
        </p:spPr>
      </p:sp>
      <p:sp>
        <p:nvSpPr>
          <p:cNvPr id="11" name="Area Asuntos Electorales"/>
          <p:cNvSpPr/>
          <p:nvPr/>
        </p:nvSpPr>
        <p:spPr>
          <a:xfrm>
            <a:off x="548640" y="2697480"/>
            <a:ext cx="2194560" cy="566928"/>
          </a:xfrm>
          <a:prstGeom prst="roundRect">
            <a:avLst>
              <a:gd name="adj" fmla="val 12903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12" name="Text 10"/>
          <p:cNvSpPr txBox="1"/>
          <p:nvPr/>
        </p:nvSpPr>
        <p:spPr>
          <a:xfrm>
            <a:off x="548640" y="2697480"/>
            <a:ext cx="219456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chemeClr val="tx2"/>
                </a:solidFill>
              </a:rPr>
              <a:t>Asuntos Electorales</a:t>
            </a:r>
            <a:endParaRPr lang="en-US" sz="1400" dirty="0"/>
          </a:p>
        </p:txBody>
      </p:sp>
      <p:sp>
        <p:nvSpPr>
          <p:cNvPr id="13" name="Shape 11"/>
          <p:cNvSpPr/>
          <p:nvPr/>
        </p:nvSpPr>
        <p:spPr>
          <a:xfrm>
            <a:off x="3904488" y="2514600"/>
            <a:ext cx="0" cy="182880"/>
          </a:xfrm>
          <a:prstGeom prst="line">
            <a:avLst/>
          </a:prstGeom>
          <a:noFill/>
          <a:ln w="19050">
            <a:solidFill>
              <a:schemeClr val="accent4"/>
            </a:solidFill>
            <a:prstDash val="solid"/>
          </a:ln>
        </p:spPr>
      </p:sp>
      <p:sp>
        <p:nvSpPr>
          <p:cNvPr id="14" name="Area Tecnología y Datos"/>
          <p:cNvSpPr/>
          <p:nvPr/>
        </p:nvSpPr>
        <p:spPr>
          <a:xfrm>
            <a:off x="2807208" y="2697480"/>
            <a:ext cx="2194560" cy="566928"/>
          </a:xfrm>
          <a:prstGeom prst="roundRect">
            <a:avLst>
              <a:gd name="adj" fmla="val 12903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15" name="Text 13"/>
          <p:cNvSpPr txBox="1"/>
          <p:nvPr/>
        </p:nvSpPr>
        <p:spPr>
          <a:xfrm>
            <a:off x="2807208" y="2697480"/>
            <a:ext cx="219456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chemeClr val="tx2"/>
                </a:solidFill>
              </a:rPr>
              <a:t>Tecnología y Datos</a:t>
            </a:r>
            <a:endParaRPr lang="en-US" sz="1400" dirty="0"/>
          </a:p>
        </p:txBody>
      </p:sp>
      <p:sp>
        <p:nvSpPr>
          <p:cNvPr id="16" name="Shape 14"/>
          <p:cNvSpPr/>
          <p:nvPr/>
        </p:nvSpPr>
        <p:spPr>
          <a:xfrm>
            <a:off x="6163056" y="2514600"/>
            <a:ext cx="0" cy="182880"/>
          </a:xfrm>
          <a:prstGeom prst="line">
            <a:avLst/>
          </a:prstGeom>
          <a:noFill/>
          <a:ln w="19050">
            <a:solidFill>
              <a:schemeClr val="accent4"/>
            </a:solidFill>
            <a:prstDash val="solid"/>
          </a:ln>
        </p:spPr>
      </p:sp>
      <p:sp>
        <p:nvSpPr>
          <p:cNvPr id="17" name="Area Comunicaciones"/>
          <p:cNvSpPr/>
          <p:nvPr/>
        </p:nvSpPr>
        <p:spPr>
          <a:xfrm>
            <a:off x="5065776" y="2697480"/>
            <a:ext cx="2194560" cy="566928"/>
          </a:xfrm>
          <a:prstGeom prst="roundRect">
            <a:avLst>
              <a:gd name="adj" fmla="val 12903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18" name="Text 16"/>
          <p:cNvSpPr txBox="1"/>
          <p:nvPr/>
        </p:nvSpPr>
        <p:spPr>
          <a:xfrm>
            <a:off x="5065776" y="2697480"/>
            <a:ext cx="219456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chemeClr val="tx2"/>
                </a:solidFill>
              </a:rPr>
              <a:t>Comunicaciones</a:t>
            </a:r>
            <a:endParaRPr lang="en-US" sz="1400" dirty="0"/>
          </a:p>
        </p:txBody>
      </p:sp>
      <p:sp>
        <p:nvSpPr>
          <p:cNvPr id="19" name="Shape 17"/>
          <p:cNvSpPr/>
          <p:nvPr/>
        </p:nvSpPr>
        <p:spPr>
          <a:xfrm>
            <a:off x="8421624" y="2514600"/>
            <a:ext cx="0" cy="182880"/>
          </a:xfrm>
          <a:prstGeom prst="line">
            <a:avLst/>
          </a:prstGeom>
          <a:noFill/>
          <a:ln w="19050">
            <a:solidFill>
              <a:schemeClr val="accent4"/>
            </a:solidFill>
            <a:prstDash val="solid"/>
          </a:ln>
        </p:spPr>
      </p:sp>
      <p:sp>
        <p:nvSpPr>
          <p:cNvPr id="20" name="Area Logística y Movilización"/>
          <p:cNvSpPr/>
          <p:nvPr/>
        </p:nvSpPr>
        <p:spPr>
          <a:xfrm>
            <a:off x="7324344" y="2697480"/>
            <a:ext cx="2194560" cy="566928"/>
          </a:xfrm>
          <a:prstGeom prst="roundRect">
            <a:avLst>
              <a:gd name="adj" fmla="val 12903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21" name="Text 19"/>
          <p:cNvSpPr txBox="1"/>
          <p:nvPr/>
        </p:nvSpPr>
        <p:spPr>
          <a:xfrm>
            <a:off x="7324344" y="2697480"/>
            <a:ext cx="219456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chemeClr val="tx2"/>
                </a:solidFill>
              </a:rPr>
              <a:t>Logística y Movilización</a:t>
            </a:r>
            <a:endParaRPr lang="en-US" sz="1400" dirty="0"/>
          </a:p>
        </p:txBody>
      </p:sp>
      <p:sp>
        <p:nvSpPr>
          <p:cNvPr id="22" name="Shape 20"/>
          <p:cNvSpPr/>
          <p:nvPr/>
        </p:nvSpPr>
        <p:spPr>
          <a:xfrm>
            <a:off x="10680192" y="2514600"/>
            <a:ext cx="0" cy="182880"/>
          </a:xfrm>
          <a:prstGeom prst="line">
            <a:avLst/>
          </a:prstGeom>
          <a:noFill/>
          <a:ln w="19050">
            <a:solidFill>
              <a:schemeClr val="accent4"/>
            </a:solidFill>
            <a:prstDash val="solid"/>
          </a:ln>
        </p:spPr>
      </p:sp>
      <p:sp>
        <p:nvSpPr>
          <p:cNvPr id="23" name="Area Finanzas y Legal"/>
          <p:cNvSpPr/>
          <p:nvPr/>
        </p:nvSpPr>
        <p:spPr>
          <a:xfrm>
            <a:off x="9582912" y="2697480"/>
            <a:ext cx="2194560" cy="566928"/>
          </a:xfrm>
          <a:prstGeom prst="roundRect">
            <a:avLst>
              <a:gd name="adj" fmla="val 12903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24" name="Text 22"/>
          <p:cNvSpPr txBox="1"/>
          <p:nvPr/>
        </p:nvSpPr>
        <p:spPr>
          <a:xfrm>
            <a:off x="9582912" y="2697480"/>
            <a:ext cx="219456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chemeClr val="tx2"/>
                </a:solidFill>
              </a:rPr>
              <a:t>Finanzas y Legal</a:t>
            </a:r>
            <a:endParaRPr lang="en-US" sz="1400" dirty="0"/>
          </a:p>
        </p:txBody>
      </p:sp>
      <p:sp>
        <p:nvSpPr>
          <p:cNvPr id="25" name="Text 23"/>
          <p:cNvSpPr txBox="1"/>
          <p:nvPr/>
        </p:nvSpPr>
        <p:spPr>
          <a:xfrm>
            <a:off x="548640" y="3291840"/>
            <a:ext cx="2743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i="1" dirty="0">
                <a:solidFill>
                  <a:schemeClr val="accent3"/>
                </a:solidFill>
              </a:rPr>
              <a:t>Áreas de apoyo</a:t>
            </a:r>
            <a:endParaRPr lang="en-US" sz="1100" dirty="0"/>
          </a:p>
        </p:txBody>
      </p:sp>
      <p:sp>
        <p:nvSpPr>
          <p:cNvPr id="26" name="Text 24"/>
          <p:cNvSpPr txBox="1"/>
          <p:nvPr/>
        </p:nvSpPr>
        <p:spPr>
          <a:xfrm>
            <a:off x="548640" y="3611880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chemeClr val="tx2"/>
                </a:solidFill>
              </a:rPr>
              <a:t>8 coordinadores de zona · líderes que necesita cada zona</a:t>
            </a:r>
            <a:endParaRPr lang="en-US" sz="1300" dirty="0"/>
          </a:p>
        </p:txBody>
      </p:sp>
      <p:sp>
        <p:nvSpPr>
          <p:cNvPr id="27" name="Zona Phila. Noreste"/>
          <p:cNvSpPr/>
          <p:nvPr/>
        </p:nvSpPr>
        <p:spPr>
          <a:xfrm>
            <a:off x="548640" y="3931920"/>
            <a:ext cx="1298448" cy="960120"/>
          </a:xfrm>
          <a:prstGeom prst="roundRect">
            <a:avLst>
              <a:gd name="adj" fmla="val 7619"/>
            </a:avLst>
          </a:prstGeom>
          <a:solidFill>
            <a:schemeClr val="bg1"/>
          </a:solidFill>
          <a:ln w="15875">
            <a:solidFill>
              <a:schemeClr val="tx2"/>
            </a:solidFill>
            <a:prstDash val="solid"/>
          </a:ln>
        </p:spPr>
      </p:sp>
      <p:sp>
        <p:nvSpPr>
          <p:cNvPr id="28" name="Text 26"/>
          <p:cNvSpPr txBox="1"/>
          <p:nvPr/>
        </p:nvSpPr>
        <p:spPr>
          <a:xfrm>
            <a:off x="603504" y="3959352"/>
            <a:ext cx="118872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chemeClr val="accent2"/>
                </a:solidFill>
              </a:rPr>
              <a:t>81</a:t>
            </a:r>
            <a:endParaRPr lang="en-US" sz="2200" dirty="0"/>
          </a:p>
          <a:p>
            <a:pPr algn="ctr" indent="0" marL="0">
              <a:buNone/>
            </a:pPr>
            <a:r>
              <a:rPr lang="en-US" sz="1100" dirty="0">
                <a:solidFill>
                  <a:schemeClr val="tx1"/>
                </a:solidFill>
              </a:rPr>
              <a:t>Phila. Noreste</a:t>
            </a:r>
            <a:endParaRPr lang="en-US" sz="2200" dirty="0"/>
          </a:p>
        </p:txBody>
      </p:sp>
      <p:sp>
        <p:nvSpPr>
          <p:cNvPr id="29" name="Zona Phila. Kensington"/>
          <p:cNvSpPr/>
          <p:nvPr/>
        </p:nvSpPr>
        <p:spPr>
          <a:xfrm>
            <a:off x="1947672" y="3931920"/>
            <a:ext cx="1298448" cy="960120"/>
          </a:xfrm>
          <a:prstGeom prst="roundRect">
            <a:avLst>
              <a:gd name="adj" fmla="val 7619"/>
            </a:avLst>
          </a:prstGeom>
          <a:solidFill>
            <a:schemeClr val="bg1"/>
          </a:solidFill>
          <a:ln w="15875">
            <a:solidFill>
              <a:schemeClr val="tx2"/>
            </a:solidFill>
            <a:prstDash val="solid"/>
          </a:ln>
        </p:spPr>
      </p:sp>
      <p:sp>
        <p:nvSpPr>
          <p:cNvPr id="30" name="Text 28"/>
          <p:cNvSpPr txBox="1"/>
          <p:nvPr/>
        </p:nvSpPr>
        <p:spPr>
          <a:xfrm>
            <a:off x="2002536" y="3959352"/>
            <a:ext cx="118872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chemeClr val="accent2"/>
                </a:solidFill>
              </a:rPr>
              <a:t>55</a:t>
            </a:r>
            <a:endParaRPr lang="en-US" sz="2200" dirty="0"/>
          </a:p>
          <a:p>
            <a:pPr algn="ctr" indent="0" marL="0">
              <a:buNone/>
            </a:pPr>
            <a:r>
              <a:rPr lang="en-US" sz="1100" dirty="0">
                <a:solidFill>
                  <a:schemeClr val="tx1"/>
                </a:solidFill>
              </a:rPr>
              <a:t>Phila. Kensington</a:t>
            </a:r>
            <a:endParaRPr lang="en-US" sz="2200" dirty="0"/>
          </a:p>
        </p:txBody>
      </p:sp>
      <p:sp>
        <p:nvSpPr>
          <p:cNvPr id="31" name="Zona Reading"/>
          <p:cNvSpPr/>
          <p:nvPr/>
        </p:nvSpPr>
        <p:spPr>
          <a:xfrm>
            <a:off x="3346704" y="3931920"/>
            <a:ext cx="1298448" cy="960120"/>
          </a:xfrm>
          <a:prstGeom prst="roundRect">
            <a:avLst>
              <a:gd name="adj" fmla="val 7619"/>
            </a:avLst>
          </a:prstGeom>
          <a:solidFill>
            <a:schemeClr val="bg1"/>
          </a:solidFill>
          <a:ln w="15875">
            <a:solidFill>
              <a:schemeClr val="tx2"/>
            </a:solidFill>
            <a:prstDash val="solid"/>
          </a:ln>
        </p:spPr>
      </p:sp>
      <p:sp>
        <p:nvSpPr>
          <p:cNvPr id="32" name="Text 30"/>
          <p:cNvSpPr txBox="1"/>
          <p:nvPr/>
        </p:nvSpPr>
        <p:spPr>
          <a:xfrm>
            <a:off x="3401568" y="3959352"/>
            <a:ext cx="118872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chemeClr val="accent2"/>
                </a:solidFill>
              </a:rPr>
              <a:t>70</a:t>
            </a:r>
            <a:endParaRPr lang="en-US" sz="2200" dirty="0"/>
          </a:p>
          <a:p>
            <a:pPr algn="ctr" indent="0" marL="0">
              <a:buNone/>
            </a:pPr>
            <a:r>
              <a:rPr lang="en-US" sz="1100" dirty="0">
                <a:solidFill>
                  <a:schemeClr val="tx1"/>
                </a:solidFill>
              </a:rPr>
              <a:t>Reading</a:t>
            </a:r>
            <a:endParaRPr lang="en-US" sz="2200" dirty="0"/>
          </a:p>
        </p:txBody>
      </p:sp>
      <p:sp>
        <p:nvSpPr>
          <p:cNvPr id="33" name="Zona Allentown"/>
          <p:cNvSpPr/>
          <p:nvPr/>
        </p:nvSpPr>
        <p:spPr>
          <a:xfrm>
            <a:off x="4745736" y="3931920"/>
            <a:ext cx="1298448" cy="960120"/>
          </a:xfrm>
          <a:prstGeom prst="roundRect">
            <a:avLst>
              <a:gd name="adj" fmla="val 7619"/>
            </a:avLst>
          </a:prstGeom>
          <a:solidFill>
            <a:schemeClr val="bg1"/>
          </a:solidFill>
          <a:ln w="15875">
            <a:solidFill>
              <a:schemeClr val="tx2"/>
            </a:solidFill>
            <a:prstDash val="solid"/>
          </a:ln>
        </p:spPr>
      </p:sp>
      <p:sp>
        <p:nvSpPr>
          <p:cNvPr id="34" name="Text 32"/>
          <p:cNvSpPr txBox="1"/>
          <p:nvPr/>
        </p:nvSpPr>
        <p:spPr>
          <a:xfrm>
            <a:off x="4800600" y="3959352"/>
            <a:ext cx="118872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chemeClr val="accent2"/>
                </a:solidFill>
              </a:rPr>
              <a:t>69</a:t>
            </a:r>
            <a:endParaRPr lang="en-US" sz="2200" dirty="0"/>
          </a:p>
          <a:p>
            <a:pPr algn="ctr" indent="0" marL="0">
              <a:buNone/>
            </a:pPr>
            <a:r>
              <a:rPr lang="en-US" sz="1100" dirty="0">
                <a:solidFill>
                  <a:schemeClr val="tx1"/>
                </a:solidFill>
              </a:rPr>
              <a:t>Allentown</a:t>
            </a:r>
            <a:endParaRPr lang="en-US" sz="2200" dirty="0"/>
          </a:p>
        </p:txBody>
      </p:sp>
      <p:sp>
        <p:nvSpPr>
          <p:cNvPr id="35" name="Zona Hazleton"/>
          <p:cNvSpPr/>
          <p:nvPr/>
        </p:nvSpPr>
        <p:spPr>
          <a:xfrm>
            <a:off x="6144768" y="3931920"/>
            <a:ext cx="1298448" cy="960120"/>
          </a:xfrm>
          <a:prstGeom prst="roundRect">
            <a:avLst>
              <a:gd name="adj" fmla="val 7619"/>
            </a:avLst>
          </a:prstGeom>
          <a:solidFill>
            <a:schemeClr val="bg1"/>
          </a:solidFill>
          <a:ln w="15875">
            <a:solidFill>
              <a:schemeClr val="tx2"/>
            </a:solidFill>
            <a:prstDash val="solid"/>
          </a:ln>
        </p:spPr>
      </p:sp>
      <p:sp>
        <p:nvSpPr>
          <p:cNvPr id="36" name="Text 34"/>
          <p:cNvSpPr txBox="1"/>
          <p:nvPr/>
        </p:nvSpPr>
        <p:spPr>
          <a:xfrm>
            <a:off x="6199632" y="3959352"/>
            <a:ext cx="118872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chemeClr val="accent2"/>
                </a:solidFill>
              </a:rPr>
              <a:t>55</a:t>
            </a:r>
            <a:endParaRPr lang="en-US" sz="2200" dirty="0"/>
          </a:p>
          <a:p>
            <a:pPr algn="ctr" indent="0" marL="0">
              <a:buNone/>
            </a:pPr>
            <a:r>
              <a:rPr lang="en-US" sz="1100" dirty="0">
                <a:solidFill>
                  <a:schemeClr val="tx1"/>
                </a:solidFill>
              </a:rPr>
              <a:t>Hazleton</a:t>
            </a:r>
            <a:endParaRPr lang="en-US" sz="2200" dirty="0"/>
          </a:p>
        </p:txBody>
      </p:sp>
      <p:sp>
        <p:nvSpPr>
          <p:cNvPr id="37" name="Zona W-Barre / Scranton"/>
          <p:cNvSpPr/>
          <p:nvPr/>
        </p:nvSpPr>
        <p:spPr>
          <a:xfrm>
            <a:off x="7543800" y="3931920"/>
            <a:ext cx="1298448" cy="960120"/>
          </a:xfrm>
          <a:prstGeom prst="roundRect">
            <a:avLst>
              <a:gd name="adj" fmla="val 7619"/>
            </a:avLst>
          </a:prstGeom>
          <a:solidFill>
            <a:schemeClr val="bg1"/>
          </a:solidFill>
          <a:ln w="15875">
            <a:solidFill>
              <a:schemeClr val="tx2"/>
            </a:solidFill>
            <a:prstDash val="solid"/>
          </a:ln>
        </p:spPr>
      </p:sp>
      <p:sp>
        <p:nvSpPr>
          <p:cNvPr id="38" name="Text 36"/>
          <p:cNvSpPr txBox="1"/>
          <p:nvPr/>
        </p:nvSpPr>
        <p:spPr>
          <a:xfrm>
            <a:off x="7598664" y="3959352"/>
            <a:ext cx="118872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chemeClr val="accent2"/>
                </a:solidFill>
              </a:rPr>
              <a:t>15</a:t>
            </a:r>
            <a:endParaRPr lang="en-US" sz="2200" dirty="0"/>
          </a:p>
          <a:p>
            <a:pPr algn="ctr" indent="0" marL="0">
              <a:buNone/>
            </a:pPr>
            <a:r>
              <a:rPr lang="en-US" sz="1100" dirty="0">
                <a:solidFill>
                  <a:schemeClr val="tx1"/>
                </a:solidFill>
              </a:rPr>
              <a:t>W-Barre / Scranton</a:t>
            </a:r>
            <a:endParaRPr lang="en-US" sz="2200" dirty="0"/>
          </a:p>
        </p:txBody>
      </p:sp>
      <p:sp>
        <p:nvSpPr>
          <p:cNvPr id="39" name="Zona Harrisburg, Lancaster, York y Lebanon"/>
          <p:cNvSpPr/>
          <p:nvPr/>
        </p:nvSpPr>
        <p:spPr>
          <a:xfrm>
            <a:off x="8942832" y="3931920"/>
            <a:ext cx="1298448" cy="960120"/>
          </a:xfrm>
          <a:prstGeom prst="roundRect">
            <a:avLst>
              <a:gd name="adj" fmla="val 7619"/>
            </a:avLst>
          </a:prstGeom>
          <a:solidFill>
            <a:schemeClr val="bg1"/>
          </a:solidFill>
          <a:ln w="15875">
            <a:solidFill>
              <a:schemeClr val="tx2"/>
            </a:solidFill>
            <a:prstDash val="solid"/>
          </a:ln>
        </p:spPr>
      </p:sp>
      <p:sp>
        <p:nvSpPr>
          <p:cNvPr id="40" name="Text 38"/>
          <p:cNvSpPr txBox="1"/>
          <p:nvPr/>
        </p:nvSpPr>
        <p:spPr>
          <a:xfrm>
            <a:off x="8997696" y="3959352"/>
            <a:ext cx="118872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chemeClr val="accent2"/>
                </a:solidFill>
              </a:rPr>
              <a:t>46</a:t>
            </a:r>
            <a:endParaRPr lang="en-US" sz="2200" dirty="0"/>
          </a:p>
          <a:p>
            <a:pPr algn="ctr" indent="0" marL="0">
              <a:buNone/>
            </a:pPr>
            <a:r>
              <a:rPr lang="en-US" sz="1100" dirty="0">
                <a:solidFill>
                  <a:schemeClr val="tx1"/>
                </a:solidFill>
              </a:rPr>
              <a:t>Harrisburg, Lancaster, York y Lebanon</a:t>
            </a:r>
            <a:endParaRPr lang="en-US" sz="2200" dirty="0"/>
          </a:p>
        </p:txBody>
      </p:sp>
      <p:sp>
        <p:nvSpPr>
          <p:cNvPr id="41" name="Zona Delaware"/>
          <p:cNvSpPr/>
          <p:nvPr/>
        </p:nvSpPr>
        <p:spPr>
          <a:xfrm>
            <a:off x="10341864" y="3931920"/>
            <a:ext cx="1298448" cy="960120"/>
          </a:xfrm>
          <a:prstGeom prst="roundRect">
            <a:avLst>
              <a:gd name="adj" fmla="val 7619"/>
            </a:avLst>
          </a:prstGeom>
          <a:solidFill>
            <a:schemeClr val="bg1"/>
          </a:solidFill>
          <a:ln w="15875">
            <a:solidFill>
              <a:schemeClr val="tx2"/>
            </a:solidFill>
            <a:prstDash val="solid"/>
          </a:ln>
        </p:spPr>
      </p:sp>
      <p:sp>
        <p:nvSpPr>
          <p:cNvPr id="42" name="Text 40"/>
          <p:cNvSpPr txBox="1"/>
          <p:nvPr/>
        </p:nvSpPr>
        <p:spPr>
          <a:xfrm>
            <a:off x="10396728" y="3959352"/>
            <a:ext cx="118872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chemeClr val="accent2"/>
                </a:solidFill>
              </a:rPr>
              <a:t>9</a:t>
            </a:r>
            <a:endParaRPr lang="en-US" sz="2200" dirty="0"/>
          </a:p>
          <a:p>
            <a:pPr algn="ctr" indent="0" marL="0">
              <a:buNone/>
            </a:pPr>
            <a:r>
              <a:rPr lang="en-US" sz="1100" dirty="0">
                <a:solidFill>
                  <a:schemeClr val="tx1"/>
                </a:solidFill>
              </a:rPr>
              <a:t>Delaware</a:t>
            </a:r>
            <a:endParaRPr lang="en-US" sz="2200" dirty="0"/>
          </a:p>
        </p:txBody>
      </p:sp>
      <p:sp>
        <p:nvSpPr>
          <p:cNvPr id="43" name="Base"/>
          <p:cNvSpPr/>
          <p:nvPr/>
        </p:nvSpPr>
        <p:spPr>
          <a:xfrm>
            <a:off x="548640" y="5120640"/>
            <a:ext cx="11091672" cy="685800"/>
          </a:xfrm>
          <a:prstGeom prst="roundRect">
            <a:avLst>
              <a:gd name="adj" fmla="val 10667"/>
            </a:avLst>
          </a:prstGeom>
          <a:solidFill>
            <a:schemeClr val="tx2"/>
          </a:solidFill>
          <a:ln w="12700">
            <a:solidFill>
              <a:schemeClr val="tx2"/>
            </a:solidFill>
            <a:prstDash val="solid"/>
          </a:ln>
        </p:spPr>
      </p:sp>
      <p:sp>
        <p:nvSpPr>
          <p:cNvPr id="44" name="Text 42"/>
          <p:cNvSpPr txBox="1"/>
          <p:nvPr/>
        </p:nvSpPr>
        <p:spPr>
          <a:xfrm>
            <a:off x="548640" y="5120640"/>
            <a:ext cx="11091672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chemeClr val="bg1"/>
                </a:solidFill>
              </a:rPr>
              <a:t>400 líderes</a:t>
            </a:r>
            <a:pPr algn="ctr" indent="0" marL="0">
              <a:buNone/>
            </a:pPr>
            <a:r>
              <a:rPr lang="en-US" sz="1600" dirty="0">
                <a:solidFill>
                  <a:schemeClr val="accent4"/>
                </a:solidFill>
              </a:rPr>
              <a:t>   →   </a:t>
            </a:r>
            <a:pPr algn="ctr" indent="0" marL="0">
              <a:buNone/>
            </a:pPr>
            <a:r>
              <a:rPr lang="en-US" sz="1600" b="1" dirty="0">
                <a:solidFill>
                  <a:schemeClr val="bg1"/>
                </a:solidFill>
              </a:rPr>
              <a:t>4,000 votantes comprometidos (≈ 3,400 votos)</a:t>
            </a:r>
            <a:pPr algn="ctr" indent="0" marL="0">
              <a:buNone/>
            </a:pPr>
            <a:r>
              <a:rPr lang="en-US" sz="1600" dirty="0">
                <a:solidFill>
                  <a:schemeClr val="accent4"/>
                </a:solidFill>
              </a:rPr>
              <a:t>   →   </a:t>
            </a:r>
            <a:pPr algn="ctr" indent="0" marL="0">
              <a:buNone/>
            </a:pPr>
            <a:r>
              <a:rPr lang="en-US" sz="1600" b="1" dirty="0">
                <a:solidFill>
                  <a:schemeClr val="bg1"/>
                </a:solidFill>
              </a:rPr>
              <a:t>84 mesas con delegado</a:t>
            </a:r>
            <a:endParaRPr lang="en-US" sz="1600" dirty="0"/>
          </a:p>
        </p:txBody>
      </p:sp>
      <p:sp>
        <p:nvSpPr>
          <p:cNvPr id="46" name="Barra de navegación"/>
          <p:cNvSpPr/>
          <p:nvPr/>
        </p:nvSpPr>
        <p:spPr>
          <a:xfrm>
            <a:off x="0" y="0"/>
            <a:ext cx="12191695" cy="384048"/>
          </a:xfrm>
          <a:prstGeom prst="rect">
            <a:avLst/>
          </a:prstGeom>
          <a:solidFill>
            <a:srgbClr val="F4F7FB"/>
          </a:solidFill>
          <a:ln w="12700">
            <a:solidFill>
              <a:srgbClr val="F4F7FB"/>
            </a:solidFill>
            <a:prstDash val="solid"/>
          </a:ln>
        </p:spPr>
      </p:sp>
      <p:sp>
        <p:nvSpPr>
          <p:cNvPr id="47" name="Shape 44"/>
          <p:cNvSpPr/>
          <p:nvPr/>
        </p:nvSpPr>
        <p:spPr>
          <a:xfrm>
            <a:off x="0" y="384048"/>
            <a:ext cx="12191695" cy="0"/>
          </a:xfrm>
          <a:prstGeom prst="line">
            <a:avLst/>
          </a:prstGeom>
          <a:noFill/>
          <a:ln w="9525">
            <a:solidFill>
              <a:srgbClr val="D6DEEA"/>
            </a:solidFill>
            <a:prstDash val="solid"/>
          </a:ln>
        </p:spPr>
      </p:sp>
      <p:sp>
        <p:nvSpPr>
          <p:cNvPr id="48" name="Pestaña Diagnóstico"/>
          <p:cNvSpPr txBox="1"/>
          <p:nvPr/>
        </p:nvSpPr>
        <p:spPr>
          <a:xfrm>
            <a:off x="548640" y="0"/>
            <a:ext cx="277291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u="none" spc="150" kern="0" dirty="0">
                <a:solidFill>
                  <a:srgbClr val="5A6B86"/>
                </a:solidFill>
                <a:hlinkClick r:id="rId1" action="ppaction://hlinksldjump" tooltip="Ir a Diagnóstico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DIAGNÓSTICO</a:t>
            </a:r>
            <a:endParaRPr lang="en-US" sz="1000" dirty="0"/>
          </a:p>
        </p:txBody>
      </p:sp>
      <p:sp>
        <p:nvSpPr>
          <p:cNvPr id="49" name="Pestaña Meta"/>
          <p:cNvSpPr txBox="1"/>
          <p:nvPr/>
        </p:nvSpPr>
        <p:spPr>
          <a:xfrm>
            <a:off x="3321558" y="0"/>
            <a:ext cx="277291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u="none" spc="150" kern="0" dirty="0">
                <a:solidFill>
                  <a:srgbClr val="5A6B86"/>
                </a:solidFill>
                <a:hlinkClick r:id="rId2" action="ppaction://hlinksldjump" tooltip="Ir a Meta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META</a:t>
            </a:r>
            <a:endParaRPr lang="en-US" sz="1000" dirty="0"/>
          </a:p>
        </p:txBody>
      </p:sp>
      <p:sp>
        <p:nvSpPr>
          <p:cNvPr id="50" name="Pestaña Plan y recomendación"/>
          <p:cNvSpPr txBox="1"/>
          <p:nvPr/>
        </p:nvSpPr>
        <p:spPr>
          <a:xfrm>
            <a:off x="6094476" y="0"/>
            <a:ext cx="277291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spc="150" kern="0" dirty="0">
                <a:solidFill>
                  <a:srgbClr val="002B63"/>
                </a:solidFill>
              </a:rPr>
              <a:t>PLAN Y RECOMENDACIÓN</a:t>
            </a:r>
            <a:endParaRPr lang="en-US" sz="1000" dirty="0"/>
          </a:p>
        </p:txBody>
      </p:sp>
      <p:sp>
        <p:nvSpPr>
          <p:cNvPr id="51" name="Sección actual"/>
          <p:cNvSpPr/>
          <p:nvPr/>
        </p:nvSpPr>
        <p:spPr>
          <a:xfrm>
            <a:off x="6926351" y="338328"/>
            <a:ext cx="1109167" cy="45720"/>
          </a:xfrm>
          <a:prstGeom prst="rect">
            <a:avLst/>
          </a:prstGeom>
          <a:solidFill>
            <a:srgbClr val="DA1822"/>
          </a:solidFill>
          <a:ln w="12700">
            <a:solidFill>
              <a:srgbClr val="DA1822"/>
            </a:solidFill>
            <a:prstDash val="solid"/>
          </a:ln>
        </p:spPr>
      </p:sp>
      <p:sp>
        <p:nvSpPr>
          <p:cNvPr id="52" name="Pestaña Ficha técnica"/>
          <p:cNvSpPr txBox="1"/>
          <p:nvPr/>
        </p:nvSpPr>
        <p:spPr>
          <a:xfrm>
            <a:off x="8867394" y="0"/>
            <a:ext cx="277291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u="none" spc="150" kern="0" dirty="0">
                <a:solidFill>
                  <a:srgbClr val="5A6B86"/>
                </a:solidFill>
                <a:hlinkClick r:id="rId3" action="ppaction://hlinksldjump" tooltip="Ir a Ficha técnica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FICHA TÉCNICA</a:t>
            </a:r>
            <a:endParaRPr lang="en-US" sz="10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55680" y="640080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accent4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5</a:t>
            </a:fld>
            <a:endParaRPr lang="en-US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title" hasCustomPrompt="1"/>
          </p:nvPr>
        </p:nvSpPr>
        <p:spPr>
          <a:xfrm>
            <a:off x="548640" y="502920"/>
            <a:ext cx="11091672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800" b="1" dirty="0">
                <a:solidFill>
                  <a:schemeClr val="tx2"/>
                </a:solidFill>
              </a:rPr>
              <a:t>Primeros 30 días: estructura instalada y primer corte del tablero en la semana 4</a:t>
            </a:r>
            <a:endParaRPr lang="en-US" sz="2800" dirty="0"/>
          </a:p>
        </p:txBody>
      </p:sp>
      <p:sp>
        <p:nvSpPr>
          <p:cNvPr id="3" name="Shape 1"/>
          <p:cNvSpPr/>
          <p:nvPr/>
        </p:nvSpPr>
        <p:spPr>
          <a:xfrm>
            <a:off x="548640" y="1755648"/>
            <a:ext cx="621792" cy="621792"/>
          </a:xfrm>
          <a:prstGeom prst="ellipse">
            <a:avLst/>
          </a:prstGeom>
          <a:solidFill>
            <a:schemeClr val="accent2"/>
          </a:solidFill>
          <a:ln w="12700">
            <a:solidFill>
              <a:schemeClr val="accent2"/>
            </a:solidFill>
            <a:prstDash val="solid"/>
          </a:ln>
        </p:spPr>
      </p:sp>
      <p:sp>
        <p:nvSpPr>
          <p:cNvPr id="4" name="Text 2"/>
          <p:cNvSpPr txBox="1"/>
          <p:nvPr/>
        </p:nvSpPr>
        <p:spPr>
          <a:xfrm>
            <a:off x="548640" y="1755648"/>
            <a:ext cx="621792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chemeClr val="bg1"/>
                </a:solidFill>
              </a:rPr>
              <a:t>1</a:t>
            </a:r>
            <a:endParaRPr lang="en-US" sz="2000" dirty="0"/>
          </a:p>
        </p:txBody>
      </p:sp>
      <p:sp>
        <p:nvSpPr>
          <p:cNvPr id="5" name="Text 3"/>
          <p:cNvSpPr txBox="1"/>
          <p:nvPr/>
        </p:nvSpPr>
        <p:spPr>
          <a:xfrm>
            <a:off x="1371600" y="1600200"/>
            <a:ext cx="5760720" cy="9326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chemeClr val="tx2"/>
                </a:solidFill>
              </a:rPr>
              <a:t>Semana 1</a:t>
            </a:r>
            <a:endParaRPr lang="en-US" sz="1600" dirty="0"/>
          </a:p>
          <a:p>
            <a:pPr indent="0" marL="0">
              <a:buNone/>
            </a:pPr>
            <a:r>
              <a:rPr lang="en-US" sz="1400" dirty="0">
                <a:solidFill>
                  <a:schemeClr val="tx1"/>
                </a:solidFill>
              </a:rPr>
              <a:t>Nombrar a los 8 coordinadores de zona y a los responsables de las 5 áreas de apoyo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548640" y="2825496"/>
            <a:ext cx="621792" cy="621792"/>
          </a:xfrm>
          <a:prstGeom prst="ellipse">
            <a:avLst/>
          </a:prstGeom>
          <a:solidFill>
            <a:schemeClr val="accent2"/>
          </a:solidFill>
          <a:ln w="12700">
            <a:solidFill>
              <a:schemeClr val="accent2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548640" y="2825496"/>
            <a:ext cx="621792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chemeClr val="bg1"/>
                </a:solidFill>
              </a:rPr>
              <a:t>2</a:t>
            </a:r>
            <a:endParaRPr lang="en-US" sz="2000" dirty="0"/>
          </a:p>
        </p:txBody>
      </p:sp>
      <p:sp>
        <p:nvSpPr>
          <p:cNvPr id="8" name="Text 6"/>
          <p:cNvSpPr txBox="1"/>
          <p:nvPr/>
        </p:nvSpPr>
        <p:spPr>
          <a:xfrm>
            <a:off x="1371600" y="2670048"/>
            <a:ext cx="5760720" cy="9326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chemeClr val="tx2"/>
                </a:solidFill>
              </a:rPr>
              <a:t>Semana 2</a:t>
            </a:r>
            <a:endParaRPr lang="en-US" sz="1600" dirty="0"/>
          </a:p>
          <a:p>
            <a:pPr indent="0" marL="0">
              <a:buNone/>
            </a:pPr>
            <a:r>
              <a:rPr lang="en-US" sz="1400" dirty="0">
                <a:solidFill>
                  <a:schemeClr val="tx1"/>
                </a:solidFill>
              </a:rPr>
              <a:t>Formar el equipo de cada zona y pedir a la JCE y a los consulados el dato de cédulas renovadas en PA</a:t>
            </a:r>
            <a:endParaRPr lang="en-US" sz="1600" dirty="0"/>
          </a:p>
        </p:txBody>
      </p:sp>
      <p:sp>
        <p:nvSpPr>
          <p:cNvPr id="9" name="Shape 7"/>
          <p:cNvSpPr/>
          <p:nvPr/>
        </p:nvSpPr>
        <p:spPr>
          <a:xfrm>
            <a:off x="548640" y="3895344"/>
            <a:ext cx="621792" cy="621792"/>
          </a:xfrm>
          <a:prstGeom prst="ellipse">
            <a:avLst/>
          </a:prstGeom>
          <a:solidFill>
            <a:schemeClr val="accent2"/>
          </a:solidFill>
          <a:ln w="12700">
            <a:solidFill>
              <a:schemeClr val="accent2"/>
            </a:solidFill>
            <a:prstDash val="solid"/>
          </a:ln>
        </p:spPr>
      </p:sp>
      <p:sp>
        <p:nvSpPr>
          <p:cNvPr id="10" name="Text 8"/>
          <p:cNvSpPr txBox="1"/>
          <p:nvPr/>
        </p:nvSpPr>
        <p:spPr>
          <a:xfrm>
            <a:off x="548640" y="3895344"/>
            <a:ext cx="621792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chemeClr val="bg1"/>
                </a:solidFill>
              </a:rPr>
              <a:t>3</a:t>
            </a:r>
            <a:endParaRPr lang="en-US" sz="2000" dirty="0"/>
          </a:p>
        </p:txBody>
      </p:sp>
      <p:sp>
        <p:nvSpPr>
          <p:cNvPr id="11" name="Text 9"/>
          <p:cNvSpPr txBox="1"/>
          <p:nvPr/>
        </p:nvSpPr>
        <p:spPr>
          <a:xfrm>
            <a:off x="1371600" y="3739896"/>
            <a:ext cx="5760720" cy="9326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chemeClr val="tx2"/>
                </a:solidFill>
              </a:rPr>
              <a:t>Semana 3</a:t>
            </a:r>
            <a:endParaRPr lang="en-US" sz="1600" dirty="0"/>
          </a:p>
          <a:p>
            <a:pPr indent="0" marL="0">
              <a:buNone/>
            </a:pPr>
            <a:r>
              <a:rPr lang="en-US" sz="1400" dirty="0">
                <a:solidFill>
                  <a:schemeClr val="tx1"/>
                </a:solidFill>
              </a:rPr>
              <a:t>Verificar quién en la red ya tiene la cédula nueva y quién necesita cita; primeros líderes reclutados; reunión de coordinación con la Seccional PRM</a:t>
            </a:r>
            <a:endParaRPr lang="en-US" sz="1600" dirty="0"/>
          </a:p>
        </p:txBody>
      </p:sp>
      <p:sp>
        <p:nvSpPr>
          <p:cNvPr id="12" name="Shape 10"/>
          <p:cNvSpPr/>
          <p:nvPr/>
        </p:nvSpPr>
        <p:spPr>
          <a:xfrm>
            <a:off x="548640" y="4965192"/>
            <a:ext cx="621792" cy="621792"/>
          </a:xfrm>
          <a:prstGeom prst="ellipse">
            <a:avLst/>
          </a:prstGeom>
          <a:solidFill>
            <a:schemeClr val="accent2"/>
          </a:solidFill>
          <a:ln w="12700">
            <a:solidFill>
              <a:schemeClr val="accent2"/>
            </a:solidFill>
            <a:prstDash val="solid"/>
          </a:ln>
        </p:spPr>
      </p:sp>
      <p:sp>
        <p:nvSpPr>
          <p:cNvPr id="13" name="Text 11"/>
          <p:cNvSpPr txBox="1"/>
          <p:nvPr/>
        </p:nvSpPr>
        <p:spPr>
          <a:xfrm>
            <a:off x="548640" y="4965192"/>
            <a:ext cx="621792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chemeClr val="bg1"/>
                </a:solidFill>
              </a:rPr>
              <a:t>4</a:t>
            </a:r>
            <a:endParaRPr lang="en-US" sz="2000" dirty="0"/>
          </a:p>
        </p:txBody>
      </p:sp>
      <p:sp>
        <p:nvSpPr>
          <p:cNvPr id="14" name="Text 12"/>
          <p:cNvSpPr txBox="1"/>
          <p:nvPr/>
        </p:nvSpPr>
        <p:spPr>
          <a:xfrm>
            <a:off x="1371600" y="4809744"/>
            <a:ext cx="5760720" cy="9326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chemeClr val="tx2"/>
                </a:solidFill>
              </a:rPr>
              <a:t>Semana 4</a:t>
            </a:r>
            <a:endParaRPr lang="en-US" sz="1600" dirty="0"/>
          </a:p>
          <a:p>
            <a:pPr indent="0" marL="0">
              <a:buNone/>
            </a:pPr>
            <a:r>
              <a:rPr lang="en-US" sz="1400" dirty="0">
                <a:solidFill>
                  <a:schemeClr val="tx1"/>
                </a:solidFill>
              </a:rPr>
              <a:t>Primer corte del tablero por zona: al menos 90 líderes reclutados; informe a la dirección de campaña</a:t>
            </a:r>
            <a:endParaRPr lang="en-US" sz="1600" dirty="0"/>
          </a:p>
        </p:txBody>
      </p:sp>
      <p:sp>
        <p:nvSpPr>
          <p:cNvPr id="15" name="Ruta 2028"/>
          <p:cNvSpPr/>
          <p:nvPr/>
        </p:nvSpPr>
        <p:spPr>
          <a:xfrm>
            <a:off x="7498080" y="1600200"/>
            <a:ext cx="4142232" cy="4224528"/>
          </a:xfrm>
          <a:prstGeom prst="roundRect">
            <a:avLst>
              <a:gd name="adj" fmla="val 1766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16" name="Text 14"/>
          <p:cNvSpPr txBox="1"/>
          <p:nvPr/>
        </p:nvSpPr>
        <p:spPr>
          <a:xfrm>
            <a:off x="7726680" y="1737360"/>
            <a:ext cx="37490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chemeClr val="tx2"/>
                </a:solidFill>
              </a:rPr>
              <a:t>Después: ruta hasta mayo de 2028</a:t>
            </a:r>
            <a:endParaRPr lang="en-US" sz="1600" dirty="0"/>
          </a:p>
        </p:txBody>
      </p:sp>
      <p:sp>
        <p:nvSpPr>
          <p:cNvPr id="17" name="Text 15"/>
          <p:cNvSpPr txBox="1"/>
          <p:nvPr/>
        </p:nvSpPr>
        <p:spPr>
          <a:xfrm>
            <a:off x="7726680" y="2240280"/>
            <a:ext cx="37490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chemeClr val="accent2"/>
                </a:solidFill>
              </a:rPr>
              <a:t>Instalar  </a:t>
            </a:r>
            <a:pPr indent="0" marL="0">
              <a:buNone/>
            </a:pPr>
            <a:r>
              <a:rPr lang="en-US" sz="1200" dirty="0">
                <a:solidFill>
                  <a:schemeClr val="accent3"/>
                </a:solidFill>
              </a:rPr>
              <a:t>nov 2026 – feb 2027</a:t>
            </a:r>
            <a:endParaRPr lang="en-US" sz="1400" dirty="0"/>
          </a:p>
          <a:p>
            <a:pPr indent="0" marL="0">
              <a:buNone/>
            </a:pPr>
            <a:r>
              <a:rPr lang="en-US" sz="1300" dirty="0">
                <a:solidFill>
                  <a:schemeClr val="tx1"/>
                </a:solidFill>
              </a:rPr>
              <a:t>Estructura completa; red de líderes con cédula nueva</a:t>
            </a:r>
            <a:endParaRPr lang="en-US" sz="1400" dirty="0"/>
          </a:p>
        </p:txBody>
      </p:sp>
      <p:sp>
        <p:nvSpPr>
          <p:cNvPr id="18" name="Text 16"/>
          <p:cNvSpPr txBox="1"/>
          <p:nvPr/>
        </p:nvSpPr>
        <p:spPr>
          <a:xfrm>
            <a:off x="7726680" y="3127248"/>
            <a:ext cx="37490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chemeClr val="accent2"/>
                </a:solidFill>
              </a:rPr>
              <a:t>Habilitar  </a:t>
            </a:r>
            <a:pPr indent="0" marL="0">
              <a:buNone/>
            </a:pPr>
            <a:r>
              <a:rPr lang="en-US" sz="1200" dirty="0">
                <a:solidFill>
                  <a:schemeClr val="accent3"/>
                </a:solidFill>
              </a:rPr>
              <a:t>mar – sep 2027</a:t>
            </a:r>
            <a:endParaRPr lang="en-US" sz="1400" dirty="0"/>
          </a:p>
          <a:p>
            <a:pPr indent="0" marL="0">
              <a:buNone/>
            </a:pPr>
            <a:r>
              <a:rPr lang="en-US" sz="1300" dirty="0">
                <a:solidFill>
                  <a:schemeClr val="tx1"/>
                </a:solidFill>
              </a:rPr>
              <a:t>400 líderes y 4,000 personas; 60 % del padrón renovado; recién llegados trasladados</a:t>
            </a:r>
            <a:endParaRPr lang="en-US" sz="1400" dirty="0"/>
          </a:p>
        </p:txBody>
      </p:sp>
      <p:sp>
        <p:nvSpPr>
          <p:cNvPr id="19" name="Text 17"/>
          <p:cNvSpPr txBox="1"/>
          <p:nvPr/>
        </p:nvSpPr>
        <p:spPr>
          <a:xfrm>
            <a:off x="7726680" y="4014216"/>
            <a:ext cx="37490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chemeClr val="accent2"/>
                </a:solidFill>
              </a:rPr>
              <a:t>Consolidar  </a:t>
            </a:r>
            <a:pPr indent="0" marL="0">
              <a:buNone/>
            </a:pPr>
            <a:r>
              <a:rPr lang="en-US" sz="1200" dirty="0">
                <a:solidFill>
                  <a:schemeClr val="accent3"/>
                </a:solidFill>
              </a:rPr>
              <a:t>oct 2027 – ene 2028</a:t>
            </a:r>
            <a:endParaRPr lang="en-US" sz="1400" dirty="0"/>
          </a:p>
          <a:p>
            <a:pPr indent="0" marL="0">
              <a:buNone/>
            </a:pPr>
            <a:r>
              <a:rPr lang="en-US" sz="1300" dirty="0">
                <a:solidFill>
                  <a:schemeClr val="tx1"/>
                </a:solidFill>
              </a:rPr>
              <a:t>Proceso interno del partido; 90 % renovado antes del cierre del padrón</a:t>
            </a:r>
            <a:endParaRPr lang="en-US" sz="1400" dirty="0"/>
          </a:p>
        </p:txBody>
      </p:sp>
      <p:sp>
        <p:nvSpPr>
          <p:cNvPr id="20" name="Text 18"/>
          <p:cNvSpPr txBox="1"/>
          <p:nvPr/>
        </p:nvSpPr>
        <p:spPr>
          <a:xfrm>
            <a:off x="7726680" y="4901184"/>
            <a:ext cx="37490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chemeClr val="accent2"/>
                </a:solidFill>
              </a:rPr>
              <a:t>Movilizar  </a:t>
            </a:r>
            <a:pPr indent="0" marL="0">
              <a:buNone/>
            </a:pPr>
            <a:r>
              <a:rPr lang="en-US" sz="1200" dirty="0">
                <a:solidFill>
                  <a:schemeClr val="accent3"/>
                </a:solidFill>
              </a:rPr>
              <a:t>feb – may 2028</a:t>
            </a:r>
            <a:endParaRPr lang="en-US" sz="1400" dirty="0"/>
          </a:p>
          <a:p>
            <a:pPr indent="0" marL="0">
              <a:buNone/>
            </a:pPr>
            <a:r>
              <a:rPr lang="en-US" sz="1300" dirty="0">
                <a:solidFill>
                  <a:schemeClr val="tx1"/>
                </a:solidFill>
              </a:rPr>
              <a:t>Delegados en las 84 mesas, transporte y día de la elección</a:t>
            </a:r>
            <a:endParaRPr lang="en-US" sz="1400" dirty="0"/>
          </a:p>
        </p:txBody>
      </p:sp>
      <p:sp>
        <p:nvSpPr>
          <p:cNvPr id="22" name="Barra de navegación"/>
          <p:cNvSpPr/>
          <p:nvPr/>
        </p:nvSpPr>
        <p:spPr>
          <a:xfrm>
            <a:off x="0" y="0"/>
            <a:ext cx="12191695" cy="384048"/>
          </a:xfrm>
          <a:prstGeom prst="rect">
            <a:avLst/>
          </a:prstGeom>
          <a:solidFill>
            <a:srgbClr val="F4F7FB"/>
          </a:solidFill>
          <a:ln w="12700">
            <a:solidFill>
              <a:srgbClr val="F4F7FB"/>
            </a:solidFill>
            <a:prstDash val="solid"/>
          </a:ln>
        </p:spPr>
      </p:sp>
      <p:sp>
        <p:nvSpPr>
          <p:cNvPr id="23" name="Shape 20"/>
          <p:cNvSpPr/>
          <p:nvPr/>
        </p:nvSpPr>
        <p:spPr>
          <a:xfrm>
            <a:off x="0" y="384048"/>
            <a:ext cx="12191695" cy="0"/>
          </a:xfrm>
          <a:prstGeom prst="line">
            <a:avLst/>
          </a:prstGeom>
          <a:noFill/>
          <a:ln w="9525">
            <a:solidFill>
              <a:srgbClr val="D6DEEA"/>
            </a:solidFill>
            <a:prstDash val="solid"/>
          </a:ln>
        </p:spPr>
      </p:sp>
      <p:sp>
        <p:nvSpPr>
          <p:cNvPr id="24" name="Pestaña Diagnóstico"/>
          <p:cNvSpPr txBox="1"/>
          <p:nvPr/>
        </p:nvSpPr>
        <p:spPr>
          <a:xfrm>
            <a:off x="548640" y="0"/>
            <a:ext cx="277291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u="none" spc="150" kern="0" dirty="0">
                <a:solidFill>
                  <a:srgbClr val="5A6B86"/>
                </a:solidFill>
                <a:hlinkClick r:id="rId1" action="ppaction://hlinksldjump" tooltip="Ir a Diagnóstico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DIAGNÓSTICO</a:t>
            </a:r>
            <a:endParaRPr lang="en-US" sz="1000" dirty="0"/>
          </a:p>
        </p:txBody>
      </p:sp>
      <p:sp>
        <p:nvSpPr>
          <p:cNvPr id="25" name="Pestaña Meta"/>
          <p:cNvSpPr txBox="1"/>
          <p:nvPr/>
        </p:nvSpPr>
        <p:spPr>
          <a:xfrm>
            <a:off x="3321558" y="0"/>
            <a:ext cx="277291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u="none" spc="150" kern="0" dirty="0">
                <a:solidFill>
                  <a:srgbClr val="5A6B86"/>
                </a:solidFill>
                <a:hlinkClick r:id="rId2" action="ppaction://hlinksldjump" tooltip="Ir a Meta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META</a:t>
            </a:r>
            <a:endParaRPr lang="en-US" sz="1000" dirty="0"/>
          </a:p>
        </p:txBody>
      </p:sp>
      <p:sp>
        <p:nvSpPr>
          <p:cNvPr id="26" name="Pestaña Plan y recomendación"/>
          <p:cNvSpPr txBox="1"/>
          <p:nvPr/>
        </p:nvSpPr>
        <p:spPr>
          <a:xfrm>
            <a:off x="6094476" y="0"/>
            <a:ext cx="277291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spc="150" kern="0" dirty="0">
                <a:solidFill>
                  <a:srgbClr val="002B63"/>
                </a:solidFill>
              </a:rPr>
              <a:t>PLAN Y RECOMENDACIÓN</a:t>
            </a:r>
            <a:endParaRPr lang="en-US" sz="1000" dirty="0"/>
          </a:p>
        </p:txBody>
      </p:sp>
      <p:sp>
        <p:nvSpPr>
          <p:cNvPr id="27" name="Sección actual"/>
          <p:cNvSpPr/>
          <p:nvPr/>
        </p:nvSpPr>
        <p:spPr>
          <a:xfrm>
            <a:off x="6926351" y="338328"/>
            <a:ext cx="1109167" cy="45720"/>
          </a:xfrm>
          <a:prstGeom prst="rect">
            <a:avLst/>
          </a:prstGeom>
          <a:solidFill>
            <a:srgbClr val="DA1822"/>
          </a:solidFill>
          <a:ln w="12700">
            <a:solidFill>
              <a:srgbClr val="DA1822"/>
            </a:solidFill>
            <a:prstDash val="solid"/>
          </a:ln>
        </p:spPr>
      </p:sp>
      <p:sp>
        <p:nvSpPr>
          <p:cNvPr id="28" name="Pestaña Ficha técnica"/>
          <p:cNvSpPr txBox="1"/>
          <p:nvPr/>
        </p:nvSpPr>
        <p:spPr>
          <a:xfrm>
            <a:off x="8867394" y="0"/>
            <a:ext cx="277291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u="none" spc="150" kern="0" dirty="0">
                <a:solidFill>
                  <a:srgbClr val="5A6B86"/>
                </a:solidFill>
                <a:hlinkClick r:id="rId3" action="ppaction://hlinksldjump" tooltip="Ir a Ficha técnica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FICHA TÉCNICA</a:t>
            </a:r>
            <a:endParaRPr lang="en-US" sz="10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55680" y="640080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accent4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6</a:t>
            </a:fld>
            <a:endParaRPr lang="en-US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ulo"/>
          <p:cNvSpPr txBox="1"/>
          <p:nvPr/>
        </p:nvSpPr>
        <p:spPr>
          <a:xfrm>
            <a:off x="548640" y="502920"/>
            <a:ext cx="11091672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chemeClr val="bg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Para ganar Pennsylvania con David Collado: primero habilitar, después convencer y finalmente movilizar</a:t>
            </a:r>
            <a:endParaRPr lang="en-US" sz="28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1481328"/>
            <a:ext cx="11091672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i="1" dirty="0">
                <a:solidFill>
                  <a:schemeClr val="accent4"/>
                </a:solidFill>
              </a:rPr>
              <a:t>En 2024 el PRM y aliados sacaron el 63 % en la seccional, 6 puntos más que en el país. Collado encabeza las preferencias internas del PRM (48.8 %, oct. 2026).</a:t>
            </a:r>
            <a:endParaRPr lang="en-US" sz="1500" dirty="0"/>
          </a:p>
        </p:txBody>
      </p:sp>
      <p:sp>
        <p:nvSpPr>
          <p:cNvPr id="4" name="Shape 2"/>
          <p:cNvSpPr/>
          <p:nvPr/>
        </p:nvSpPr>
        <p:spPr>
          <a:xfrm>
            <a:off x="548640" y="2130552"/>
            <a:ext cx="566928" cy="566928"/>
          </a:xfrm>
          <a:prstGeom prst="ellipse">
            <a:avLst/>
          </a:prstGeom>
          <a:solidFill>
            <a:schemeClr val="accent2"/>
          </a:solidFill>
          <a:ln w="12700">
            <a:solidFill>
              <a:schemeClr val="accent2"/>
            </a:solidFill>
            <a:prstDash val="solid"/>
          </a:ln>
        </p:spPr>
      </p:sp>
      <p:pic>
        <p:nvPicPr>
          <p:cNvPr id="5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94944" y="2276856"/>
            <a:ext cx="274320" cy="274320"/>
          </a:xfrm>
          <a:prstGeom prst="rect">
            <a:avLst/>
          </a:prstGeom>
        </p:spPr>
      </p:pic>
      <p:sp>
        <p:nvSpPr>
          <p:cNvPr id="6" name="Text 3"/>
          <p:cNvSpPr txBox="1"/>
          <p:nvPr/>
        </p:nvSpPr>
        <p:spPr>
          <a:xfrm>
            <a:off x="1298448" y="2057400"/>
            <a:ext cx="46634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chemeClr val="bg1"/>
                </a:solidFill>
              </a:rPr>
              <a:t>La cédula como puerta de entrada</a:t>
            </a:r>
            <a:endParaRPr lang="en-US" sz="1600" dirty="0"/>
          </a:p>
          <a:p>
            <a:pPr indent="0" marL="0">
              <a:buNone/>
            </a:pPr>
            <a:r>
              <a:rPr lang="en-US" sz="1300" dirty="0">
                <a:solidFill>
                  <a:schemeClr val="accent4"/>
                </a:solidFill>
              </a:rPr>
              <a:t>Citas, viajes en grupo y traslado de los recién llegados al padrón de Pennsylvania</a:t>
            </a:r>
            <a:endParaRPr lang="en-US" sz="1600" dirty="0"/>
          </a:p>
        </p:txBody>
      </p:sp>
      <p:sp>
        <p:nvSpPr>
          <p:cNvPr id="7" name="Shape 4"/>
          <p:cNvSpPr/>
          <p:nvPr/>
        </p:nvSpPr>
        <p:spPr>
          <a:xfrm>
            <a:off x="548640" y="3044952"/>
            <a:ext cx="566928" cy="566928"/>
          </a:xfrm>
          <a:prstGeom prst="ellipse">
            <a:avLst/>
          </a:prstGeom>
          <a:solidFill>
            <a:schemeClr val="accent2"/>
          </a:solidFill>
          <a:ln w="12700">
            <a:solidFill>
              <a:schemeClr val="accent2"/>
            </a:solidFill>
            <a:prstDash val="solid"/>
          </a:ln>
        </p:spPr>
      </p:sp>
      <p:pic>
        <p:nvPicPr>
          <p:cNvPr id="8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94944" y="3191256"/>
            <a:ext cx="274320" cy="274320"/>
          </a:xfrm>
          <a:prstGeom prst="rect">
            <a:avLst/>
          </a:prstGeom>
        </p:spPr>
      </p:pic>
      <p:sp>
        <p:nvSpPr>
          <p:cNvPr id="9" name="Text 5"/>
          <p:cNvSpPr txBox="1"/>
          <p:nvPr/>
        </p:nvSpPr>
        <p:spPr>
          <a:xfrm>
            <a:off x="1298448" y="2971800"/>
            <a:ext cx="46634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chemeClr val="bg1"/>
                </a:solidFill>
              </a:rPr>
              <a:t>Agenda de la diáspora</a:t>
            </a:r>
            <a:endParaRPr lang="en-US" sz="1600" dirty="0"/>
          </a:p>
          <a:p>
            <a:pPr indent="0" marL="0">
              <a:buNone/>
            </a:pPr>
            <a:r>
              <a:rPr lang="en-US" sz="1300" dirty="0">
                <a:solidFill>
                  <a:schemeClr val="accent4"/>
                </a:solidFill>
              </a:rPr>
              <a:t>Consulados, remesas, vivienda e inversión; validarla en 8 encuentros de escucha</a:t>
            </a:r>
            <a:endParaRPr lang="en-US" sz="1600" dirty="0"/>
          </a:p>
        </p:txBody>
      </p:sp>
      <p:sp>
        <p:nvSpPr>
          <p:cNvPr id="10" name="Shape 6"/>
          <p:cNvSpPr/>
          <p:nvPr/>
        </p:nvSpPr>
        <p:spPr>
          <a:xfrm>
            <a:off x="548640" y="3959352"/>
            <a:ext cx="566928" cy="566928"/>
          </a:xfrm>
          <a:prstGeom prst="ellipse">
            <a:avLst/>
          </a:prstGeom>
          <a:solidFill>
            <a:schemeClr val="accent2"/>
          </a:solidFill>
          <a:ln w="12700">
            <a:solidFill>
              <a:schemeClr val="accent2"/>
            </a:solidFill>
            <a:prstDash val="solid"/>
          </a:ln>
        </p:spPr>
      </p:sp>
      <p:pic>
        <p:nvPicPr>
          <p:cNvPr id="11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94944" y="4105656"/>
            <a:ext cx="274320" cy="274320"/>
          </a:xfrm>
          <a:prstGeom prst="rect">
            <a:avLst/>
          </a:prstGeom>
        </p:spPr>
      </p:pic>
      <p:sp>
        <p:nvSpPr>
          <p:cNvPr id="12" name="Text 7"/>
          <p:cNvSpPr txBox="1"/>
          <p:nvPr/>
        </p:nvSpPr>
        <p:spPr>
          <a:xfrm>
            <a:off x="1298448" y="3886200"/>
            <a:ext cx="46634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chemeClr val="bg1"/>
                </a:solidFill>
              </a:rPr>
              <a:t>Priorizar donde rinde más</a:t>
            </a:r>
            <a:endParaRPr lang="en-US" sz="1600" dirty="0"/>
          </a:p>
          <a:p>
            <a:pPr indent="0" marL="0">
              <a:buNone/>
            </a:pPr>
            <a:r>
              <a:rPr lang="en-US" sz="1300" dirty="0">
                <a:solidFill>
                  <a:schemeClr val="accent4"/>
                </a:solidFill>
              </a:rPr>
              <a:t>Convencer en Reading (PRM 59.5 %); movilizar en Kensington, Wilkes-Barre y Harrisburg</a:t>
            </a:r>
            <a:endParaRPr lang="en-US" sz="1600" dirty="0"/>
          </a:p>
        </p:txBody>
      </p:sp>
      <p:sp>
        <p:nvSpPr>
          <p:cNvPr id="13" name="Shape 8"/>
          <p:cNvSpPr/>
          <p:nvPr/>
        </p:nvSpPr>
        <p:spPr>
          <a:xfrm>
            <a:off x="548640" y="4873752"/>
            <a:ext cx="566928" cy="566928"/>
          </a:xfrm>
          <a:prstGeom prst="ellipse">
            <a:avLst/>
          </a:prstGeom>
          <a:solidFill>
            <a:schemeClr val="accent2"/>
          </a:solidFill>
          <a:ln w="12700">
            <a:solidFill>
              <a:schemeClr val="accent2"/>
            </a:solidFill>
            <a:prstDash val="solid"/>
          </a:ln>
        </p:spPr>
      </p:sp>
      <p:pic>
        <p:nvPicPr>
          <p:cNvPr id="14" name="Image 3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94944" y="5020056"/>
            <a:ext cx="274320" cy="274320"/>
          </a:xfrm>
          <a:prstGeom prst="rect">
            <a:avLst/>
          </a:prstGeom>
        </p:spPr>
      </p:pic>
      <p:sp>
        <p:nvSpPr>
          <p:cNvPr id="15" name="Text 9"/>
          <p:cNvSpPr txBox="1"/>
          <p:nvPr/>
        </p:nvSpPr>
        <p:spPr>
          <a:xfrm>
            <a:off x="1298448" y="4800600"/>
            <a:ext cx="46634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chemeClr val="bg1"/>
                </a:solidFill>
              </a:rPr>
              <a:t>Líderes con credibilidad local</a:t>
            </a:r>
            <a:endParaRPr lang="en-US" sz="1600" dirty="0"/>
          </a:p>
          <a:p>
            <a:pPr indent="0" marL="0">
              <a:buNone/>
            </a:pPr>
            <a:r>
              <a:rPr lang="en-US" sz="1300" dirty="0">
                <a:solidFill>
                  <a:schemeClr val="accent4"/>
                </a:solidFill>
              </a:rPr>
              <a:t>Iglesias, asociaciones y comercios dominicanos: de ahí salen los líderes de cada zona</a:t>
            </a:r>
            <a:endParaRPr lang="en-US" sz="1600" dirty="0"/>
          </a:p>
        </p:txBody>
      </p:sp>
      <p:sp>
        <p:nvSpPr>
          <p:cNvPr id="16" name="Shape 10"/>
          <p:cNvSpPr/>
          <p:nvPr/>
        </p:nvSpPr>
        <p:spPr>
          <a:xfrm>
            <a:off x="6217920" y="2130552"/>
            <a:ext cx="566928" cy="566928"/>
          </a:xfrm>
          <a:prstGeom prst="ellipse">
            <a:avLst/>
          </a:prstGeom>
          <a:solidFill>
            <a:schemeClr val="accent2"/>
          </a:solidFill>
          <a:ln w="12700">
            <a:solidFill>
              <a:schemeClr val="accent2"/>
            </a:solidFill>
            <a:prstDash val="solid"/>
          </a:ln>
        </p:spPr>
      </p:sp>
      <p:pic>
        <p:nvPicPr>
          <p:cNvPr id="17" name="Image 4" descr="preencoded.pn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6364224" y="2276856"/>
            <a:ext cx="274320" cy="274320"/>
          </a:xfrm>
          <a:prstGeom prst="rect">
            <a:avLst/>
          </a:prstGeom>
        </p:spPr>
      </p:pic>
      <p:sp>
        <p:nvSpPr>
          <p:cNvPr id="18" name="Text 11"/>
          <p:cNvSpPr txBox="1"/>
          <p:nvPr/>
        </p:nvSpPr>
        <p:spPr>
          <a:xfrm>
            <a:off x="6967728" y="2057400"/>
            <a:ext cx="46634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chemeClr val="bg1"/>
                </a:solidFill>
              </a:rPr>
              <a:t>Una sola estructura</a:t>
            </a:r>
            <a:endParaRPr lang="en-US" sz="1600" dirty="0"/>
          </a:p>
          <a:p>
            <a:pPr indent="0" marL="0">
              <a:buNone/>
            </a:pPr>
            <a:r>
              <a:rPr lang="en-US" sz="1300" dirty="0">
                <a:solidFill>
                  <a:schemeClr val="accent4"/>
                </a:solidFill>
              </a:rPr>
              <a:t>Coordinar con la Seccional PRM Pennsylvania; la división interna resta votos</a:t>
            </a:r>
            <a:endParaRPr lang="en-US" sz="1600" dirty="0"/>
          </a:p>
        </p:txBody>
      </p:sp>
      <p:sp>
        <p:nvSpPr>
          <p:cNvPr id="19" name="Shape 12"/>
          <p:cNvSpPr/>
          <p:nvPr/>
        </p:nvSpPr>
        <p:spPr>
          <a:xfrm>
            <a:off x="6217920" y="3044952"/>
            <a:ext cx="566928" cy="566928"/>
          </a:xfrm>
          <a:prstGeom prst="ellipse">
            <a:avLst/>
          </a:prstGeom>
          <a:solidFill>
            <a:schemeClr val="accent2"/>
          </a:solidFill>
          <a:ln w="12700">
            <a:solidFill>
              <a:schemeClr val="accent2"/>
            </a:solidFill>
            <a:prstDash val="solid"/>
          </a:ln>
        </p:spPr>
      </p:sp>
      <p:pic>
        <p:nvPicPr>
          <p:cNvPr id="20" name="Image 5" descr="preencoded.png">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6364224" y="3191256"/>
            <a:ext cx="274320" cy="274320"/>
          </a:xfrm>
          <a:prstGeom prst="rect">
            <a:avLst/>
          </a:prstGeom>
        </p:spPr>
      </p:pic>
      <p:sp>
        <p:nvSpPr>
          <p:cNvPr id="21" name="Text 13"/>
          <p:cNvSpPr txBox="1"/>
          <p:nvPr/>
        </p:nvSpPr>
        <p:spPr>
          <a:xfrm>
            <a:off x="6967728" y="2971800"/>
            <a:ext cx="46634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chemeClr val="bg1"/>
                </a:solidFill>
              </a:rPr>
              <a:t>Medir cada semana</a:t>
            </a:r>
            <a:endParaRPr lang="en-US" sz="1600" dirty="0"/>
          </a:p>
          <a:p>
            <a:pPr indent="0" marL="0">
              <a:buNone/>
            </a:pPr>
            <a:r>
              <a:rPr lang="en-US" sz="1300" dirty="0">
                <a:solidFill>
                  <a:schemeClr val="accent4"/>
                </a:solidFill>
              </a:rPr>
              <a:t>CRM con registros únicos y cédula verificada; corte semanal por zona</a:t>
            </a:r>
            <a:endParaRPr lang="en-US" sz="1600" dirty="0"/>
          </a:p>
        </p:txBody>
      </p:sp>
      <p:sp>
        <p:nvSpPr>
          <p:cNvPr id="22" name="Shape 14"/>
          <p:cNvSpPr/>
          <p:nvPr/>
        </p:nvSpPr>
        <p:spPr>
          <a:xfrm>
            <a:off x="6217920" y="3959352"/>
            <a:ext cx="566928" cy="566928"/>
          </a:xfrm>
          <a:prstGeom prst="ellipse">
            <a:avLst/>
          </a:prstGeom>
          <a:solidFill>
            <a:schemeClr val="accent2"/>
          </a:solidFill>
          <a:ln w="12700">
            <a:solidFill>
              <a:schemeClr val="accent2"/>
            </a:solidFill>
            <a:prstDash val="solid"/>
          </a:ln>
        </p:spPr>
      </p:sp>
      <p:pic>
        <p:nvPicPr>
          <p:cNvPr id="23" name="Image 6" descr="preencoded.png">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6364224" y="4105656"/>
            <a:ext cx="274320" cy="274320"/>
          </a:xfrm>
          <a:prstGeom prst="rect">
            <a:avLst/>
          </a:prstGeom>
        </p:spPr>
      </p:pic>
      <p:sp>
        <p:nvSpPr>
          <p:cNvPr id="24" name="Text 15"/>
          <p:cNvSpPr txBox="1"/>
          <p:nvPr/>
        </p:nvSpPr>
        <p:spPr>
          <a:xfrm>
            <a:off x="6967728" y="3886200"/>
            <a:ext cx="46634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chemeClr val="bg1"/>
                </a:solidFill>
              </a:rPr>
              <a:t>Cumplir la ley en todo</a:t>
            </a:r>
            <a:endParaRPr lang="en-US" sz="1600" dirty="0"/>
          </a:p>
          <a:p>
            <a:pPr indent="0" marL="0">
              <a:buNone/>
            </a:pPr>
            <a:r>
              <a:rPr lang="en-US" sz="1300" dirty="0">
                <a:solidFill>
                  <a:schemeClr val="accent4"/>
                </a:solidFill>
              </a:rPr>
              <a:t>Leyes 20-23 y 33-18, sin recursos públicos, datos con consentimiento expreso</a:t>
            </a:r>
            <a:endParaRPr lang="en-US" sz="1600" dirty="0"/>
          </a:p>
        </p:txBody>
      </p:sp>
      <p:sp>
        <p:nvSpPr>
          <p:cNvPr id="26" name="Barra de navegación"/>
          <p:cNvSpPr/>
          <p:nvPr/>
        </p:nvSpPr>
        <p:spPr>
          <a:xfrm>
            <a:off x="0" y="0"/>
            <a:ext cx="12191695" cy="384048"/>
          </a:xfrm>
          <a:prstGeom prst="rect">
            <a:avLst/>
          </a:prstGeom>
          <a:solidFill>
            <a:srgbClr val="001F4A"/>
          </a:solidFill>
          <a:ln w="12700">
            <a:solidFill>
              <a:srgbClr val="001F4A"/>
            </a:solidFill>
            <a:prstDash val="solid"/>
          </a:ln>
        </p:spPr>
      </p:sp>
      <p:sp>
        <p:nvSpPr>
          <p:cNvPr id="27" name="Shape 17"/>
          <p:cNvSpPr/>
          <p:nvPr/>
        </p:nvSpPr>
        <p:spPr>
          <a:xfrm>
            <a:off x="0" y="384048"/>
            <a:ext cx="12191695" cy="0"/>
          </a:xfrm>
          <a:prstGeom prst="line">
            <a:avLst/>
          </a:prstGeom>
          <a:noFill/>
          <a:ln w="9525">
            <a:solidFill>
              <a:srgbClr val="2E4C7A"/>
            </a:solidFill>
            <a:prstDash val="solid"/>
          </a:ln>
        </p:spPr>
      </p:sp>
      <p:sp>
        <p:nvSpPr>
          <p:cNvPr id="28" name="Pestaña Diagnóstico"/>
          <p:cNvSpPr txBox="1"/>
          <p:nvPr/>
        </p:nvSpPr>
        <p:spPr>
          <a:xfrm>
            <a:off x="548640" y="0"/>
            <a:ext cx="277291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u="none" spc="150" kern="0" dirty="0">
                <a:solidFill>
                  <a:srgbClr val="AFC0DA"/>
                </a:solidFill>
                <a:hlinkClick r:id="rId8" action="ppaction://hlinksldjump" tooltip="Ir a Diagnóstico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DIAGNÓSTICO</a:t>
            </a:r>
            <a:endParaRPr lang="en-US" sz="1000" dirty="0"/>
          </a:p>
        </p:txBody>
      </p:sp>
      <p:sp>
        <p:nvSpPr>
          <p:cNvPr id="29" name="Pestaña Meta"/>
          <p:cNvSpPr txBox="1"/>
          <p:nvPr/>
        </p:nvSpPr>
        <p:spPr>
          <a:xfrm>
            <a:off x="3321558" y="0"/>
            <a:ext cx="277291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u="none" spc="150" kern="0" dirty="0">
                <a:solidFill>
                  <a:srgbClr val="AFC0DA"/>
                </a:solidFill>
                <a:hlinkClick r:id="rId9" action="ppaction://hlinksldjump" tooltip="Ir a Meta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META</a:t>
            </a:r>
            <a:endParaRPr lang="en-US" sz="1000" dirty="0"/>
          </a:p>
        </p:txBody>
      </p:sp>
      <p:sp>
        <p:nvSpPr>
          <p:cNvPr id="30" name="Pestaña Plan y recomendación"/>
          <p:cNvSpPr txBox="1"/>
          <p:nvPr/>
        </p:nvSpPr>
        <p:spPr>
          <a:xfrm>
            <a:off x="6094476" y="0"/>
            <a:ext cx="277291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spc="150" kern="0" dirty="0">
                <a:solidFill>
                  <a:srgbClr val="FFFFFF"/>
                </a:solidFill>
              </a:rPr>
              <a:t>PLAN Y RECOMENDACIÓN</a:t>
            </a:r>
            <a:endParaRPr lang="en-US" sz="1000" dirty="0"/>
          </a:p>
        </p:txBody>
      </p:sp>
      <p:sp>
        <p:nvSpPr>
          <p:cNvPr id="31" name="Sección actual"/>
          <p:cNvSpPr/>
          <p:nvPr/>
        </p:nvSpPr>
        <p:spPr>
          <a:xfrm>
            <a:off x="6926351" y="338328"/>
            <a:ext cx="1109167" cy="45720"/>
          </a:xfrm>
          <a:prstGeom prst="rect">
            <a:avLst/>
          </a:prstGeom>
          <a:solidFill>
            <a:srgbClr val="DA1822"/>
          </a:solidFill>
          <a:ln w="12700">
            <a:solidFill>
              <a:srgbClr val="DA1822"/>
            </a:solidFill>
            <a:prstDash val="solid"/>
          </a:ln>
        </p:spPr>
      </p:sp>
      <p:sp>
        <p:nvSpPr>
          <p:cNvPr id="32" name="Pestaña Ficha técnica"/>
          <p:cNvSpPr txBox="1"/>
          <p:nvPr/>
        </p:nvSpPr>
        <p:spPr>
          <a:xfrm>
            <a:off x="8867394" y="0"/>
            <a:ext cx="277291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u="none" spc="150" kern="0" dirty="0">
                <a:solidFill>
                  <a:srgbClr val="AFC0DA"/>
                </a:solidFill>
                <a:hlinkClick r:id="rId10" action="ppaction://hlinksldjump" tooltip="Ir a Ficha técnica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FICHA TÉCNICA</a:t>
            </a:r>
            <a:endParaRPr lang="en-US" sz="10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55680" y="640080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accent4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7</a:t>
            </a:fld>
            <a:endParaRPr lang="en-US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title" hasCustomPrompt="1"/>
          </p:nvPr>
        </p:nvSpPr>
        <p:spPr>
          <a:xfrm>
            <a:off x="548640" y="502920"/>
            <a:ext cx="11091672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800" b="1" dirty="0">
                <a:solidFill>
                  <a:schemeClr val="tx2"/>
                </a:solidFill>
              </a:rPr>
              <a:t>Resumen: con 8 zonas y una red de 4,000 votantes, David Collado puede superar en 10 % al PRM y aliados de 2024</a:t>
            </a:r>
            <a:endParaRPr lang="en-US" sz="2800" dirty="0"/>
          </a:p>
        </p:txBody>
      </p:sp>
      <p:sp>
        <p:nvSpPr>
          <p:cNvPr id="3" name="Cifra 1"/>
          <p:cNvSpPr/>
          <p:nvPr/>
        </p:nvSpPr>
        <p:spPr>
          <a:xfrm>
            <a:off x="548640" y="1600200"/>
            <a:ext cx="3291840" cy="1280160"/>
          </a:xfrm>
          <a:prstGeom prst="roundRect">
            <a:avLst>
              <a:gd name="adj" fmla="val 5714"/>
            </a:avLst>
          </a:prstGeom>
          <a:solidFill>
            <a:schemeClr val="tx2"/>
          </a:solidFill>
          <a:ln w="12700">
            <a:solidFill>
              <a:schemeClr val="tx2"/>
            </a:solidFill>
            <a:prstDash val="solid"/>
          </a:ln>
        </p:spPr>
      </p:sp>
      <p:sp>
        <p:nvSpPr>
          <p:cNvPr id="4" name="Text 2"/>
          <p:cNvSpPr txBox="1"/>
          <p:nvPr/>
        </p:nvSpPr>
        <p:spPr>
          <a:xfrm>
            <a:off x="777240" y="1691640"/>
            <a:ext cx="288036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400" b="1" dirty="0">
                <a:solidFill>
                  <a:schemeClr val="bg1"/>
                </a:solidFill>
              </a:rPr>
              <a:t>47,529</a:t>
            </a:r>
            <a:endParaRPr lang="en-US" sz="3400" dirty="0"/>
          </a:p>
          <a:p>
            <a:pPr indent="0" marL="0">
              <a:buNone/>
            </a:pPr>
            <a:r>
              <a:rPr lang="en-US" sz="1400" dirty="0">
                <a:solidFill>
                  <a:schemeClr val="accent4"/>
                </a:solidFill>
              </a:rPr>
              <a:t>electores en 13 ciudades</a:t>
            </a:r>
            <a:endParaRPr lang="en-US" sz="3400" dirty="0"/>
          </a:p>
        </p:txBody>
      </p:sp>
      <p:sp>
        <p:nvSpPr>
          <p:cNvPr id="5" name="Cifra 2"/>
          <p:cNvSpPr/>
          <p:nvPr/>
        </p:nvSpPr>
        <p:spPr>
          <a:xfrm>
            <a:off x="548640" y="3044952"/>
            <a:ext cx="3291840" cy="1280160"/>
          </a:xfrm>
          <a:prstGeom prst="roundRect">
            <a:avLst>
              <a:gd name="adj" fmla="val 5714"/>
            </a:avLst>
          </a:prstGeom>
          <a:solidFill>
            <a:schemeClr val="tx2"/>
          </a:solidFill>
          <a:ln w="12700">
            <a:solidFill>
              <a:schemeClr val="tx2"/>
            </a:solidFill>
            <a:prstDash val="solid"/>
          </a:ln>
        </p:spPr>
      </p:sp>
      <p:sp>
        <p:nvSpPr>
          <p:cNvPr id="6" name="Text 4"/>
          <p:cNvSpPr txBox="1"/>
          <p:nvPr/>
        </p:nvSpPr>
        <p:spPr>
          <a:xfrm>
            <a:off x="777240" y="3136392"/>
            <a:ext cx="288036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400" b="1" dirty="0">
                <a:solidFill>
                  <a:schemeClr val="bg1"/>
                </a:solidFill>
              </a:rPr>
              <a:t>18.8 %</a:t>
            </a:r>
            <a:endParaRPr lang="en-US" sz="3400" dirty="0"/>
          </a:p>
          <a:p>
            <a:pPr indent="0" marL="0">
              <a:buNone/>
            </a:pPr>
            <a:r>
              <a:rPr lang="en-US" sz="1400" dirty="0">
                <a:solidFill>
                  <a:schemeClr val="accent4"/>
                </a:solidFill>
              </a:rPr>
              <a:t>votó en 2024</a:t>
            </a:r>
            <a:endParaRPr lang="en-US" sz="3400" dirty="0"/>
          </a:p>
        </p:txBody>
      </p:sp>
      <p:sp>
        <p:nvSpPr>
          <p:cNvPr id="7" name="Cifra 3"/>
          <p:cNvSpPr/>
          <p:nvPr/>
        </p:nvSpPr>
        <p:spPr>
          <a:xfrm>
            <a:off x="548640" y="4489704"/>
            <a:ext cx="3291840" cy="1280160"/>
          </a:xfrm>
          <a:prstGeom prst="roundRect">
            <a:avLst>
              <a:gd name="adj" fmla="val 5714"/>
            </a:avLst>
          </a:prstGeom>
          <a:solidFill>
            <a:schemeClr val="tx2"/>
          </a:solidFill>
          <a:ln w="12700">
            <a:solidFill>
              <a:schemeClr val="tx2"/>
            </a:solidFill>
            <a:prstDash val="solid"/>
          </a:ln>
        </p:spPr>
      </p:sp>
      <p:sp>
        <p:nvSpPr>
          <p:cNvPr id="8" name="Text 6"/>
          <p:cNvSpPr txBox="1"/>
          <p:nvPr/>
        </p:nvSpPr>
        <p:spPr>
          <a:xfrm>
            <a:off x="777240" y="4581144"/>
            <a:ext cx="288036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400" b="1" dirty="0">
                <a:solidFill>
                  <a:schemeClr val="bg1"/>
                </a:solidFill>
              </a:rPr>
              <a:t>227,647</a:t>
            </a:r>
            <a:endParaRPr lang="en-US" sz="3400" dirty="0"/>
          </a:p>
          <a:p>
            <a:pPr indent="0" marL="0">
              <a:buNone/>
            </a:pPr>
            <a:r>
              <a:rPr lang="en-US" sz="1400" dirty="0">
                <a:solidFill>
                  <a:schemeClr val="accent4"/>
                </a:solidFill>
              </a:rPr>
              <a:t>dominicanos en PA: el mayor aumento de EE. UU.</a:t>
            </a:r>
            <a:endParaRPr lang="en-US" sz="3400" dirty="0"/>
          </a:p>
        </p:txBody>
      </p:sp>
      <p:sp>
        <p:nvSpPr>
          <p:cNvPr id="9" name="El problema"/>
          <p:cNvSpPr/>
          <p:nvPr/>
        </p:nvSpPr>
        <p:spPr>
          <a:xfrm>
            <a:off x="4160520" y="1600200"/>
            <a:ext cx="7479792" cy="932688"/>
          </a:xfrm>
          <a:prstGeom prst="roundRect">
            <a:avLst>
              <a:gd name="adj" fmla="val 7843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10" name="Text 8"/>
          <p:cNvSpPr txBox="1"/>
          <p:nvPr/>
        </p:nvSpPr>
        <p:spPr>
          <a:xfrm>
            <a:off x="4389120" y="1600200"/>
            <a:ext cx="1737360" cy="9326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chemeClr val="tx2"/>
                </a:solidFill>
              </a:rPr>
              <a:t>El problema</a:t>
            </a:r>
            <a:endParaRPr lang="en-US" sz="1700" dirty="0"/>
          </a:p>
        </p:txBody>
      </p:sp>
      <p:sp>
        <p:nvSpPr>
          <p:cNvPr id="11" name="Text 9"/>
          <p:cNvSpPr txBox="1"/>
          <p:nvPr/>
        </p:nvSpPr>
        <p:spPr>
          <a:xfrm>
            <a:off x="6172200" y="1600200"/>
            <a:ext cx="5303520" cy="9326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chemeClr val="tx1"/>
                </a:solidFill>
              </a:rPr>
              <a:t>8 de cada 10 inscritos no votaron y la nueva cédula puede dejar fuera a miles de electores más.</a:t>
            </a:r>
            <a:endParaRPr lang="en-US" sz="1500" dirty="0"/>
          </a:p>
        </p:txBody>
      </p:sp>
      <p:sp>
        <p:nvSpPr>
          <p:cNvPr id="12" name="El plan"/>
          <p:cNvSpPr/>
          <p:nvPr/>
        </p:nvSpPr>
        <p:spPr>
          <a:xfrm>
            <a:off x="4160520" y="2670048"/>
            <a:ext cx="7479792" cy="932688"/>
          </a:xfrm>
          <a:prstGeom prst="roundRect">
            <a:avLst>
              <a:gd name="adj" fmla="val 7843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13" name="Text 11"/>
          <p:cNvSpPr txBox="1"/>
          <p:nvPr/>
        </p:nvSpPr>
        <p:spPr>
          <a:xfrm>
            <a:off x="4389120" y="2670048"/>
            <a:ext cx="1737360" cy="9326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chemeClr val="tx2"/>
                </a:solidFill>
              </a:rPr>
              <a:t>El plan</a:t>
            </a:r>
            <a:endParaRPr lang="en-US" sz="1700" dirty="0"/>
          </a:p>
        </p:txBody>
      </p:sp>
      <p:sp>
        <p:nvSpPr>
          <p:cNvPr id="14" name="Text 12"/>
          <p:cNvSpPr txBox="1"/>
          <p:nvPr/>
        </p:nvSpPr>
        <p:spPr>
          <a:xfrm>
            <a:off x="6172200" y="2670048"/>
            <a:ext cx="5303520" cy="9326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chemeClr val="tx1"/>
                </a:solidFill>
              </a:rPr>
              <a:t>8 zonas, 8 coordinadores y 400 líderes con 10 personas cada uno. La cédula y el traslado de los recién llegados son la puerta de entrada.</a:t>
            </a:r>
            <a:endParaRPr lang="en-US" sz="1500" dirty="0"/>
          </a:p>
        </p:txBody>
      </p:sp>
      <p:sp>
        <p:nvSpPr>
          <p:cNvPr id="15" name="La meta"/>
          <p:cNvSpPr/>
          <p:nvPr/>
        </p:nvSpPr>
        <p:spPr>
          <a:xfrm>
            <a:off x="4160520" y="3739896"/>
            <a:ext cx="7479792" cy="932688"/>
          </a:xfrm>
          <a:prstGeom prst="roundRect">
            <a:avLst>
              <a:gd name="adj" fmla="val 7843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16" name="Text 14"/>
          <p:cNvSpPr txBox="1"/>
          <p:nvPr/>
        </p:nvSpPr>
        <p:spPr>
          <a:xfrm>
            <a:off x="4389120" y="3739896"/>
            <a:ext cx="1737360" cy="9326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chemeClr val="tx2"/>
                </a:solidFill>
              </a:rPr>
              <a:t>La meta</a:t>
            </a:r>
            <a:endParaRPr lang="en-US" sz="1700" dirty="0"/>
          </a:p>
        </p:txBody>
      </p:sp>
      <p:sp>
        <p:nvSpPr>
          <p:cNvPr id="17" name="Text 15"/>
          <p:cNvSpPr txBox="1"/>
          <p:nvPr/>
        </p:nvSpPr>
        <p:spPr>
          <a:xfrm>
            <a:off x="6172200" y="3739896"/>
            <a:ext cx="5303520" cy="9326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chemeClr val="tx1"/>
                </a:solidFill>
              </a:rPr>
              <a:t>6,140 votos para David Collado: un 10 % más que el PRM y aliados en 2024 (5,581, dato oficial JCE).</a:t>
            </a:r>
            <a:endParaRPr lang="en-US" sz="1500" dirty="0"/>
          </a:p>
        </p:txBody>
      </p:sp>
      <p:sp>
        <p:nvSpPr>
          <p:cNvPr id="18" name="Próximo paso"/>
          <p:cNvSpPr/>
          <p:nvPr/>
        </p:nvSpPr>
        <p:spPr>
          <a:xfrm>
            <a:off x="4160520" y="4809744"/>
            <a:ext cx="7479792" cy="932688"/>
          </a:xfrm>
          <a:prstGeom prst="roundRect">
            <a:avLst>
              <a:gd name="adj" fmla="val 7843"/>
            </a:avLst>
          </a:prstGeom>
          <a:solidFill>
            <a:schemeClr val="accent2"/>
          </a:solidFill>
          <a:ln w="12700">
            <a:solidFill>
              <a:schemeClr val="accent2"/>
            </a:solidFill>
            <a:prstDash val="solid"/>
          </a:ln>
        </p:spPr>
      </p:sp>
      <p:sp>
        <p:nvSpPr>
          <p:cNvPr id="19" name="Text 17"/>
          <p:cNvSpPr txBox="1"/>
          <p:nvPr/>
        </p:nvSpPr>
        <p:spPr>
          <a:xfrm>
            <a:off x="4389120" y="4809744"/>
            <a:ext cx="1737360" cy="9326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chemeClr val="bg1"/>
                </a:solidFill>
              </a:rPr>
              <a:t>Próximo paso</a:t>
            </a:r>
            <a:endParaRPr lang="en-US" sz="1700" dirty="0"/>
          </a:p>
        </p:txBody>
      </p:sp>
      <p:sp>
        <p:nvSpPr>
          <p:cNvPr id="20" name="Text 18"/>
          <p:cNvSpPr txBox="1"/>
          <p:nvPr/>
        </p:nvSpPr>
        <p:spPr>
          <a:xfrm>
            <a:off x="6172200" y="4809744"/>
            <a:ext cx="5303520" cy="9326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chemeClr val="bg1"/>
                </a:solidFill>
              </a:rPr>
              <a:t>Nombrar a los 8 coordinadores de zona e iniciar en noviembre.</a:t>
            </a:r>
            <a:endParaRPr lang="en-US" sz="1500" dirty="0"/>
          </a:p>
        </p:txBody>
      </p:sp>
      <p:sp>
        <p:nvSpPr>
          <p:cNvPr id="21" name="Fuente"/>
          <p:cNvSpPr txBox="1"/>
          <p:nvPr/>
        </p:nvSpPr>
        <p:spPr>
          <a:xfrm>
            <a:off x="548640" y="5989320"/>
            <a:ext cx="1109167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i="1" dirty="0">
                <a:solidFill>
                  <a:schemeClr val="accent4"/>
                </a:solidFill>
              </a:rPr>
              <a:t>Fuentes: Seccional PRM Pennsylvania (padrón electoral); JCE 2024; INDEX, Registro Sociodemográfico de los Dominicanos en el Exterior (5.ª edición, 2026). Meta: proyección propia.</a:t>
            </a:r>
            <a:endParaRPr lang="en-US" sz="1000" dirty="0"/>
          </a:p>
        </p:txBody>
      </p:sp>
      <p:sp>
        <p:nvSpPr>
          <p:cNvPr id="23" name="Barra de navegación"/>
          <p:cNvSpPr/>
          <p:nvPr/>
        </p:nvSpPr>
        <p:spPr>
          <a:xfrm>
            <a:off x="0" y="0"/>
            <a:ext cx="12191695" cy="384048"/>
          </a:xfrm>
          <a:prstGeom prst="rect">
            <a:avLst/>
          </a:prstGeom>
          <a:solidFill>
            <a:srgbClr val="F4F7FB"/>
          </a:solidFill>
          <a:ln w="12700">
            <a:solidFill>
              <a:srgbClr val="F4F7FB"/>
            </a:solidFill>
            <a:prstDash val="solid"/>
          </a:ln>
        </p:spPr>
      </p:sp>
      <p:sp>
        <p:nvSpPr>
          <p:cNvPr id="24" name="Shape 21"/>
          <p:cNvSpPr/>
          <p:nvPr/>
        </p:nvSpPr>
        <p:spPr>
          <a:xfrm>
            <a:off x="0" y="384048"/>
            <a:ext cx="12191695" cy="0"/>
          </a:xfrm>
          <a:prstGeom prst="line">
            <a:avLst/>
          </a:prstGeom>
          <a:noFill/>
          <a:ln w="9525">
            <a:solidFill>
              <a:srgbClr val="D6DEEA"/>
            </a:solidFill>
            <a:prstDash val="solid"/>
          </a:ln>
        </p:spPr>
      </p:sp>
      <p:sp>
        <p:nvSpPr>
          <p:cNvPr id="25" name="Pestaña Diagnóstico"/>
          <p:cNvSpPr txBox="1"/>
          <p:nvPr/>
        </p:nvSpPr>
        <p:spPr>
          <a:xfrm>
            <a:off x="548640" y="0"/>
            <a:ext cx="277291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u="none" spc="150" kern="0" dirty="0">
                <a:solidFill>
                  <a:srgbClr val="5A6B86"/>
                </a:solidFill>
                <a:hlinkClick r:id="rId1" action="ppaction://hlinksldjump" tooltip="Ir a Diagnóstico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DIAGNÓSTICO</a:t>
            </a:r>
            <a:endParaRPr lang="en-US" sz="1000" dirty="0"/>
          </a:p>
        </p:txBody>
      </p:sp>
      <p:sp>
        <p:nvSpPr>
          <p:cNvPr id="26" name="Pestaña Meta"/>
          <p:cNvSpPr txBox="1"/>
          <p:nvPr/>
        </p:nvSpPr>
        <p:spPr>
          <a:xfrm>
            <a:off x="3321558" y="0"/>
            <a:ext cx="277291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u="none" spc="150" kern="0" dirty="0">
                <a:solidFill>
                  <a:srgbClr val="5A6B86"/>
                </a:solidFill>
                <a:hlinkClick r:id="rId2" action="ppaction://hlinksldjump" tooltip="Ir a Meta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META</a:t>
            </a:r>
            <a:endParaRPr lang="en-US" sz="1000" dirty="0"/>
          </a:p>
        </p:txBody>
      </p:sp>
      <p:sp>
        <p:nvSpPr>
          <p:cNvPr id="27" name="Pestaña Plan y recomendación"/>
          <p:cNvSpPr txBox="1"/>
          <p:nvPr/>
        </p:nvSpPr>
        <p:spPr>
          <a:xfrm>
            <a:off x="6094476" y="0"/>
            <a:ext cx="277291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spc="150" kern="0" dirty="0">
                <a:solidFill>
                  <a:srgbClr val="002B63"/>
                </a:solidFill>
              </a:rPr>
              <a:t>PLAN Y RECOMENDACIÓN</a:t>
            </a:r>
            <a:endParaRPr lang="en-US" sz="1000" dirty="0"/>
          </a:p>
        </p:txBody>
      </p:sp>
      <p:sp>
        <p:nvSpPr>
          <p:cNvPr id="28" name="Sección actual"/>
          <p:cNvSpPr/>
          <p:nvPr/>
        </p:nvSpPr>
        <p:spPr>
          <a:xfrm>
            <a:off x="6926351" y="338328"/>
            <a:ext cx="1109167" cy="45720"/>
          </a:xfrm>
          <a:prstGeom prst="rect">
            <a:avLst/>
          </a:prstGeom>
          <a:solidFill>
            <a:srgbClr val="DA1822"/>
          </a:solidFill>
          <a:ln w="12700">
            <a:solidFill>
              <a:srgbClr val="DA1822"/>
            </a:solidFill>
            <a:prstDash val="solid"/>
          </a:ln>
        </p:spPr>
      </p:sp>
      <p:sp>
        <p:nvSpPr>
          <p:cNvPr id="29" name="Pestaña Ficha técnica"/>
          <p:cNvSpPr txBox="1"/>
          <p:nvPr/>
        </p:nvSpPr>
        <p:spPr>
          <a:xfrm>
            <a:off x="8867394" y="0"/>
            <a:ext cx="277291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u="none" spc="150" kern="0" dirty="0">
                <a:solidFill>
                  <a:srgbClr val="5A6B86"/>
                </a:solidFill>
                <a:hlinkClick r:id="rId3" action="ppaction://hlinksldjump" tooltip="Ir a Ficha técnica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FICHA TÉCNICA</a:t>
            </a:r>
            <a:endParaRPr lang="en-US" sz="10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55680" y="640080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accent4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8</a:t>
            </a:fld>
            <a:endParaRPr lang="en-US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title" hasCustomPrompt="1"/>
          </p:nvPr>
        </p:nvSpPr>
        <p:spPr>
          <a:xfrm>
            <a:off x="548640" y="502920"/>
            <a:ext cx="11091672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800" b="1" dirty="0">
                <a:solidFill>
                  <a:schemeClr val="tx2"/>
                </a:solidFill>
              </a:rPr>
              <a:t>Ficha técnica: fuentes, método y supuestos del plan</a:t>
            </a:r>
            <a:endParaRPr lang="en-US" sz="2800" dirty="0"/>
          </a:p>
        </p:txBody>
      </p:sp>
      <p:sp>
        <p:nvSpPr>
          <p:cNvPr id="3" name="Ficha Fuentes de datos"/>
          <p:cNvSpPr/>
          <p:nvPr/>
        </p:nvSpPr>
        <p:spPr>
          <a:xfrm>
            <a:off x="548640" y="1600200"/>
            <a:ext cx="3520440" cy="3703320"/>
          </a:xfrm>
          <a:prstGeom prst="roundRect">
            <a:avLst>
              <a:gd name="adj" fmla="val 2078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4" name="Text 2"/>
          <p:cNvSpPr txBox="1"/>
          <p:nvPr/>
        </p:nvSpPr>
        <p:spPr>
          <a:xfrm>
            <a:off x="777240" y="1737360"/>
            <a:ext cx="30632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chemeClr val="tx2"/>
                </a:solidFill>
              </a:rPr>
              <a:t>Fuentes de datos</a:t>
            </a:r>
            <a:endParaRPr lang="en-US" sz="1700" dirty="0"/>
          </a:p>
        </p:txBody>
      </p:sp>
      <p:sp>
        <p:nvSpPr>
          <p:cNvPr id="5" name="Text 3"/>
          <p:cNvSpPr txBox="1"/>
          <p:nvPr/>
        </p:nvSpPr>
        <p:spPr>
          <a:xfrm>
            <a:off x="777240" y="2240280"/>
            <a:ext cx="3063240" cy="2971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300" dirty="0">
                <a:solidFill>
                  <a:schemeClr val="tx1"/>
                </a:solidFill>
              </a:rPr>
              <a:t>JCE: «Resultado Presidencial por colegios», elecciones del 19 de mayo de 2024, OCLEE Philadelphia (colegios 1253–1336)</a:t>
            </a:r>
            <a:endParaRPr lang="en-US" sz="13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300" dirty="0">
                <a:solidFill>
                  <a:schemeClr val="tx1"/>
                </a:solidFill>
              </a:rPr>
              <a:t>Seccional PRM Pennsylvania: padrón por recinto y lista de recintos y colegios (47,529 electores, 84 mesas)</a:t>
            </a:r>
            <a:endParaRPr lang="en-US" sz="13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300" dirty="0">
                <a:solidFill>
                  <a:schemeClr val="tx1"/>
                </a:solidFill>
              </a:rPr>
              <a:t>INDEX: Registro Sociodemográfico de los Dominicanos en el Exterior, 5.ª edición (2026)</a:t>
            </a:r>
            <a:endParaRPr lang="en-US" sz="13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300" dirty="0">
                <a:solidFill>
                  <a:schemeClr val="tx1"/>
                </a:solidFill>
              </a:rPr>
              <a:t>JCE: calendario de la nueva cédula en el exterior; encuestas internas del PRM (Markestrategia y RD Elige, 2026)</a:t>
            </a:r>
            <a:endParaRPr lang="en-US" sz="1300" dirty="0"/>
          </a:p>
        </p:txBody>
      </p:sp>
      <p:sp>
        <p:nvSpPr>
          <p:cNvPr id="6" name="Ficha Método"/>
          <p:cNvSpPr/>
          <p:nvPr/>
        </p:nvSpPr>
        <p:spPr>
          <a:xfrm>
            <a:off x="4334256" y="1600200"/>
            <a:ext cx="3520440" cy="3703320"/>
          </a:xfrm>
          <a:prstGeom prst="roundRect">
            <a:avLst>
              <a:gd name="adj" fmla="val 2078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4562856" y="1737360"/>
            <a:ext cx="30632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chemeClr val="tx2"/>
                </a:solidFill>
              </a:rPr>
              <a:t>Método</a:t>
            </a:r>
            <a:endParaRPr lang="en-US" sz="1700" dirty="0"/>
          </a:p>
        </p:txBody>
      </p:sp>
      <p:sp>
        <p:nvSpPr>
          <p:cNvPr id="8" name="Text 6"/>
          <p:cNvSpPr txBox="1"/>
          <p:nvPr/>
        </p:nvSpPr>
        <p:spPr>
          <a:xfrm>
            <a:off x="4562856" y="2240280"/>
            <a:ext cx="3063240" cy="2971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300" dirty="0">
                <a:solidFill>
                  <a:schemeClr val="tx1"/>
                </a:solidFill>
              </a:rPr>
              <a:t>Resultados por ciudad y zona: suma de los colegios de cada recinto</a:t>
            </a:r>
            <a:endParaRPr lang="en-US" sz="13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300" dirty="0">
                <a:solidFill>
                  <a:schemeClr val="tx1"/>
                </a:solidFill>
              </a:rPr>
              <a:t>Participación: votos emitidos entre electores. Apoyo: porcentaje de los votos válidos</a:t>
            </a:r>
            <a:endParaRPr lang="en-US" sz="13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300" dirty="0">
                <a:solidFill>
                  <a:schemeClr val="tx1"/>
                </a:solidFill>
              </a:rPr>
              <a:t>Meta 2028: votos del PRM y aliados en 2024 (5,581) más un 10 % = 6,140</a:t>
            </a:r>
            <a:endParaRPr lang="en-US" sz="13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300" dirty="0">
                <a:solidFill>
                  <a:schemeClr val="tx1"/>
                </a:solidFill>
              </a:rPr>
              <a:t>Zonas: agrupación geográfica propuesta de las 13 ciudades; líderes repartidos según los electores</a:t>
            </a:r>
            <a:endParaRPr lang="en-US" sz="1300" dirty="0"/>
          </a:p>
        </p:txBody>
      </p:sp>
      <p:sp>
        <p:nvSpPr>
          <p:cNvPr id="9" name="Ficha Supuestos y notas"/>
          <p:cNvSpPr/>
          <p:nvPr/>
        </p:nvSpPr>
        <p:spPr>
          <a:xfrm>
            <a:off x="8119872" y="1600200"/>
            <a:ext cx="3520440" cy="3703320"/>
          </a:xfrm>
          <a:prstGeom prst="roundRect">
            <a:avLst>
              <a:gd name="adj" fmla="val 2078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10" name="Text 8"/>
          <p:cNvSpPr txBox="1"/>
          <p:nvPr/>
        </p:nvSpPr>
        <p:spPr>
          <a:xfrm>
            <a:off x="8348472" y="1737360"/>
            <a:ext cx="30632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chemeClr val="tx2"/>
                </a:solidFill>
              </a:rPr>
              <a:t>Supuestos y notas</a:t>
            </a:r>
            <a:endParaRPr lang="en-US" sz="1700" dirty="0"/>
          </a:p>
        </p:txBody>
      </p:sp>
      <p:sp>
        <p:nvSpPr>
          <p:cNvPr id="11" name="Text 9"/>
          <p:cNvSpPr txBox="1"/>
          <p:nvPr/>
        </p:nvSpPr>
        <p:spPr>
          <a:xfrm>
            <a:off x="8348472" y="2240280"/>
            <a:ext cx="3063240" cy="2971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300" dirty="0">
                <a:solidFill>
                  <a:schemeClr val="tx1"/>
                </a:solidFill>
              </a:rPr>
              <a:t>Escenarios: proyección propia con supuestos de renovación de cédula, participación y apoyo (63 % como en 2024)</a:t>
            </a:r>
            <a:endParaRPr lang="en-US" sz="13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300" dirty="0">
                <a:solidFill>
                  <a:schemeClr val="tx1"/>
                </a:solidFill>
              </a:rPr>
              <a:t>Red: 400 líderes con 10 personas cada uno; se estima que vota el 85 %</a:t>
            </a:r>
            <a:endParaRPr lang="en-US" sz="13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300" dirty="0">
                <a:solidFill>
                  <a:schemeClr val="tx1"/>
                </a:solidFill>
              </a:rPr>
              <a:t>Padrón: 47,529 de la seccional (la JCE divulgó 47,604 en el corte preliminar)</a:t>
            </a:r>
            <a:endParaRPr lang="en-US" sz="13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300" dirty="0">
                <a:solidFill>
                  <a:schemeClr val="tx1"/>
                </a:solidFill>
              </a:rPr>
              <a:t>El colegio 1259 se asignó a la Asociación de Pennsylvania (Reading) por numeración; pendiente de confirmar</a:t>
            </a:r>
            <a:endParaRPr lang="en-US" sz="1300" dirty="0"/>
          </a:p>
        </p:txBody>
      </p:sp>
      <p:sp>
        <p:nvSpPr>
          <p:cNvPr id="12" name="Text 10"/>
          <p:cNvSpPr txBox="1"/>
          <p:nvPr/>
        </p:nvSpPr>
        <p:spPr>
          <a:xfrm>
            <a:off x="548640" y="5486400"/>
            <a:ext cx="11091672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chemeClr val="tx2"/>
                </a:solidFill>
              </a:rPr>
              <a:t>Preparado por: </a:t>
            </a:r>
            <a:pPr indent="0" marL="0">
              <a:buNone/>
            </a:pPr>
            <a:r>
              <a:rPr lang="en-US" sz="1300" dirty="0">
                <a:solidFill>
                  <a:schemeClr val="tx1"/>
                </a:solidFill>
              </a:rPr>
              <a:t>Orlando Castillo · Octubre de 2026 · Documento de trabajo para el CAD, Seccional Pennsylvania</a:t>
            </a:r>
            <a:endParaRPr lang="en-US" sz="1300" dirty="0"/>
          </a:p>
        </p:txBody>
      </p:sp>
      <p:sp>
        <p:nvSpPr>
          <p:cNvPr id="14" name="Barra de navegación"/>
          <p:cNvSpPr/>
          <p:nvPr/>
        </p:nvSpPr>
        <p:spPr>
          <a:xfrm>
            <a:off x="0" y="0"/>
            <a:ext cx="12191695" cy="384048"/>
          </a:xfrm>
          <a:prstGeom prst="rect">
            <a:avLst/>
          </a:prstGeom>
          <a:solidFill>
            <a:srgbClr val="F4F7FB"/>
          </a:solidFill>
          <a:ln w="12700">
            <a:solidFill>
              <a:srgbClr val="F4F7FB"/>
            </a:solidFill>
            <a:prstDash val="solid"/>
          </a:ln>
        </p:spPr>
      </p:sp>
      <p:sp>
        <p:nvSpPr>
          <p:cNvPr id="15" name="Shape 12"/>
          <p:cNvSpPr/>
          <p:nvPr/>
        </p:nvSpPr>
        <p:spPr>
          <a:xfrm>
            <a:off x="0" y="384048"/>
            <a:ext cx="12191695" cy="0"/>
          </a:xfrm>
          <a:prstGeom prst="line">
            <a:avLst/>
          </a:prstGeom>
          <a:noFill/>
          <a:ln w="9525">
            <a:solidFill>
              <a:srgbClr val="D6DEEA"/>
            </a:solidFill>
            <a:prstDash val="solid"/>
          </a:ln>
        </p:spPr>
      </p:sp>
      <p:sp>
        <p:nvSpPr>
          <p:cNvPr id="16" name="Pestaña Diagnóstico"/>
          <p:cNvSpPr txBox="1"/>
          <p:nvPr/>
        </p:nvSpPr>
        <p:spPr>
          <a:xfrm>
            <a:off x="548640" y="0"/>
            <a:ext cx="277291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u="none" spc="150" kern="0" dirty="0">
                <a:solidFill>
                  <a:srgbClr val="5A6B86"/>
                </a:solidFill>
                <a:hlinkClick r:id="rId1" action="ppaction://hlinksldjump" tooltip="Ir a Diagnóstico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DIAGNÓSTICO</a:t>
            </a:r>
            <a:endParaRPr lang="en-US" sz="1000" dirty="0"/>
          </a:p>
        </p:txBody>
      </p:sp>
      <p:sp>
        <p:nvSpPr>
          <p:cNvPr id="17" name="Pestaña Meta"/>
          <p:cNvSpPr txBox="1"/>
          <p:nvPr/>
        </p:nvSpPr>
        <p:spPr>
          <a:xfrm>
            <a:off x="3321558" y="0"/>
            <a:ext cx="277291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u="none" spc="150" kern="0" dirty="0">
                <a:solidFill>
                  <a:srgbClr val="5A6B86"/>
                </a:solidFill>
                <a:hlinkClick r:id="rId2" action="ppaction://hlinksldjump" tooltip="Ir a Meta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META</a:t>
            </a:r>
            <a:endParaRPr lang="en-US" sz="1000" dirty="0"/>
          </a:p>
        </p:txBody>
      </p:sp>
      <p:sp>
        <p:nvSpPr>
          <p:cNvPr id="18" name="Pestaña Plan y recomendación"/>
          <p:cNvSpPr txBox="1"/>
          <p:nvPr/>
        </p:nvSpPr>
        <p:spPr>
          <a:xfrm>
            <a:off x="6094476" y="0"/>
            <a:ext cx="277291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u="none" spc="150" kern="0" dirty="0">
                <a:solidFill>
                  <a:srgbClr val="5A6B86"/>
                </a:solidFill>
                <a:hlinkClick r:id="rId3" action="ppaction://hlinksldjump" tooltip="Ir a Plan y recomendación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PLAN Y RECOMENDACIÓN</a:t>
            </a:r>
            <a:endParaRPr lang="en-US" sz="1000" dirty="0"/>
          </a:p>
        </p:txBody>
      </p:sp>
      <p:sp>
        <p:nvSpPr>
          <p:cNvPr id="19" name="Pestaña Ficha técnica"/>
          <p:cNvSpPr txBox="1"/>
          <p:nvPr/>
        </p:nvSpPr>
        <p:spPr>
          <a:xfrm>
            <a:off x="8867394" y="0"/>
            <a:ext cx="277291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spc="150" kern="0" dirty="0">
                <a:solidFill>
                  <a:srgbClr val="002B63"/>
                </a:solidFill>
              </a:rPr>
              <a:t>FICHA TÉCNICA</a:t>
            </a:r>
            <a:endParaRPr lang="en-US" sz="1000" dirty="0"/>
          </a:p>
        </p:txBody>
      </p:sp>
      <p:sp>
        <p:nvSpPr>
          <p:cNvPr id="20" name="Sección actual"/>
          <p:cNvSpPr/>
          <p:nvPr/>
        </p:nvSpPr>
        <p:spPr>
          <a:xfrm>
            <a:off x="9699269" y="338328"/>
            <a:ext cx="1109167" cy="45720"/>
          </a:xfrm>
          <a:prstGeom prst="rect">
            <a:avLst/>
          </a:prstGeom>
          <a:solidFill>
            <a:srgbClr val="DA1822"/>
          </a:solidFill>
          <a:ln w="12700">
            <a:solidFill>
              <a:srgbClr val="DA1822"/>
            </a:solidFill>
            <a:prstDash val="solid"/>
          </a:ln>
        </p:spPr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55680" y="640080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accent4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9</a:t>
            </a:fld>
            <a:endParaRPr lang="en-US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CAD El Proximo">
  <a:themeElements>
    <a:clrScheme name="CAD El Proximo">
      <a:dk1>
        <a:srgbClr val="1B1F2A"/>
      </a:dk1>
      <a:lt1>
        <a:srgbClr val="FFFFFF"/>
      </a:lt1>
      <a:dk2>
        <a:srgbClr val="002B63"/>
      </a:dk2>
      <a:lt2>
        <a:srgbClr val="EEF2F8"/>
      </a:lt2>
      <a:accent1>
        <a:srgbClr val="002B63"/>
      </a:accent1>
      <a:accent2>
        <a:srgbClr val="DA1822"/>
      </a:accent2>
      <a:accent3>
        <a:srgbClr val="4F75AE"/>
      </a:accent3>
      <a:accent4>
        <a:srgbClr val="9AA7BD"/>
      </a:accent4>
      <a:accent5>
        <a:srgbClr val="E9A23B"/>
      </a:accent5>
      <a:accent6>
        <a:srgbClr val="2E8B57"/>
      </a:accent6>
      <a:hlink>
        <a:srgbClr val="5A6B86"/>
      </a:hlink>
      <a:folHlink>
        <a:srgbClr val="5A6B86"/>
      </a:folHlink>
    </a:clrScheme>
    <a:fontScheme name="CAD El Proximo">
      <a:majorFont>
        <a:latin typeface="Calibri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9</Slides>
  <Notes>9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9</vt:i4>
      </vt:variant>
    </vt:vector>
  </HeadingPairs>
  <TitlesOfParts>
    <vt:vector size="12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Plan Estratégico Electoral Pennsylvania 2028</dc:title>
  <dc:subject>PptxGenJS Presentation</dc:subject>
  <dc:creator>Orlando Castillo</dc:creator>
  <cp:lastModifiedBy>Orlando Castillo</cp:lastModifiedBy>
  <cp:revision>1</cp:revision>
  <dcterms:created xsi:type="dcterms:W3CDTF">2026-10-21T13:37:40Z</dcterms:created>
  <dcterms:modified xsi:type="dcterms:W3CDTF">2026-10-21T13:37:40Z</dcterms:modified>
</cp:coreProperties>
</file>