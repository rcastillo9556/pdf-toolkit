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81055105-8a35-dbeb-b116-b418d11f6653}">
          <p14:sldIdLst>
            <p14:sldId id="256"/>
            <p14:sldId id="257"/>
            <p14:sldId id="258"/>
            <p14:sldId id="259"/>
          </p14:sldIdLst>
        </p14:section>
        <p14:section name="Resultados 2024" id="{c0a13815-683a-a0ae-04e2-1fed2887444b}">
          <p14:sldIdLst>
            <p14:sldId id="260"/>
          </p14:sldIdLst>
        </p14:section>
        <p14:section name="Meta" id="{7b4351ed-713f-d7b1-1df9-e65905ad782b}">
          <p14:sldIdLst>
            <p14:sldId id="261"/>
          </p14:sldIdLst>
        </p14:section>
        <p14:section name="Plan y recomendación" id="{4668df20-0698-8355-8f01-343e1e10e704}">
          <p14:sldIdLst>
            <p14:sldId id="262"/>
            <p14:sldId id="263"/>
            <p14:sldId id="264"/>
          </p14:sldIdLst>
        </p14:section>
        <p14:section name="Ficha técnica" id="{b1733dec-3d2c-ae73-c2a1-e67bb84fa3df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400 líderes con 10 personas cada uno (4,000 personas).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oficiales de la JCE por colegio, agrupados por recinto con la lista de colegios de la Seccional PRM Pennsylvania (Nilba Sánchez y Yajaira Alcántara). Los totales coinciden con la seccional: 8,939 emitidos, 5,581 votos del PRM y aliados, 47,529 electores. Nota: la lista de la seccional asigna 4 mesas a la Asociación de Pennsylvania (Reading) pero solo enumera 1256, 1257 y 1258; el colegio 1259, el único que no aparece, se asignó a ese recinto por numeración (confirmar). Por recinto, la participación va de 13.5 % (AAR Solutions, Wilkes-Barre) a 29.4 % (Plaza San Juan Bautista, Lancaster), y el apoyo al PRM y aliados de 53.7 % (Scranton) a 68.1 % (Visitation, Philadelphia). Colegios más débiles para el PRM: 1294 y 1300 (La Senda I y II, Reading), 1281 (Hazleton), 1307 (Lancaster), 1333 (West Kensington), 1331 (Scranton), 1265 y 1269 (Allentown).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técnica del documento: fuentes de cada dato, método de cálculo y supuestos. Todos los resultados de 2024 son oficiales de la JCE; los escenarios y la meta son proyecciones propias.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0.xml"/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5.xml"/><Relationship Id="rId2" Type="http://schemas.openxmlformats.org/officeDocument/2006/relationships/slide" Target="slide6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image" Target="../media/image-3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chart" Target="/ppt/charts/chart2.xm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6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5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chart" Target="/ppt/charts/chart3.xm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9" Type="http://schemas.openxmlformats.org/officeDocument/2006/relationships/slide" Target="slide5.xml"/><Relationship Id="rId10" Type="http://schemas.openxmlformats.org/officeDocument/2006/relationships/slide" Target="slide6.xml"/><Relationship Id="rId11" Type="http://schemas.openxmlformats.org/officeDocument/2006/relationships/slide" Target="slide1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1691640" y="749808"/>
            <a:ext cx="6080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Electoral Pennsylvania 2028</a:t>
            </a:r>
            <a:endParaRPr lang="en-US" sz="2400" dirty="0"/>
          </a:p>
        </p:txBody>
      </p:sp>
      <p:sp>
        <p:nvSpPr>
          <p:cNvPr id="3" name="Marco foto"/>
          <p:cNvSpPr/>
          <p:nvPr/>
        </p:nvSpPr>
        <p:spPr>
          <a:xfrm>
            <a:off x="521208" y="630936"/>
            <a:ext cx="1060704" cy="106070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4" name="Foto Orlando Castillo" descr="Orlando Castil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8368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CAD · SECCIONAL PENNSYLVANIA</a:t>
            </a:r>
            <a:endParaRPr lang="en-US" sz="1300" dirty="0"/>
          </a:p>
        </p:txBody>
      </p:sp>
      <p:sp>
        <p:nvSpPr>
          <p:cNvPr id="6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8,939 votaron: 8 de cada 10 se quedaron en casa</a:t>
            </a:r>
            <a:endParaRPr lang="en-US" sz="3800" dirty="0"/>
          </a:p>
        </p:txBody>
      </p:sp>
      <p:graphicFrame>
        <p:nvGraphicFramePr>
          <p:cNvPr id="7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9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11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3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5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19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1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2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3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3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4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4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5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5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6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6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superar en 10 % al PRM y aliados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8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6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7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8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9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88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90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91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92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93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94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95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está inscrito para votar en la seccional (21 %). Y la comunidad creció un 26 %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Dos trámites, una sola cita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800" dirty="0"/>
          </a:p>
        </p:txBody>
      </p:sp>
      <p:sp>
        <p:nvSpPr>
          <p:cNvPr id="1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12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4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15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6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17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8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9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 2024 el PRM y aliados ganaron en las 11 ciudades; Reading, con el 18 % del padrón, quedó entre las de menor apoyo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680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51560"/>
                <a:gridCol w="960120"/>
                <a:gridCol w="1234440"/>
                <a:gridCol w="1234440"/>
                <a:gridCol w="1097280"/>
              </a:tblGrid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Ciudad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Votaron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Participación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PRM y aliados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% PRM y al.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Wilkes-Barre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1,319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Wilmington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65.9 %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749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Philadelphia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16,237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2,923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1,886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Harrisburg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1,670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Allentown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1,697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Lancaster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29.4 %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Lebanon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789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22.1 %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60.2 %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York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1,224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Reading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1,577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Scranton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Seccional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8,939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5,581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63.4 %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84 de 84"/>
          <p:cNvSpPr/>
          <p:nvPr/>
        </p:nvSpPr>
        <p:spPr>
          <a:xfrm>
            <a:off x="8503920" y="1600200"/>
            <a:ext cx="3136392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64592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84 de 84 colegios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ganados por el PRM y aliados; 63.4 %, 6 puntos más que en el país</a:t>
            </a:r>
            <a:endParaRPr lang="en-US" sz="2000" dirty="0"/>
          </a:p>
        </p:txBody>
      </p:sp>
      <p:sp>
        <p:nvSpPr>
          <p:cNvPr id="6" name="Prioridades"/>
          <p:cNvSpPr/>
          <p:nvPr/>
        </p:nvSpPr>
        <p:spPr>
          <a:xfrm>
            <a:off x="8503920" y="2880360"/>
            <a:ext cx="31363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0" y="2971800"/>
            <a:ext cx="28346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Prioridades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Convencer en Reading: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el menor apoyo entre las ciudades grandes (59.5 %), con el 18 % del padrón.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Movilizar en Wilkes-Barre, Harrisburg y Kensington (Philadelphia):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la participación más baja (13.5 %, 13.6 % y 16.9 %).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Modelo a replicar: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Lancaster votó al 29 %, el doble que la seccional.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JCE, «Resultado Presidencial por colegios» (2024), agrupado por ciudad según la lista de la Seccional PRM Pennsylvania. Ordenado por % del PRM y aliados. En rojo: participación &lt; 17 % o apoyo &lt; 60 %.</a:t>
            </a:r>
            <a:endParaRPr lang="en-US" sz="1000" dirty="0"/>
          </a:p>
        </p:txBody>
      </p:sp>
      <p:sp>
        <p:nvSpPr>
          <p:cNvPr id="10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2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3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RESULTADOS 2024</a:t>
            </a:r>
            <a:endParaRPr lang="en-US" sz="1000" dirty="0"/>
          </a:p>
        </p:txBody>
      </p:sp>
      <p:sp>
        <p:nvSpPr>
          <p:cNvPr id="14" name="Sección actual"/>
          <p:cNvSpPr/>
          <p:nvPr/>
        </p:nvSpPr>
        <p:spPr>
          <a:xfrm>
            <a:off x="3432475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5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6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7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4,000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votos, el 55 % de la meta.</a:t>
            </a:r>
            <a:endParaRPr lang="en-US" sz="1400" dirty="0"/>
          </a:p>
        </p:txBody>
      </p:sp>
      <p:sp>
        <p:nvSpPr>
          <p:cNvPr id="5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3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6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META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5650809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 (≈ 3,400 votos)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46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48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49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50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51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52" name="Sección actual"/>
          <p:cNvSpPr/>
          <p:nvPr/>
        </p:nvSpPr>
        <p:spPr>
          <a:xfrm>
            <a:off x="7869144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53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2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4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5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6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7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7869144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502920"/>
            <a:ext cx="11091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6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8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8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9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9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30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0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31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32" name="Sección actual"/>
          <p:cNvSpPr/>
          <p:nvPr/>
        </p:nvSpPr>
        <p:spPr>
          <a:xfrm>
            <a:off x="7869144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3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1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Ficha técnica: fuentes, método y supuestos del plan</a:t>
            </a:r>
            <a:endParaRPr lang="en-US" sz="2800" dirty="0"/>
          </a:p>
        </p:txBody>
      </p:sp>
      <p:sp>
        <p:nvSpPr>
          <p:cNvPr id="3" name="Ficha Fuentes de datos"/>
          <p:cNvSpPr/>
          <p:nvPr/>
        </p:nvSpPr>
        <p:spPr>
          <a:xfrm>
            <a:off x="548640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Fuentes de datos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«Resultado Presidencial por colegios», elecciones del 19 de mayo de 2024, OCLEE Philadelphia (colegios 1253–1336)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Seccional PRM Pennsylvania: padrón por recinto y lista de recintos y colegios (47,529 electores, 84 mesas)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INDEX: Registro Sociodemográfico de los Dominicanos en el Exterior, 5.ª edición (2026)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calendario de la nueva cédula en el exterior; encuestas internas del PRM (Markestrategia y RD Elige, 2026)</a:t>
            </a:r>
            <a:endParaRPr lang="en-US" sz="1300" dirty="0"/>
          </a:p>
        </p:txBody>
      </p:sp>
      <p:sp>
        <p:nvSpPr>
          <p:cNvPr id="6" name="Ficha Método"/>
          <p:cNvSpPr/>
          <p:nvPr/>
        </p:nvSpPr>
        <p:spPr>
          <a:xfrm>
            <a:off x="4334256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62856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Método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62856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por ciudad y zona: suma de los colegios de cada recinto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Participación: votos emitidos entre electores. Apoyo: porcentaje de los votos válidos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Meta 2028: votos del PRM y aliados en 2024 (5,581) más un 10 % = 6,140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Zonas: agrupación geográfica propuesta de las 13 ciudades; líderes repartidos según los electores</a:t>
            </a:r>
            <a:endParaRPr lang="en-US" sz="1300" dirty="0"/>
          </a:p>
        </p:txBody>
      </p:sp>
      <p:sp>
        <p:nvSpPr>
          <p:cNvPr id="9" name="Ficha Supuestos y notas"/>
          <p:cNvSpPr/>
          <p:nvPr/>
        </p:nvSpPr>
        <p:spPr>
          <a:xfrm>
            <a:off x="8119872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48472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Supuestos y notas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48472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Escenarios: proyección propia con supuestos de renovación de cédula, participación y apoyo (63 % como en 2024)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Red: 400 líderes con 10 personas cada uno; se estima que vota el 85 %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Padrón: 47,529 de la seccional (la JCE divulgó 47,604 en el corte preliminar)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El colegio 1259 se asignó a la Asociación de Pennsylvania (Reading) por numeración; pendiente de confirmar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Preparado por: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Orlando Castillo · Octubre de 2026 · Documento de trabajo para el CAD, Seccional Pennsylvania</a:t>
            </a:r>
            <a:endParaRPr lang="en-US" sz="1300" dirty="0"/>
          </a:p>
        </p:txBody>
      </p:sp>
      <p:sp>
        <p:nvSpPr>
          <p:cNvPr id="1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6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7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18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9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0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FICHA TÉCNICA</a:t>
            </a:r>
            <a:endParaRPr lang="en-US" sz="1000" dirty="0"/>
          </a:p>
        </p:txBody>
      </p:sp>
      <p:sp>
        <p:nvSpPr>
          <p:cNvPr id="21" name="Sección actual"/>
          <p:cNvSpPr/>
          <p:nvPr/>
        </p:nvSpPr>
        <p:spPr>
          <a:xfrm>
            <a:off x="10087478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5A6B86"/>
      </a:hlink>
      <a:folHlink>
        <a:srgbClr val="5A6B86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Estratégico Electoral Pennsylvania 2028</dc:title>
  <dc:subject>PptxGenJS Presentation</dc:subject>
  <dc:creator>Orlando Castillo</dc:creator>
  <cp:lastModifiedBy>Orlando Castillo</cp:lastModifiedBy>
  <cp:revision>1</cp:revision>
  <dcterms:created xsi:type="dcterms:W3CDTF">2026-10-21T06:12:17Z</dcterms:created>
  <dcterms:modified xsi:type="dcterms:W3CDTF">2026-10-21T06:12:17Z</dcterms:modified>
</cp:coreProperties>
</file>