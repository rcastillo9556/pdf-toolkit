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d44b3acc-fa1a-ff09-7f1a-64ef8327e87a}">
          <p14:sldIdLst>
            <p14:sldId id="256"/>
            <p14:sldId id="257"/>
            <p14:sldId id="258"/>
          </p14:sldIdLst>
        </p14:section>
        <p14:section name="Meta" id="{5543e979-260c-764e-c51c-d01b50114343}">
          <p14:sldIdLst>
            <p14:sldId id="259"/>
          </p14:sldIdLst>
        </p14:section>
        <p14:section name="Plan y recomendación" id="{6308dedf-955e-36f8-34c5-185bdbfa830d}">
          <p14:sldIdLst>
            <p14:sldId id="260"/>
            <p14:sldId id="261"/>
            <p14:sldId id="262"/>
            <p14:sldId id="263"/>
          </p14:sldIdLst>
        </p14:section>
        <p14:section name="Ficha técnica" id="{e9d80923-298f-4921-a3b9-950fde5d1426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8939</c:v>
                </c:pt>
                <c:pt idx="1">
                  <c:v>38590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Votos para David Collado por escenario (63 % de apoyo, como el PRM y aliados en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y aliados 2024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5581</c:v>
                </c:pt>
                <c:pt idx="1">
                  <c:v>6139</c:v>
                </c:pt>
                <c:pt idx="2">
                  <c:v>3564</c:v>
                </c:pt>
                <c:pt idx="3">
                  <c:v>5465</c:v>
                </c:pt>
                <c:pt idx="4">
                  <c:v>6534</c:v>
                </c:pt>
                <c:pt idx="5">
                  <c:v>7217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12 ciudades de Pennsylvania y Wilmington (Delaware). 47,529 electores en 84 mesas (padrón de la seccional; la JCE divulgó 47,604 en el corte preliminar). Votos 2024, dato oficial JCE a nivel presidencial: 8,939 emitidos (8,810 válidos y 129 nulos). Participación: 18.8 %; no votaron 38,590. Es la 4.ª seccional más grande de la Circunscripción I, después de Nueva York, Nueva Jersey y Boston; según el INDEX, Pennsylvania tuvo en 2025 el mayor aumento de dominicanos de EE. UU. (+36,553).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oficial JCE 2024 (nivel presidencial, OCLEE Philadelphia, colegios 1253 a 1336): 8,939 votos emitidos, 8,810 válidos, 129 nulos. PRM y aliados 5,581 (63.35 % de los válidos; PRM solo 4,996), Fuerza del Pueblo y aliados 1,852 (21.02 %), PED 687 (7.80 %), PLD 540 (6.13 %). En la seccional el PRM y aliados sacaron 5.9 puntos más que su resultado nacional (57.44 %). Meta 2028: +10 % = 6,139 votos (≈6,140); techo +20 % = 6,697 (≈6,700). Escenarios con 63.4 % de apoyo sobre los votos válidos (98.6 % de los emitidos): Adverso, 60 % renueva la cédula y vota el 20 % de los habilitados (5,703 votos totales → 3,564); Inercial, 80 % y 23 % (8,745 → 5,465, por debajo de 2024); Realista, participación del 22 % sobre el padrón (10,456 → 6,534, +17 %); Favorable, 90 % y 27 % (11,550 → 7,217, +29 %). Desgaste (tercer período del PRM sin Abinader en la boleta y malestar social en las encuestas): con 58 % de apoyo la meta exige 10,740 votos totales (22.6 % de participación; 20.2 % si el padrón crece 12 %); con 53 %, 11,753 (24.7 %; 22.1 %). Red: 4,000 personas × 85 % = 3,400 votos, el 55 % de la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18.8 % (8,939 de 47,529, dato oficial JCE) y riesgo de la nueva cédula. Plan: 8 zonas, 400 líderes con 10 personas cada uno (4,000 personas). Meta: 6,140 votos para David Collado, un 10 % más que los 5,581 votos del PRM y aliados en 2024 (63.4 % de los válidos). Próximo paso: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Ficha técnica del documento: fuentes de cada dato, método de cálculo y supuestos. Todos los resultados de 2024 son oficiales de la JCE; los escenarios y la meta son proyecciones propias.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9.xml"/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chart" Target="/ppt/charts/chart2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image" Target="../media/image-3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chart" Target="/ppt/charts/chart3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9" Type="http://schemas.openxmlformats.org/officeDocument/2006/relationships/slide" Target="slide4.xml"/><Relationship Id="rId10" Type="http://schemas.openxmlformats.org/officeDocument/2006/relationships/slide" Target="slide9.xm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FFFFFF">
                    <a:alpha val="10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Autor"/>
          <p:cNvSpPr txBox="1"/>
          <p:nvPr/>
        </p:nvSpPr>
        <p:spPr>
          <a:xfrm>
            <a:off x="1691640" y="749808"/>
            <a:ext cx="6080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Electoral Pennsylvania 2028</a:t>
            </a:r>
            <a:endParaRPr lang="en-US" sz="2400" dirty="0"/>
          </a:p>
        </p:txBody>
      </p:sp>
      <p:sp>
        <p:nvSpPr>
          <p:cNvPr id="4" name="Marco foto"/>
          <p:cNvSpPr/>
          <p:nvPr/>
        </p:nvSpPr>
        <p:spPr>
          <a:xfrm>
            <a:off x="521208" y="630936"/>
            <a:ext cx="1060704" cy="106070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Foto Orlando Castillo" descr="Orlando Castil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8368"/>
            <a:ext cx="1005840" cy="1005840"/>
          </a:xfrm>
          <a:prstGeom prst="rect">
            <a:avLst/>
          </a:prstGeom>
        </p:spPr>
      </p:pic>
      <p:sp>
        <p:nvSpPr>
          <p:cNvPr id="6" name="Etiqueta propuesta"/>
          <p:cNvSpPr/>
          <p:nvPr/>
        </p:nvSpPr>
        <p:spPr>
          <a:xfrm>
            <a:off x="548640" y="1810512"/>
            <a:ext cx="59436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81051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chemeClr val="bg1"/>
                </a:solidFill>
              </a:rPr>
              <a:t>PROPUESTA PARA EL CAD</a:t>
            </a:r>
            <a:pPr algn="ctr" indent="0" marL="0">
              <a:buNone/>
            </a:pPr>
            <a:r>
              <a:rPr lang="en-US" sz="1600" spc="100" kern="0" dirty="0">
                <a:solidFill>
                  <a:srgbClr val="FFD9DB"/>
                </a:solidFill>
              </a:rPr>
              <a:t>  ·  SECCIONAL PENNSYLVANIA</a:t>
            </a:r>
            <a:endParaRPr lang="en-US" sz="1600" dirty="0"/>
          </a:p>
        </p:txBody>
      </p:sp>
      <p:sp>
        <p:nvSpPr>
          <p:cNvPr id="8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8,939 votaron: 8 de cada 10 se quedaron en casa</a:t>
            </a:r>
            <a:endParaRPr lang="en-US" sz="3800" dirty="0"/>
          </a:p>
        </p:txBody>
      </p:sp>
      <p:graphicFrame>
        <p:nvGraphicFramePr>
          <p:cNvPr id="9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18.8 %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11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 de 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colegios ganados por el PRM y aliados en 2024</a:t>
            </a:r>
            <a:endParaRPr lang="en-US" sz="3000" dirty="0"/>
          </a:p>
        </p:txBody>
      </p:sp>
      <p:sp>
        <p:nvSpPr>
          <p:cNvPr id="13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5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7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38,590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21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3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4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6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7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en 2024 solo 47,529 estaban inscritos: el nuevo padrón está por hacerse</a:t>
            </a:r>
            <a:endParaRPr lang="en-US" sz="2800" dirty="0"/>
          </a:p>
        </p:txBody>
      </p:sp>
      <p:graphicFrame>
        <p:nvGraphicFramePr>
          <p:cNvPr id="4" name="Crecimiento poblacion" descr=""/>
          <p:cNvGraphicFramePr/>
          <p:nvPr/>
        </p:nvGraphicFramePr>
        <p:xfrm>
          <a:off x="548640" y="1600200"/>
          <a:ext cx="53035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Oportunidad 1"/>
          <p:cNvSpPr/>
          <p:nvPr/>
        </p:nvSpPr>
        <p:spPr>
          <a:xfrm>
            <a:off x="6172200" y="160020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0" y="167335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dominicanos del estado estaba inscrito para votar en la seccional en 2024 (21 %). Y la comunidad creció un 26 % desde 2022</a:t>
            </a:r>
            <a:endParaRPr lang="en-US" sz="2200" dirty="0"/>
          </a:p>
        </p:txBody>
      </p:sp>
      <p:sp>
        <p:nvSpPr>
          <p:cNvPr id="7" name="Oportunidad 2"/>
          <p:cNvSpPr/>
          <p:nvPr/>
        </p:nvSpPr>
        <p:spPr>
          <a:xfrm>
            <a:off x="6172200" y="306324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313639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9" name="Padron 2028"/>
          <p:cNvSpPr/>
          <p:nvPr/>
        </p:nvSpPr>
        <p:spPr>
          <a:xfrm>
            <a:off x="6172200" y="452628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0" y="459943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Padrón 2028: todavía por construir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 la renovación de cédulas aún no se sabe cuántos podrán votar. Cada cita es la oportunidad de sacar la cédula nueva e inscribir el domicilio en Pennsylvania (confirmar con la JCE).</a:t>
            </a:r>
            <a:endParaRPr lang="en-US" sz="1800" dirty="0"/>
          </a:p>
        </p:txBody>
      </p:sp>
      <p:sp>
        <p:nvSpPr>
          <p:cNvPr id="1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</a:t>
            </a:r>
            <a:endParaRPr lang="en-US" sz="1000" dirty="0"/>
          </a:p>
        </p:txBody>
      </p:sp>
      <p:sp>
        <p:nvSpPr>
          <p:cNvPr id="1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5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16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8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19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el 66 % del padrón vive fuera de Philadelphia, repartido en 8 zonas</a:t>
            </a:r>
            <a:endParaRPr lang="en-US" sz="2800" dirty="0"/>
          </a:p>
        </p:txBody>
      </p:sp>
      <p:pic>
        <p:nvPicPr>
          <p:cNvPr id="4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5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9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3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7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1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5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7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9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3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5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7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9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1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3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5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7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9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1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votó 18.8 % · PRM 64.9 %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votó 16.9 % · PRM 65.8 %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votó 18.8 % · PRM 59.5 %</a:t>
            </a:r>
            <a:endParaRPr lang="en-US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7" name="Shape 64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votó 20.7 % · PRM 63.0 %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1" name="Shape 68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votó 17.8 % · PRM 65.6 %</a:t>
            </a:r>
            <a:endParaRPr lang="en-US" sz="1200" dirty="0"/>
          </a:p>
        </p:txBody>
      </p:sp>
      <p:sp>
        <p:nvSpPr>
          <p:cNvPr id="74" name="Text 71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5" name="Shape 72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votó 15.3 % · PRM 63.5 %</a:t>
            </a:r>
            <a:endParaRPr lang="en-US" sz="1200" dirty="0"/>
          </a:p>
        </p:txBody>
      </p:sp>
      <p:sp>
        <p:nvSpPr>
          <p:cNvPr id="78" name="Text 75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9" name="Shape 76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votó 20.9 % · PRM 61.6 %</a:t>
            </a:r>
            <a:endParaRPr lang="en-US" sz="1200" dirty="0"/>
          </a:p>
        </p:txBody>
      </p:sp>
      <p:sp>
        <p:nvSpPr>
          <p:cNvPr id="82" name="Text 79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3" name="Shape 80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votó 17.0 % · PRM 65.9 %</a:t>
            </a:r>
            <a:endParaRPr lang="en-US" sz="1200" dirty="0"/>
          </a:p>
        </p:txBody>
      </p:sp>
      <p:sp>
        <p:nvSpPr>
          <p:cNvPr id="86" name="Text 83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7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89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91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92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93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94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95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6,140 votos para David Collado, un 10 % más que el PRM y aliados en 2024</a:t>
            </a:r>
            <a:endParaRPr lang="en-US" sz="2800" dirty="0"/>
          </a:p>
        </p:txBody>
      </p:sp>
      <p:graphicFrame>
        <p:nvGraphicFramePr>
          <p:cNvPr id="4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Red de 4,000 votantes comprometidos: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votos, el 55 % de la meta.</a:t>
            </a:r>
            <a:endParaRPr lang="en-US" sz="1400" dirty="0"/>
          </a:p>
        </p:txBody>
      </p:sp>
      <p:sp>
        <p:nvSpPr>
          <p:cNvPr id="6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5,581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6,140 votos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6,700 votos</a:t>
            </a:r>
            <a:endParaRPr lang="en-US" sz="1500" dirty="0"/>
          </a:p>
        </p:txBody>
      </p:sp>
      <p:sp>
        <p:nvSpPr>
          <p:cNvPr id="14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63 % (como 2024)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20.7 %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58 % (desgaste)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22.6 %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53 % (desgaste fuerte)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24.7 %</a:t>
            </a:r>
            <a:endParaRPr lang="en-US" sz="1600" dirty="0"/>
          </a:p>
        </p:txBody>
      </p:sp>
      <p:sp>
        <p:nvSpPr>
          <p:cNvPr id="22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 2024: JCE, resultado presidencial por colegios, OCLEE Philadelphia (PRM y aliados 5,581 votos, 63.4 % de los válidos). Escenarios 2028: proyección propia.</a:t>
            </a:r>
            <a:endParaRPr lang="en-US" sz="1000" dirty="0"/>
          </a:p>
        </p:txBody>
      </p:sp>
      <p:sp>
        <p:nvSpPr>
          <p:cNvPr id="2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6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META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4153433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3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4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6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2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5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8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1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4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por zona con el padrón de 2024 (47,529)</a:t>
            </a:r>
            <a:endParaRPr lang="en-US" sz="1300" dirty="0"/>
          </a:p>
        </p:txBody>
      </p:sp>
      <p:sp>
        <p:nvSpPr>
          <p:cNvPr id="28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30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2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4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6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8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40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2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4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 (≈ 3,400 votos)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47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49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50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51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52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53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6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6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7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FFFFFF">
                    <a:alpha val="10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itulo"/>
          <p:cNvSpPr txBox="1"/>
          <p:nvPr/>
        </p:nvSpPr>
        <p:spPr>
          <a:xfrm>
            <a:off x="548640" y="502920"/>
            <a:ext cx="11091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En 2024 el PRM y aliados sacaron el 63 % en la seccional, 6 puntos más que en el país. Collado encabeza las preferencias internas del PRM (48.8 %, oct. 2026).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Convencer en Reading (PRM 59.5 %); movilizar en Kensington, Wilkes-Barre y Harrisburg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20" name="Shape 13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3" name="Shape 15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7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8" name="Shape 18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9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8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30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9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31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32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3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0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votantes, David Collado puede superar en 10 % al PRM y aliados de 2024</a:t>
            </a:r>
            <a:endParaRPr lang="en-US" sz="2800" dirty="0"/>
          </a:p>
        </p:txBody>
      </p:sp>
      <p:sp>
        <p:nvSpPr>
          <p:cNvPr id="4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en 2024 (13 ciudades)</a:t>
            </a:r>
            <a:endParaRPr lang="en-US" sz="3400" dirty="0"/>
          </a:p>
        </p:txBody>
      </p:sp>
      <p:sp>
        <p:nvSpPr>
          <p:cNvPr id="6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18.8 %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8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10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3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6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6,140 votos para David Collado: un 10 % más que el PRM y aliados en 2024 (5,581, dato oficial JCE).</a:t>
            </a:r>
            <a:endParaRPr lang="en-US" sz="1500" dirty="0"/>
          </a:p>
        </p:txBody>
      </p:sp>
      <p:sp>
        <p:nvSpPr>
          <p:cNvPr id="19" name="Próximo paso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Próximo paso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Nombrar a los 8 coordinadores de zona e iniciar en noviembre.</a:t>
            </a:r>
            <a:endParaRPr lang="en-US" sz="1500" dirty="0"/>
          </a:p>
        </p:txBody>
      </p:sp>
      <p:sp>
        <p:nvSpPr>
          <p:cNvPr id="22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proyección propia.</a:t>
            </a:r>
            <a:endParaRPr lang="en-US" sz="1000" dirty="0"/>
          </a:p>
        </p:txBody>
      </p:sp>
      <p:sp>
        <p:nvSpPr>
          <p:cNvPr id="2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6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8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9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Ficha técnica: fuentes, método y supuestos del plan</a:t>
            </a:r>
            <a:endParaRPr lang="en-US" sz="2800" dirty="0"/>
          </a:p>
        </p:txBody>
      </p:sp>
      <p:sp>
        <p:nvSpPr>
          <p:cNvPr id="4" name="Ficha Fuentes de datos"/>
          <p:cNvSpPr/>
          <p:nvPr/>
        </p:nvSpPr>
        <p:spPr>
          <a:xfrm>
            <a:off x="548640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Fuentes de datos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«Resultado Presidencial por colegios», elecciones del 19 de mayo de 2024, OCLEE Philadelphia (colegios 1253–1336)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Seccional PRM Pennsylvania: padrón por recinto y lista de recintos y colegios (47,529 electores, 84 mesas)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INDEX: Registro Sociodemográfico de los Dominicanos en el Exterior, 5.ª edición (2026)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calendario de la nueva cédula en el exterior; encuestas internas del PRM (Markestrategia y RD Elige, 2026)</a:t>
            </a:r>
            <a:endParaRPr lang="en-US" sz="1300" dirty="0"/>
          </a:p>
        </p:txBody>
      </p:sp>
      <p:sp>
        <p:nvSpPr>
          <p:cNvPr id="7" name="Ficha Método"/>
          <p:cNvSpPr/>
          <p:nvPr/>
        </p:nvSpPr>
        <p:spPr>
          <a:xfrm>
            <a:off x="4334256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2856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Método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Resultados por ciudad y zona: suma de los colegios de cada recinto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Participación: votos emitidos entre electores. Apoyo: porcentaje de los votos válidos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Meta 2028: votos del PRM y aliados en 2024 (5,581) más un 10 % = 6,140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Zonas: agrupación geográfica propuesta de las 13 ciudades; líderes repartidos según los electores</a:t>
            </a:r>
            <a:endParaRPr lang="en-US" sz="1300" dirty="0"/>
          </a:p>
        </p:txBody>
      </p:sp>
      <p:sp>
        <p:nvSpPr>
          <p:cNvPr id="10" name="Ficha Supuestos y notas"/>
          <p:cNvSpPr/>
          <p:nvPr/>
        </p:nvSpPr>
        <p:spPr>
          <a:xfrm>
            <a:off x="8119872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48472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Supuestos y notas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48472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Escenarios: proyección propia con supuestos de renovación de cédula, participación y apoyo (63 % como en 2024)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Red: 400 líderes con 10 personas cada uno; se estima que vota el 85 %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Padrón: 47,529 de la seccional (la JCE divulgó 47,604 en el corte preliminar)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Asignación de los 84 colegios a sus recintos confirmada con la Seccional PRM Pennsylvania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Preparado por: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Orlando Castillo · Octubre de 2026 · Documento de trabajo para el CAD, Seccional Pennsylvania</a:t>
            </a:r>
            <a:endParaRPr lang="en-US" sz="1300" dirty="0"/>
          </a:p>
        </p:txBody>
      </p:sp>
      <p:sp>
        <p:nvSpPr>
          <p:cNvPr id="15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7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8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9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FICHA TÉCNICA</a:t>
            </a:r>
            <a:endParaRPr lang="en-US" sz="1000" dirty="0"/>
          </a:p>
        </p:txBody>
      </p:sp>
      <p:sp>
        <p:nvSpPr>
          <p:cNvPr id="21" name="Sección actual"/>
          <p:cNvSpPr/>
          <p:nvPr/>
        </p:nvSpPr>
        <p:spPr>
          <a:xfrm>
            <a:off x="9699269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5A6B86"/>
      </a:hlink>
      <a:folHlink>
        <a:srgbClr val="5A6B86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Estratégico Electoral Pennsylvania 2028</dc:title>
  <dc:subject>PptxGenJS Presentation</dc:subject>
  <dc:creator>Orlando Castillo</dc:creator>
  <cp:lastModifiedBy>Orlando Castillo</cp:lastModifiedBy>
  <cp:revision>1</cp:revision>
  <dcterms:created xsi:type="dcterms:W3CDTF">2026-10-22T03:52:50Z</dcterms:created>
  <dcterms:modified xsi:type="dcterms:W3CDTF">2026-10-22T03:52:50Z</dcterms:modified>
</cp:coreProperties>
</file>