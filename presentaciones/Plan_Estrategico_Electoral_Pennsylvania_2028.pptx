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c145ee3d-c4a6-d8c2-3b24-27de28d58462}">
          <p14:sldIdLst>
            <p14:sldId id="256"/>
            <p14:sldId id="257"/>
            <p14:sldId id="258"/>
          </p14:sldIdLst>
        </p14:section>
        <p14:section name="Meta" id="{99e47d00-a416-e9b4-1091-8d54961f1980}">
          <p14:sldIdLst>
            <p14:sldId id="259"/>
          </p14:sldIdLst>
        </p14:section>
        <p14:section name="Plan y recomendación" id="{5512c0b2-b732-af21-130d-c9801ba10056}">
          <p14:sldIdLst>
            <p14:sldId id="260"/>
            <p14:sldId id="261"/>
            <p14:sldId id="262"/>
            <p14:sldId id="263"/>
          </p14:sldIdLst>
        </p14:section>
        <p14:section name="Ficha técnica" id="{3922d7bc-a410-f8c5-d3c8-daeeb3bbf662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 (dato de 2026),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607 líderes en unas 13 semanas, unos 47 por semana; si en la semana 4 hay menos de 140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607 líderes con 10 personas cada uno, con 20 % de margen (4,857 votantes comprometidos que, si vota el 70 %, aportan unos 3,400 votos).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9.xml"/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2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image" Target="../media/image-3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3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4.xml"/><Relationship Id="rId10" Type="http://schemas.openxmlformats.org/officeDocument/2006/relationships/slide" Target="slide9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Autor"/>
          <p:cNvSpPr txBox="1"/>
          <p:nvPr/>
        </p:nvSpPr>
        <p:spPr>
          <a:xfrm>
            <a:off x="1691640" y="74980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Electoral Pennsylvania 2028</a:t>
            </a:r>
            <a:endParaRPr lang="en-US" sz="2400" dirty="0"/>
          </a:p>
        </p:txBody>
      </p:sp>
      <p:sp>
        <p:nvSpPr>
          <p:cNvPr id="4" name="Marco foto"/>
          <p:cNvSpPr/>
          <p:nvPr/>
        </p:nvSpPr>
        <p:spPr>
          <a:xfrm>
            <a:off x="521208" y="630936"/>
            <a:ext cx="1060704" cy="106070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Foto Orlando Castillo" descr="Orlando Casti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8368"/>
            <a:ext cx="1005840" cy="1005840"/>
          </a:xfrm>
          <a:prstGeom prst="rect">
            <a:avLst/>
          </a:prstGeom>
        </p:spPr>
      </p:pic>
      <p:sp>
        <p:nvSpPr>
          <p:cNvPr id="6" name="Etiqueta propuesta"/>
          <p:cNvSpPr/>
          <p:nvPr/>
        </p:nvSpPr>
        <p:spPr>
          <a:xfrm>
            <a:off x="548640" y="1810512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10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bg1"/>
                </a:solidFill>
              </a:rPr>
              <a:t>HERRAMIENTA EN DESARROLLO</a:t>
            </a:r>
            <a:pPr algn="ctr" indent="0" marL="0">
              <a:buNone/>
            </a:pPr>
            <a:r>
              <a:rPr lang="en-US" sz="1600" spc="100" kern="0" dirty="0">
                <a:solidFill>
                  <a:srgbClr val="FFD9DB"/>
                </a:solidFill>
              </a:rPr>
              <a:t>  ·  SECCIONAL PENNSYLVANIA</a:t>
            </a:r>
            <a:endParaRPr lang="en-US" sz="1600" dirty="0"/>
          </a:p>
        </p:txBody>
      </p:sp>
      <p:sp>
        <p:nvSpPr>
          <p:cNvPr id="8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2024, de 47,529 electores solo votaron 8,939: 8 de cada 10 se quedaron en casa</a:t>
            </a:r>
            <a:endParaRPr lang="en-US" sz="3800" dirty="0"/>
          </a:p>
        </p:txBody>
      </p:sp>
      <p:graphicFrame>
        <p:nvGraphicFramePr>
          <p:cNvPr id="9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11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 de 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colegios ganados por el PRM y aliados en 2024</a:t>
            </a:r>
            <a:endParaRPr lang="en-US" sz="3000" dirty="0"/>
          </a:p>
        </p:txBody>
      </p:sp>
      <p:sp>
        <p:nvSpPr>
          <p:cNvPr id="13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 (2026)</a:t>
            </a:r>
            <a:endParaRPr lang="en-US" sz="3000" dirty="0"/>
          </a:p>
        </p:txBody>
      </p:sp>
      <p:sp>
        <p:nvSpPr>
          <p:cNvPr id="15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7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1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3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4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6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7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en 2024 solo 47,529 estaban inscritos: el nuevo padrón está por hacerse</a:t>
            </a:r>
            <a:endParaRPr lang="en-US" sz="2800" dirty="0"/>
          </a:p>
        </p:txBody>
      </p:sp>
      <p:graphicFrame>
        <p:nvGraphicFramePr>
          <p:cNvPr id="4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estaba inscrito para votar en la seccional en 2024 (21 %). Y la comunidad creció un 26 % desde 2022</a:t>
            </a:r>
            <a:endParaRPr lang="en-US" sz="2200" dirty="0"/>
          </a:p>
        </p:txBody>
      </p:sp>
      <p:sp>
        <p:nvSpPr>
          <p:cNvPr id="7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9" name="Padron 2028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Padrón 2028: todavía por construir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renovación de cédulas aún no se sabe cuántos podrán votar. Cada cita es la oportunidad de sacar la cédula nueva e inscribir el domicilio en Pennsylvania (confirmar con la JCE).</a:t>
            </a:r>
            <a:endParaRPr lang="en-US" sz="1800" dirty="0"/>
          </a:p>
        </p:txBody>
      </p:sp>
      <p:sp>
        <p:nvSpPr>
          <p:cNvPr id="1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6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4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5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9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3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7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1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5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9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3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5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7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1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3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5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7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9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1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126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89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100</a:t>
            </a:r>
            <a:endParaRPr lang="en-US" sz="1800" dirty="0"/>
          </a:p>
        </p:txBody>
      </p:sp>
      <p:sp>
        <p:nvSpPr>
          <p:cNvPr id="67" name="Shape 64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101</a:t>
            </a:r>
            <a:endParaRPr lang="en-US" sz="1800" dirty="0"/>
          </a:p>
        </p:txBody>
      </p:sp>
      <p:sp>
        <p:nvSpPr>
          <p:cNvPr id="71" name="Shape 68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4" name="Text 71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87</a:t>
            </a:r>
            <a:endParaRPr lang="en-US" sz="1800" dirty="0"/>
          </a:p>
        </p:txBody>
      </p:sp>
      <p:sp>
        <p:nvSpPr>
          <p:cNvPr id="75" name="Shape 72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24</a:t>
            </a:r>
            <a:endParaRPr lang="en-US" sz="1800" dirty="0"/>
          </a:p>
        </p:txBody>
      </p:sp>
      <p:sp>
        <p:nvSpPr>
          <p:cNvPr id="79" name="Shape 76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66</a:t>
            </a:r>
            <a:endParaRPr lang="en-US" sz="1800" dirty="0"/>
          </a:p>
        </p:txBody>
      </p:sp>
      <p:sp>
        <p:nvSpPr>
          <p:cNvPr id="83" name="Shape 80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6" name="Text 83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14</a:t>
            </a:r>
            <a:endParaRPr lang="en-US" sz="1800" dirty="0"/>
          </a:p>
        </p:txBody>
      </p:sp>
      <p:sp>
        <p:nvSpPr>
          <p:cNvPr id="8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9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1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2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3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4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4,857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70 %, son unos 3,400 votos, el 55 % de la meta.</a:t>
            </a:r>
            <a:endParaRPr lang="en-US" sz="1400" dirty="0"/>
          </a:p>
        </p:txBody>
      </p:sp>
      <p:sp>
        <p:nvSpPr>
          <p:cNvPr id="6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4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4153433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4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6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2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8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1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4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por zona, con 20 % de margen (si vota el 70 % de los comprometidos)</a:t>
            </a:r>
            <a:endParaRPr lang="en-US" sz="1300" dirty="0"/>
          </a:p>
        </p:txBody>
      </p:sp>
      <p:sp>
        <p:nvSpPr>
          <p:cNvPr id="28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126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30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2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100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4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101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6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87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8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24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40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2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14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4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607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4,857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≈ 3,400 votos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Cómo podríamos arrancar: 30 días y la ruta hasta mayo de 2028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140 líderes reclutados; informe a la dirección de campaña</a:t>
            </a:r>
            <a:endParaRPr lang="en-US" sz="1600" dirty="0"/>
          </a:p>
        </p:txBody>
      </p:sp>
      <p:sp>
        <p:nvSpPr>
          <p:cNvPr id="16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607 líderes y 4,857 comprometidos; 60 % del padrón renovado; recién llegados trasladados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20" name="Shape 13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3" name="Shape 15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607 líderes, David Collado puede superar en 10 % al PRM y aliados de 2024</a:t>
            </a:r>
            <a:endParaRPr lang="en-US" sz="2800" dirty="0"/>
          </a:p>
        </p:txBody>
      </p:sp>
      <p:sp>
        <p:nvSpPr>
          <p:cNvPr id="4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en 2024 (13 ciudades)</a:t>
            </a:r>
            <a:endParaRPr lang="en-US" sz="3400" dirty="0"/>
          </a:p>
        </p:txBody>
      </p:sp>
      <p:sp>
        <p:nvSpPr>
          <p:cNvPr id="6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8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10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3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607 líderes con 10 personas cada uno (incluye 20 % de margen). La cédula y el traslado son la puerta de entrada.</a:t>
            </a:r>
            <a:endParaRPr lang="en-US" sz="1500" dirty="0"/>
          </a:p>
        </p:txBody>
      </p:sp>
      <p:sp>
        <p:nvSpPr>
          <p:cNvPr id="16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9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9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4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7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el potencial (abstención 2024 × voto del PRM y aliados)</a:t>
            </a:r>
            <a:endParaRPr lang="en-US" sz="1300" dirty="0"/>
          </a:p>
        </p:txBody>
      </p:sp>
      <p:sp>
        <p:nvSpPr>
          <p:cNvPr id="10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aporta 3,400 votos (55 % de la meta); vota el 70 % de los comprometidos; 10 por líder y 20 % de margen = 607 líderes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Asignación de los 84 colegios a sus recintos confirmada con la Seccional PRM Pennsylvania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5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7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9699269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Estratégico Electoral Pennsylvania 2028</dc:title>
  <dc:subject>PptxGenJS Presentation</dc:subject>
  <dc:creator>Orlando Castillo</dc:creator>
  <cp:lastModifiedBy>Orlando Castillo</cp:lastModifiedBy>
  <cp:revision>1</cp:revision>
  <dcterms:created xsi:type="dcterms:W3CDTF">2026-10-23T20:26:18Z</dcterms:created>
  <dcterms:modified xsi:type="dcterms:W3CDTF">2026-10-23T20:26:18Z</dcterms:modified>
</cp:coreProperties>
</file>