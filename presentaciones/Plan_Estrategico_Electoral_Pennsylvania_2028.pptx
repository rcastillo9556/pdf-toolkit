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agnóstico" id="{e19bd426-c41b-1f4c-4c46-a9ee89e5fd04}">
          <p14:sldIdLst>
            <p14:sldId id="256"/>
            <p14:sldId id="257"/>
            <p14:sldId id="258"/>
          </p14:sldIdLst>
        </p14:section>
        <p14:section name="Meta" id="{b3376abf-b379-4db4-47a3-d060aaad0277}">
          <p14:sldIdLst>
            <p14:sldId id="259"/>
          </p14:sldIdLst>
        </p14:section>
        <p14:section name="Plan y recomendación" id="{96b45ea8-9b6a-6088-acf7-e01dc7990b8d}">
          <p14:sldIdLst>
            <p14:sldId id="260"/>
            <p14:sldId id="261"/>
            <p14:sldId id="262"/>
            <p14:sldId id="263"/>
          </p14:sldIdLst>
        </p14:section>
        <p14:section name="Ficha técnica" id="{d807d673-09ab-b5d2-6f36-c339bf7a05b4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1822"/>
              </a:solidFill>
              <a:ln w="9525" cap="flat">
                <a:solidFill>
                  <a:srgbClr val="002B63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F75AE"/>
              </a:solidFill>
              <a:ln w="9525" cap="flat">
                <a:solidFill>
                  <a:srgbClr val="002B63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Votaron</c:v>
                </c:pt>
                <c:pt idx="1">
                  <c:v>No votaron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8939</c:v>
                </c:pt>
                <c:pt idx="1">
                  <c:v>38590</c:v>
                </c:pt>
              </c:numCache>
            </c:numRef>
          </c:val>
        </c:ser>
        <c:firstSliceAng val="0"/>
        <c:holeSize val="7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1F2A"/>
                </a:solidFill>
                <a:latin typeface="+mn-lt"/>
              </a:rPr>
              <a:t>Dominicanos en Pennsylvania (INDEX): +36,553 en 2025, el mayor aumento de EE. UU.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Dominicanos registrados en Pennsylvania</c:v>
                </c:pt>
              </c:strCache>
            </c:strRef>
          </c:tx>
          <c:spPr>
            <a:solidFill>
              <a:srgbClr val="9AA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B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INDEX, dic. 2022</c:v>
                  </c:pt>
                  <c:pt idx="1">
                    <c:v>INDEX, último informe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181156</c:v>
                </c:pt>
                <c:pt idx="1">
                  <c:v>227647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+mn-lt"/>
              </a:rPr>
              <a:t>Votos para David Collado por escenario (63 % de apoyo, como el PRM y aliados en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Votos</c:v>
                </c:pt>
              </c:strCache>
            </c:strRef>
          </c:tx>
          <c:spPr>
            <a:solidFill>
              <a:srgbClr val="9AA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1F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A18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75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2B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2B6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PRM y aliados 2024</c:v>
                  </c:pt>
                  <c:pt idx="1">
                    <c:v>Meta 2028 (+10 %)</c:v>
                  </c:pt>
                  <c:pt idx="2">
                    <c:v>Adverso</c:v>
                  </c:pt>
                  <c:pt idx="3">
                    <c:v>Inercial</c:v>
                  </c:pt>
                  <c:pt idx="4">
                    <c:v>Realista</c:v>
                  </c:pt>
                  <c:pt idx="5">
                    <c:v>Favorable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5581</c:v>
                </c:pt>
                <c:pt idx="1">
                  <c:v>6139</c:v>
                </c:pt>
                <c:pt idx="2">
                  <c:v>3564</c:v>
                </c:pt>
                <c:pt idx="3">
                  <c:v>5465</c:v>
                </c:pt>
                <c:pt idx="4">
                  <c:v>6534</c:v>
                </c:pt>
                <c:pt idx="5">
                  <c:v>7217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1F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OCLEE Philadelphia es en realidad la Seccional Pennsylvania: incluye 12 ciudades de Pennsylvania y Wilmington (Delaware). 47,529 electores en 84 mesas (padrón de la seccional; la JCE divulgó 47,604 en el corte preliminar). Votos 2024, dato oficial JCE a nivel presidencial: 8,939 emitidos (8,810 válidos y 129 nulos). Participación: 18.8 %; no votaron 38,590. Es la 4.ª seccional más grande de la Circunscripción I (dato de 2026), después de Nueva York, Nueva Jersey y Boston; según el INDEX, Pennsylvania tuvo en 2025 el mayor aumento de dominicanos de EE. UU. (+36,553).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Crecimiento: el Registro Sociodemográfico del INDEX contaba 181,156 dominicanos en Pennsylvania al 31 de diciembre de 2022; el último informe del INDEX (5.ª edición, julio de 2026) reporta 227,647: +36,553 frente a 191,094 en 2024 (+19.1 %), el mayor aumento absoluto de todos los estados; Massachusetts fue segundo (+30,846) y Texas tuvo el mayor aumento porcentual (+28.3 %). Pennsylvania es el 4.º estado con más dominicanos, después de Nueva York, Nueva Jersey y Florida. El Consulado en Filadelfia atiende a más de 191 mil y afirma que llega un dominicano más cada día, muchos desde Nueva York. Hazleton ya tiene cerca de 43 % de población dominicana (Censo). Implicación: quien se mudó desde NY/NJ sigue empadronado en su OCLEE anterior; hay que trasladar su registro a Pennsylvania antes del cierre del padrón (enero de 2028), idealmente en la misma cita de la nueva cédula; confirmar el procedimiento con la JCE. Potencial: 47,529 inscritos son el 21 % de los 227,647 dominicanos que registra el INDEX en el estado (la cifra del INDEX incluye a menores de edad y a personas sin cédula, por lo que no todos pueden votar, pero muestra el tamaño del potencial). Escenarios de padrón: proyección propia (+5 %, +12 %, +26 %; el alto replica el crecimiento de la población).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del este de Pennsylvania con las 13 ciudades de la seccional (12 en Pennsylvania y Wilmington, Delaware). El recuadro muestra la ubicación dentro del estado. Zonas: 1 Philadelphia Noreste, 2 Philadelphia Kensington, 3 Berks (Reading), 4 Lehigh Valley (Allentown), 5 Hazleton, 6 Wilkes-Barre y Scranton, 7 Harrisburg, Lancaster, York y Lebanon, 8 Delaware (Wilmington). Philadelphia, Reading y Allentown (zonas 1 a 4) suman 32,788 electores, el 69 % del padrón. Líderes: red de 400 líderes de 10 personas, repartida según los electores.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oficial JCE 2024 (nivel presidencial, OCLEE Philadelphia, colegios 1253 a 1336): 8,939 votos emitidos, 8,810 válidos, 129 nulos. PRM y aliados 5,581 (63.35 % de los válidos; PRM solo 4,996), Fuerza del Pueblo y aliados 1,852 (21.02 %), PED 687 (7.80 %), PLD 540 (6.13 %). En la seccional el PRM y aliados sacaron 5.9 puntos más que su resultado nacional (57.44 %). Meta 2028: +10 % = 6,139 votos (≈6,140); techo +20 % = 6,697 (≈6,700). Escenarios con 63.4 % de apoyo sobre los votos válidos (98.6 % de los emitidos): Adverso, 60 % renueva la cédula y vota el 20 % de los habilitados (5,703 votos totales → 3,564); Inercial, 80 % y 23 % (8,745 → 5,465, por debajo de 2024); Realista, participación del 22 % sobre el padrón (10,456 → 6,534, +17 %); Favorable, 90 % y 27 % (11,550 → 7,217, +29 %). Desgaste (tercer período del PRM sin Abinader en la boleta y malestar social en las encuestas): con 58 % de apoyo la meta exige 10,740 votos totales (22.6 % de participación; 20.2 % si el padrón crece 12 %); con 53 %, 11,753 (24.7 %; 22.1 %). Red: 4,000 personas × 85 % = 3,400 votos, el 55 % de la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Organigrama operativo propuesto. La dirección ejecutiva coordina con la Seccional PRM Pennsylvania y conduce 5 áreas de apoyo: Asuntos Electorales (cédula, padrón, renovación y traslado de recién llegados), Tecnología y Datos (base de datos, registros únicos y tablero), Comunicaciones (agenda de la diáspora), Logística y Movilización (transporte, delegados y día de la elección) y Finanzas y Legal (recursos y cumplimiento de las leyes 20-23 y 33-18). Cada una de las 8 zonas tiene un coordinador; los números son los líderes (de 10 personas cada uno) que necesita cada zona.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de arranque de 30 días con entregables verificables. Ritmo de la meta: 607 líderes en unas 13 semanas, unos 47 por semana; si en la semana 4 hay menos de 140 líderes, se reasignan recursos y se replanifica. Después siguen las 4 etapas hasta mayo de 2028. La fecha legal de primarias es el 3 de octubre de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Encuestas internas PRM: Markestrategia (2–4 oct. 2026) 48.8 %; RD Elige (sept. 2026) 66.5 % entre simpatizantes. Collado ha dicho que aún no inicia recorridos como aspirante. Respetar los plazos de precampaña y campaña (Ley 20-23 de Régimen Electoral y Ley 33-18 de Partidos), no usar recursos públicos y obtener consentimiento expreso para los datos personales.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para quien solo lea una. Problema: participación de 18.8 % (8,939 de 47,529, dato oficial JCE) y riesgo de la nueva cédula. Plan: 8 zonas, 607 líderes con 10 personas cada uno, con 20 % de margen (4,857 votantes comprometidos que, si vota el 70 %, aportan unos 3,400 votos). Meta: 6,140 votos para David Collado, un 10 % más que los 5,581 votos del PRM y aliados en 2024 (63.4 % de los válidos). Próximo paso: nombrar coordinadores e iniciar en noviembre.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Ficha técnica del documento: fuentes de cada dato, método de cálculo y supuestos. Todos los resultados de 2024 son oficiales de la JCE; los escenarios y la meta son proyecciones propias.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Plan Estratégico Electoral Pennsylvania 2028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Plan Estratégico Electoral Pennsylvania 2028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9.xml"/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9.xml"/><Relationship Id="rId1" Type="http://schemas.openxmlformats.org/officeDocument/2006/relationships/chart" Target="/ppt/charts/chart2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" Target="slide9.xml"/><Relationship Id="rId1" Type="http://schemas.openxmlformats.org/officeDocument/2006/relationships/image" Target="../media/image-3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5.xml"/><Relationship Id="rId4" Type="http://schemas.openxmlformats.org/officeDocument/2006/relationships/slide" Target="slide9.xml"/><Relationship Id="rId1" Type="http://schemas.openxmlformats.org/officeDocument/2006/relationships/chart" Target="/ppt/charts/chart3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4.xml"/><Relationship Id="rId3" Type="http://schemas.openxmlformats.org/officeDocument/2006/relationships/slide" Target="slide9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4.xml"/><Relationship Id="rId3" Type="http://schemas.openxmlformats.org/officeDocument/2006/relationships/slide" Target="slide9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9" Type="http://schemas.openxmlformats.org/officeDocument/2006/relationships/slide" Target="slide4.xml"/><Relationship Id="rId10" Type="http://schemas.openxmlformats.org/officeDocument/2006/relationships/slide" Target="slide9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4.xml"/><Relationship Id="rId3" Type="http://schemas.openxmlformats.org/officeDocument/2006/relationships/slide" Target="slide9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4.xml"/><Relationship Id="rId3" Type="http://schemas.openxmlformats.org/officeDocument/2006/relationships/slide" Target="slide5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>
                    <a:alpha val="10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Autor"/>
          <p:cNvSpPr txBox="1"/>
          <p:nvPr/>
        </p:nvSpPr>
        <p:spPr>
          <a:xfrm>
            <a:off x="1691640" y="749808"/>
            <a:ext cx="6080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Plan Estratégico Electoral Pennsylvania 2028</a:t>
            </a:r>
            <a:endParaRPr lang="en-US" sz="2400" dirty="0"/>
          </a:p>
        </p:txBody>
      </p:sp>
      <p:sp>
        <p:nvSpPr>
          <p:cNvPr id="4" name="Marco foto"/>
          <p:cNvSpPr/>
          <p:nvPr/>
        </p:nvSpPr>
        <p:spPr>
          <a:xfrm>
            <a:off x="521208" y="630936"/>
            <a:ext cx="1060704" cy="106070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Foto Orlando Castillo" descr="Orlando Castil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005840" cy="1005840"/>
          </a:xfrm>
          <a:prstGeom prst="rect">
            <a:avLst/>
          </a:prstGeom>
        </p:spPr>
      </p:pic>
      <p:sp>
        <p:nvSpPr>
          <p:cNvPr id="6" name="Etiqueta propuesta"/>
          <p:cNvSpPr/>
          <p:nvPr/>
        </p:nvSpPr>
        <p:spPr>
          <a:xfrm>
            <a:off x="548640" y="1810512"/>
            <a:ext cx="59436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8105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chemeClr val="bg1"/>
                </a:solidFill>
              </a:rPr>
              <a:t>PROPUESTA PARA EL CAD</a:t>
            </a:r>
            <a:pPr algn="ctr" indent="0" marL="0">
              <a:buNone/>
            </a:pPr>
            <a:r>
              <a:rPr lang="en-US" sz="1600" spc="100" kern="0" dirty="0">
                <a:solidFill>
                  <a:srgbClr val="FFD9DB"/>
                </a:solidFill>
              </a:rPr>
              <a:t>  ·  SECCIONAL PENNSYLVANIA</a:t>
            </a:r>
            <a:endParaRPr lang="en-US" sz="1600" dirty="0"/>
          </a:p>
        </p:txBody>
      </p:sp>
      <p:sp>
        <p:nvSpPr>
          <p:cNvPr id="8" name="Titulo"/>
          <p:cNvSpPr txBox="1"/>
          <p:nvPr/>
        </p:nvSpPr>
        <p:spPr>
          <a:xfrm>
            <a:off x="548640" y="2468880"/>
            <a:ext cx="7223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2024, de 47,529 electores solo votaron 8,939: 8 de cada 10 se quedaron en casa</a:t>
            </a:r>
            <a:endParaRPr lang="en-US" sz="3800" dirty="0"/>
          </a:p>
        </p:txBody>
      </p:sp>
      <p:graphicFrame>
        <p:nvGraphicFramePr>
          <p:cNvPr id="9" name="Participacion" descr=""/>
          <p:cNvGraphicFramePr/>
          <p:nvPr/>
        </p:nvGraphicFramePr>
        <p:xfrm>
          <a:off x="8092440" y="82296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732520" y="2057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18.8 %</a:t>
            </a:r>
            <a:endParaRPr lang="en-US" sz="4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participación 2024</a:t>
            </a:r>
            <a:endParaRPr lang="en-US" sz="4000" dirty="0"/>
          </a:p>
        </p:txBody>
      </p:sp>
      <p:sp>
        <p:nvSpPr>
          <p:cNvPr id="11" name="Dato 1"/>
          <p:cNvSpPr/>
          <p:nvPr/>
        </p:nvSpPr>
        <p:spPr>
          <a:xfrm>
            <a:off x="548640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84 de 84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colegios ganados por el PRM y aliados en 2024</a:t>
            </a:r>
            <a:endParaRPr lang="en-US" sz="3000" dirty="0"/>
          </a:p>
        </p:txBody>
      </p:sp>
      <p:sp>
        <p:nvSpPr>
          <p:cNvPr id="13" name="Dato 2"/>
          <p:cNvSpPr/>
          <p:nvPr/>
        </p:nvSpPr>
        <p:spPr>
          <a:xfrm>
            <a:off x="3364992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93592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4.ª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seccional más grande de la Circunscripción I (2026)</a:t>
            </a:r>
            <a:endParaRPr lang="en-US" sz="3000" dirty="0"/>
          </a:p>
        </p:txBody>
      </p:sp>
      <p:sp>
        <p:nvSpPr>
          <p:cNvPr id="15" name="Dato 3"/>
          <p:cNvSpPr/>
          <p:nvPr/>
        </p:nvSpPr>
        <p:spPr>
          <a:xfrm>
            <a:off x="6181344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409944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N.º 1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 aumento de dominicanos en EE. UU. (2025)</a:t>
            </a:r>
            <a:endParaRPr lang="en-US" sz="3000" dirty="0"/>
          </a:p>
        </p:txBody>
      </p:sp>
      <p:sp>
        <p:nvSpPr>
          <p:cNvPr id="17" name="Dato 4"/>
          <p:cNvSpPr/>
          <p:nvPr/>
        </p:nvSpPr>
        <p:spPr>
          <a:xfrm>
            <a:off x="8997696" y="470916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226296" y="4754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38,590</a:t>
            </a:r>
            <a:endParaRPr lang="en-US" sz="3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inscritos no votaron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padrón electoral, Seccional PRM Pennsylvania (2024) · JCE 2024 (OCLEE Philadelphia) · INDEX, Registro Sociodemográfico de los Dominicanos en el Exterior (5.ª edición, 2026)</a:t>
            </a:r>
            <a:endParaRPr lang="en-US" sz="1000" dirty="0"/>
          </a:p>
        </p:txBody>
      </p:sp>
      <p:sp>
        <p:nvSpPr>
          <p:cNvPr id="21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1F4A"/>
          </a:solidFill>
          <a:ln w="12700">
            <a:solidFill>
              <a:srgbClr val="001F4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2E4C7A"/>
            </a:solidFill>
            <a:prstDash val="solid"/>
          </a:ln>
        </p:spPr>
      </p:sp>
      <p:sp>
        <p:nvSpPr>
          <p:cNvPr id="23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24" name="Sección actual"/>
          <p:cNvSpPr/>
          <p:nvPr/>
        </p:nvSpPr>
        <p:spPr>
          <a:xfrm>
            <a:off x="1380515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5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3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26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4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27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5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2B63">
                    <a:alpha val="8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Pennsylvania tiene 227,647 dominicanos y en 2024 solo 47,529 estaban inscritos: el nuevo padrón está por hacerse</a:t>
            </a:r>
            <a:endParaRPr lang="en-US" sz="2800" dirty="0"/>
          </a:p>
        </p:txBody>
      </p:sp>
      <p:graphicFrame>
        <p:nvGraphicFramePr>
          <p:cNvPr id="4" name="Crecimiento poblacion" descr=""/>
          <p:cNvGraphicFramePr/>
          <p:nvPr/>
        </p:nvGraphicFramePr>
        <p:xfrm>
          <a:off x="548640" y="1600200"/>
          <a:ext cx="53035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Oportunidad 1"/>
          <p:cNvSpPr/>
          <p:nvPr/>
        </p:nvSpPr>
        <p:spPr>
          <a:xfrm>
            <a:off x="6172200" y="160020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0" y="1673352"/>
            <a:ext cx="50292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Solo 1 de cada 5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dominicanos del estado estaba inscrito para votar en la seccional en 2024 (21 %). Y la comunidad creció un 26 % desde 2022</a:t>
            </a:r>
            <a:endParaRPr lang="en-US" sz="2200" dirty="0"/>
          </a:p>
        </p:txBody>
      </p:sp>
      <p:sp>
        <p:nvSpPr>
          <p:cNvPr id="7" name="Oportunidad 2"/>
          <p:cNvSpPr/>
          <p:nvPr/>
        </p:nvSpPr>
        <p:spPr>
          <a:xfrm>
            <a:off x="6172200" y="306324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3136392"/>
            <a:ext cx="50292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Inscritos en NY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Quien llegó de Nueva York o Nueva Jersey sigue empadronado allá: si no traslada su registro, su voto no cuenta en Pennsylvania</a:t>
            </a:r>
            <a:endParaRPr lang="en-US" sz="2200" dirty="0"/>
          </a:p>
        </p:txBody>
      </p:sp>
      <p:sp>
        <p:nvSpPr>
          <p:cNvPr id="9" name="Padron 2028"/>
          <p:cNvSpPr/>
          <p:nvPr/>
        </p:nvSpPr>
        <p:spPr>
          <a:xfrm>
            <a:off x="6172200" y="4526280"/>
            <a:ext cx="5468112" cy="132588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0" y="4599432"/>
            <a:ext cx="50292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Padrón 2028: todavía por construir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Con la renovación de cédulas aún no se sabe cuántos podrán votar. Cada cita es la oportunidad de sacar la cédula nueva e inscribir el domicilio en Pennsylvania (confirmar con la JCE).</a:t>
            </a:r>
            <a:endParaRPr lang="en-US" sz="1800" dirty="0"/>
          </a:p>
        </p:txBody>
      </p:sp>
      <p:sp>
        <p:nvSpPr>
          <p:cNvPr id="11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INDEX, Registro Sociodemográfico de los Dominicanos en el Exterior (181,156 a dic. 2022; 227,647 en la 5.ª edición, 2026); Consulado RD en Filadelfia.</a:t>
            </a:r>
            <a:endParaRPr lang="en-US" sz="1000" dirty="0"/>
          </a:p>
        </p:txBody>
      </p:sp>
      <p:sp>
        <p:nvSpPr>
          <p:cNvPr id="13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15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16" name="Sección actual"/>
          <p:cNvSpPr/>
          <p:nvPr/>
        </p:nvSpPr>
        <p:spPr>
          <a:xfrm>
            <a:off x="1380515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17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18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19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2B63">
                    <a:alpha val="8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Mapa territorial: el 66 % del padrón vive fuera de Philadelphia, repartido en 8 zonas</a:t>
            </a:r>
            <a:endParaRPr lang="en-US" sz="2800" dirty="0"/>
          </a:p>
        </p:txBody>
      </p:sp>
      <p:pic>
        <p:nvPicPr>
          <p:cNvPr id="4" name="Mapa base" descr="/tmp/claude-0/-home-user-pdf-toolkit/a67bee5e-d5f3-51b1-8612-3e4feb352169/scratchpad/img/mapa_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4297680"/>
          </a:xfrm>
          <a:prstGeom prst="rect">
            <a:avLst/>
          </a:prstGeom>
        </p:spPr>
      </p:pic>
      <p:sp>
        <p:nvSpPr>
          <p:cNvPr id="5" name="Zona 1 Phila. Noreste"/>
          <p:cNvSpPr/>
          <p:nvPr/>
        </p:nvSpPr>
        <p:spPr>
          <a:xfrm>
            <a:off x="5340096" y="4517136"/>
            <a:ext cx="658368" cy="65836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40096" y="4517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Etiqueta Phila. Noreste"/>
          <p:cNvSpPr/>
          <p:nvPr/>
        </p:nvSpPr>
        <p:spPr>
          <a:xfrm>
            <a:off x="6044184" y="4722876"/>
            <a:ext cx="127101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44184" y="472287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Phila. Noreste</a:t>
            </a:r>
            <a:endParaRPr lang="en-US" sz="1100" dirty="0"/>
          </a:p>
        </p:txBody>
      </p:sp>
      <p:sp>
        <p:nvSpPr>
          <p:cNvPr id="9" name="Zona 2 Phila. Kensington"/>
          <p:cNvSpPr/>
          <p:nvPr/>
        </p:nvSpPr>
        <p:spPr>
          <a:xfrm>
            <a:off x="4868943" y="5024391"/>
            <a:ext cx="594834" cy="59483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68943" y="5024391"/>
            <a:ext cx="594834" cy="594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Etiqueta Phila. Kensington"/>
          <p:cNvSpPr/>
          <p:nvPr/>
        </p:nvSpPr>
        <p:spPr>
          <a:xfrm>
            <a:off x="5509497" y="5198364"/>
            <a:ext cx="150418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09497" y="5198364"/>
            <a:ext cx="15041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Phila. Kensington</a:t>
            </a:r>
            <a:endParaRPr lang="en-US" sz="1100" dirty="0"/>
          </a:p>
        </p:txBody>
      </p:sp>
      <p:sp>
        <p:nvSpPr>
          <p:cNvPr id="13" name="Zona 3 Reading"/>
          <p:cNvSpPr/>
          <p:nvPr/>
        </p:nvSpPr>
        <p:spPr>
          <a:xfrm>
            <a:off x="3825620" y="4008500"/>
            <a:ext cx="633225" cy="63322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25620" y="4008500"/>
            <a:ext cx="633225" cy="633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Etiqueta Reading"/>
          <p:cNvSpPr/>
          <p:nvPr/>
        </p:nvSpPr>
        <p:spPr>
          <a:xfrm>
            <a:off x="4504564" y="4201668"/>
            <a:ext cx="72694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04564" y="4201668"/>
            <a:ext cx="7269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Reading</a:t>
            </a:r>
            <a:endParaRPr lang="en-US" sz="1100" dirty="0"/>
          </a:p>
        </p:txBody>
      </p:sp>
      <p:sp>
        <p:nvSpPr>
          <p:cNvPr id="17" name="Zona 4 Allentown"/>
          <p:cNvSpPr/>
          <p:nvPr/>
        </p:nvSpPr>
        <p:spPr>
          <a:xfrm>
            <a:off x="4568177" y="3443465"/>
            <a:ext cx="629438" cy="62943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68177" y="3443465"/>
            <a:ext cx="629438" cy="629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Etiqueta Allentown"/>
          <p:cNvSpPr/>
          <p:nvPr/>
        </p:nvSpPr>
        <p:spPr>
          <a:xfrm>
            <a:off x="4441698" y="3150857"/>
            <a:ext cx="88239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41698" y="3150857"/>
            <a:ext cx="8823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Allentown</a:t>
            </a:r>
            <a:endParaRPr lang="en-US" sz="1100" dirty="0"/>
          </a:p>
        </p:txBody>
      </p:sp>
      <p:sp>
        <p:nvSpPr>
          <p:cNvPr id="21" name="Zona 5 Hazleton"/>
          <p:cNvSpPr/>
          <p:nvPr/>
        </p:nvSpPr>
        <p:spPr>
          <a:xfrm>
            <a:off x="3772445" y="2693453"/>
            <a:ext cx="593270" cy="59327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772445" y="2693453"/>
            <a:ext cx="593270" cy="593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Etiqueta Hazleton"/>
          <p:cNvSpPr/>
          <p:nvPr/>
        </p:nvSpPr>
        <p:spPr>
          <a:xfrm>
            <a:off x="2922053" y="2866644"/>
            <a:ext cx="804672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922053" y="286664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Hazleton</a:t>
            </a:r>
            <a:endParaRPr lang="en-US" sz="1100" dirty="0"/>
          </a:p>
        </p:txBody>
      </p:sp>
      <p:sp>
        <p:nvSpPr>
          <p:cNvPr id="25" name="Zona 6 Wilkes-Barre"/>
          <p:cNvSpPr/>
          <p:nvPr/>
        </p:nvSpPr>
        <p:spPr>
          <a:xfrm>
            <a:off x="4001464" y="2154376"/>
            <a:ext cx="427839" cy="42783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001464" y="2154376"/>
            <a:ext cx="427839" cy="42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Etiqueta Wilkes-Barre"/>
          <p:cNvSpPr/>
          <p:nvPr/>
        </p:nvSpPr>
        <p:spPr>
          <a:xfrm>
            <a:off x="2840176" y="2244852"/>
            <a:ext cx="111556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840176" y="2244852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Wilkes-Barre</a:t>
            </a:r>
            <a:endParaRPr lang="en-US" sz="1100" dirty="0"/>
          </a:p>
        </p:txBody>
      </p:sp>
      <p:sp>
        <p:nvSpPr>
          <p:cNvPr id="29" name="Zona 6 Scranton"/>
          <p:cNvSpPr/>
          <p:nvPr/>
        </p:nvSpPr>
        <p:spPr>
          <a:xfrm>
            <a:off x="4386290" y="1825970"/>
            <a:ext cx="371420" cy="37142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86290" y="1825970"/>
            <a:ext cx="371420" cy="371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Etiqueta Scranton"/>
          <p:cNvSpPr/>
          <p:nvPr/>
        </p:nvSpPr>
        <p:spPr>
          <a:xfrm>
            <a:off x="3535898" y="1888236"/>
            <a:ext cx="804672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35898" y="188823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Scranton</a:t>
            </a:r>
            <a:endParaRPr lang="en-US" sz="1100" dirty="0"/>
          </a:p>
        </p:txBody>
      </p:sp>
      <p:sp>
        <p:nvSpPr>
          <p:cNvPr id="33" name="Zona 7 Harrisburg"/>
          <p:cNvSpPr/>
          <p:nvPr/>
        </p:nvSpPr>
        <p:spPr>
          <a:xfrm>
            <a:off x="2356222" y="4239886"/>
            <a:ext cx="444772" cy="4447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356222" y="4239886"/>
            <a:ext cx="444772" cy="44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5" name="Etiqueta Harrisburg"/>
          <p:cNvSpPr/>
          <p:nvPr/>
        </p:nvSpPr>
        <p:spPr>
          <a:xfrm>
            <a:off x="1350382" y="4338828"/>
            <a:ext cx="960120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350382" y="4338828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Harrisburg</a:t>
            </a:r>
            <a:endParaRPr lang="en-US" sz="1100" dirty="0"/>
          </a:p>
        </p:txBody>
      </p:sp>
      <p:sp>
        <p:nvSpPr>
          <p:cNvPr id="37" name="Zona 7 Lebanon"/>
          <p:cNvSpPr/>
          <p:nvPr/>
        </p:nvSpPr>
        <p:spPr>
          <a:xfrm>
            <a:off x="3157249" y="4117369"/>
            <a:ext cx="397199" cy="39719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157249" y="4117369"/>
            <a:ext cx="397199" cy="39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Etiqueta Lebanon"/>
          <p:cNvSpPr/>
          <p:nvPr/>
        </p:nvSpPr>
        <p:spPr>
          <a:xfrm>
            <a:off x="2992374" y="3824761"/>
            <a:ext cx="726948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992374" y="3824761"/>
            <a:ext cx="7269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Lebanon</a:t>
            </a:r>
            <a:endParaRPr lang="en-US" sz="1100" dirty="0"/>
          </a:p>
        </p:txBody>
      </p:sp>
      <p:sp>
        <p:nvSpPr>
          <p:cNvPr id="41" name="Zona 7 Lancaster"/>
          <p:cNvSpPr/>
          <p:nvPr/>
        </p:nvSpPr>
        <p:spPr>
          <a:xfrm>
            <a:off x="3305019" y="4740627"/>
            <a:ext cx="449129" cy="449129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305019" y="4740627"/>
            <a:ext cx="449129" cy="449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Etiqueta Lancaster"/>
          <p:cNvSpPr/>
          <p:nvPr/>
        </p:nvSpPr>
        <p:spPr>
          <a:xfrm>
            <a:off x="3088386" y="5235477"/>
            <a:ext cx="88239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088386" y="5235477"/>
            <a:ext cx="8823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Lancaster</a:t>
            </a:r>
            <a:endParaRPr lang="en-US" sz="1100" dirty="0"/>
          </a:p>
        </p:txBody>
      </p:sp>
      <p:sp>
        <p:nvSpPr>
          <p:cNvPr id="45" name="Zona 7 York"/>
          <p:cNvSpPr/>
          <p:nvPr/>
        </p:nvSpPr>
        <p:spPr>
          <a:xfrm>
            <a:off x="2623201" y="4909201"/>
            <a:ext cx="422878" cy="42287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623201" y="4909201"/>
            <a:ext cx="422878" cy="422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7" name="Etiqueta York"/>
          <p:cNvSpPr/>
          <p:nvPr/>
        </p:nvSpPr>
        <p:spPr>
          <a:xfrm>
            <a:off x="2083705" y="4997196"/>
            <a:ext cx="493776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2083705" y="4997196"/>
            <a:ext cx="493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York</a:t>
            </a:r>
            <a:endParaRPr lang="en-US" sz="1100" dirty="0"/>
          </a:p>
        </p:txBody>
      </p:sp>
      <p:sp>
        <p:nvSpPr>
          <p:cNvPr id="49" name="Zona 8 Wilmington"/>
          <p:cNvSpPr/>
          <p:nvPr/>
        </p:nvSpPr>
        <p:spPr>
          <a:xfrm>
            <a:off x="4567872" y="5390832"/>
            <a:ext cx="410592" cy="410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67872" y="5390832"/>
            <a:ext cx="410592" cy="41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51" name="Etiqueta Wilmington"/>
          <p:cNvSpPr/>
          <p:nvPr/>
        </p:nvSpPr>
        <p:spPr>
          <a:xfrm>
            <a:off x="3562032" y="5472684"/>
            <a:ext cx="960120" cy="246888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3562032" y="5472684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Wilmington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827532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Zona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10744200" y="155448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Líderes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7818120" y="193852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818120" y="1938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8275320" y="184708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Philadelphia Noreste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9,649 electores · votó 18.8 % · PRM 64.9 %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10744200" y="1847088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126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7818120" y="24460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818120" y="2446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8275320" y="23545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Philadelphia Kensington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6,588 electores · votó 16.9 % · PRM 65.8 %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744200" y="2354580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89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7818120" y="295351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781812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8275320" y="286207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Berks (Reading)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8,368 electores · votó 18.8 % · PRM 59.5 %</a:t>
            </a:r>
            <a:endParaRPr lang="en-US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10744200" y="2862072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100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7818120" y="3461004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818120" y="34610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8275320" y="33695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Lehigh Valley (Allentown)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8,183 electores · votó 20.7 % · PRM 63.0 %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10744200" y="3369564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101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7818120" y="396849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81812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73" name="Text 70"/>
          <p:cNvSpPr txBox="1"/>
          <p:nvPr/>
        </p:nvSpPr>
        <p:spPr>
          <a:xfrm>
            <a:off x="8275320" y="38770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Hazleton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6,520 electores · votó 17.8 % · PRM 65.6 %</a:t>
            </a:r>
            <a:endParaRPr lang="en-US" sz="1200" dirty="0"/>
          </a:p>
        </p:txBody>
      </p:sp>
      <p:sp>
        <p:nvSpPr>
          <p:cNvPr id="74" name="Text 71"/>
          <p:cNvSpPr txBox="1"/>
          <p:nvPr/>
        </p:nvSpPr>
        <p:spPr>
          <a:xfrm>
            <a:off x="10744200" y="3877056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87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7818120" y="447598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7818120" y="44759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77" name="Text 74"/>
          <p:cNvSpPr txBox="1"/>
          <p:nvPr/>
        </p:nvSpPr>
        <p:spPr>
          <a:xfrm>
            <a:off x="8275320" y="438454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Wilkes-Barre y Scranton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1,767 electores · votó 15.3 % · PRM 63.5 %</a:t>
            </a:r>
            <a:endParaRPr lang="en-US" sz="1200" dirty="0"/>
          </a:p>
        </p:txBody>
      </p:sp>
      <p:sp>
        <p:nvSpPr>
          <p:cNvPr id="78" name="Text 75"/>
          <p:cNvSpPr txBox="1"/>
          <p:nvPr/>
        </p:nvSpPr>
        <p:spPr>
          <a:xfrm>
            <a:off x="10744200" y="4384548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24</a:t>
            </a:r>
            <a:endParaRPr lang="en-US" sz="1800" dirty="0"/>
          </a:p>
        </p:txBody>
      </p:sp>
      <p:sp>
        <p:nvSpPr>
          <p:cNvPr id="79" name="Shape 76"/>
          <p:cNvSpPr/>
          <p:nvPr/>
        </p:nvSpPr>
        <p:spPr>
          <a:xfrm>
            <a:off x="7818120" y="498348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7818120" y="4983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81" name="Text 78"/>
          <p:cNvSpPr txBox="1"/>
          <p:nvPr/>
        </p:nvSpPr>
        <p:spPr>
          <a:xfrm>
            <a:off x="8275320" y="489204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Harrisburg, Lancaster, York y Lebanon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5,450 electores · votó 20.9 % · PRM 61.6 %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10744200" y="4892040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66</a:t>
            </a:r>
            <a:endParaRPr lang="en-US" sz="1800" dirty="0"/>
          </a:p>
        </p:txBody>
      </p:sp>
      <p:sp>
        <p:nvSpPr>
          <p:cNvPr id="83" name="Shape 80"/>
          <p:cNvSpPr/>
          <p:nvPr/>
        </p:nvSpPr>
        <p:spPr>
          <a:xfrm>
            <a:off x="7818120" y="549097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818120" y="5490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85" name="Text 82"/>
          <p:cNvSpPr txBox="1"/>
          <p:nvPr/>
        </p:nvSpPr>
        <p:spPr>
          <a:xfrm>
            <a:off x="8275320" y="539953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Delaware (Wilmington)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1,004 electores · votó 17.0 % · PRM 65.9 %</a:t>
            </a:r>
            <a:endParaRPr lang="en-US" sz="1200" dirty="0"/>
          </a:p>
        </p:txBody>
      </p:sp>
      <p:sp>
        <p:nvSpPr>
          <p:cNvPr id="86" name="Text 83"/>
          <p:cNvSpPr txBox="1"/>
          <p:nvPr/>
        </p:nvSpPr>
        <p:spPr>
          <a:xfrm>
            <a:off x="10744200" y="5399532"/>
            <a:ext cx="8961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14</a:t>
            </a:r>
            <a:endParaRPr lang="en-US" sz="1800" dirty="0"/>
          </a:p>
        </p:txBody>
      </p:sp>
      <p:sp>
        <p:nvSpPr>
          <p:cNvPr id="87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Electores: Seccional PRM Pennsylvania (2024). Cada círculo es una ciudad; el número indica su zona y el tamaño, sus electores. Versión interactiva en el enlace web.</a:t>
            </a:r>
            <a:endParaRPr lang="en-US" sz="1000" dirty="0"/>
          </a:p>
        </p:txBody>
      </p:sp>
      <p:sp>
        <p:nvSpPr>
          <p:cNvPr id="89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91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DIAGNÓSTICO</a:t>
            </a:r>
            <a:endParaRPr lang="en-US" sz="1000" dirty="0"/>
          </a:p>
        </p:txBody>
      </p:sp>
      <p:sp>
        <p:nvSpPr>
          <p:cNvPr id="92" name="Sección actual"/>
          <p:cNvSpPr/>
          <p:nvPr/>
        </p:nvSpPr>
        <p:spPr>
          <a:xfrm>
            <a:off x="1380515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93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94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95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2B63">
                    <a:alpha val="8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Meta: 6,140 votos para David Collado, un 10 % más que el PRM y aliados en 2024</a:t>
            </a:r>
            <a:endParaRPr lang="en-US" sz="2800" dirty="0"/>
          </a:p>
        </p:txBody>
      </p:sp>
      <p:graphicFrame>
        <p:nvGraphicFramePr>
          <p:cNvPr id="4" name="Comparacion PRM" descr=""/>
          <p:cNvGraphicFramePr/>
          <p:nvPr/>
        </p:nvGraphicFramePr>
        <p:xfrm>
          <a:off x="548640" y="1600200"/>
          <a:ext cx="6675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Red de 4,857 votantes comprometidos: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vota el 70 %, son unos 3,400 votos, el 55 % de la meta.</a:t>
            </a:r>
            <a:endParaRPr lang="en-US" sz="1400" dirty="0"/>
          </a:p>
        </p:txBody>
      </p:sp>
      <p:sp>
        <p:nvSpPr>
          <p:cNvPr id="6" name="Tres niveles"/>
          <p:cNvSpPr/>
          <p:nvPr/>
        </p:nvSpPr>
        <p:spPr>
          <a:xfrm>
            <a:off x="7589520" y="1600200"/>
            <a:ext cx="405079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691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Tres niveles de meta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1214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Piso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igualar 2024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5,581 votos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5511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Meta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+10 %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25511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6,140 votos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9809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Techo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+20 %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0" y="29809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6,700 votos</a:t>
            </a:r>
            <a:endParaRPr lang="en-US" sz="1500" dirty="0"/>
          </a:p>
        </p:txBody>
      </p:sp>
      <p:sp>
        <p:nvSpPr>
          <p:cNvPr id="14" name="Desgaste"/>
          <p:cNvSpPr/>
          <p:nvPr/>
        </p:nvSpPr>
        <p:spPr>
          <a:xfrm>
            <a:off x="7589520" y="3657600"/>
            <a:ext cx="4050792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18120" y="37490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 hay desgaste: participación necesaria para la meta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18120" y="43708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Collado al 63 % (como 2024)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0" y="43708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20.7 %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4828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Collado al 58 % (desgaste)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0" y="48280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22.6 %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5285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Collado al 53 % (desgaste fuerte)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0" y="528523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24.7 %</a:t>
            </a:r>
            <a:endParaRPr lang="en-US" sz="1600" dirty="0"/>
          </a:p>
        </p:txBody>
      </p:sp>
      <p:sp>
        <p:nvSpPr>
          <p:cNvPr id="22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 2024: JCE, resultado presidencial por colegios, OCLEE Philadelphia (PRM y aliados 5,581 votos, 63.4 % de los válidos). Escenarios 2028: proyección propia.</a:t>
            </a:r>
            <a:endParaRPr lang="en-US" sz="1000" dirty="0"/>
          </a:p>
        </p:txBody>
      </p:sp>
      <p:sp>
        <p:nvSpPr>
          <p:cNvPr id="24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26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27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META</a:t>
            </a:r>
            <a:endParaRPr lang="en-US" sz="1000" dirty="0"/>
          </a:p>
        </p:txBody>
      </p:sp>
      <p:sp>
        <p:nvSpPr>
          <p:cNvPr id="28" name="Sección actual"/>
          <p:cNvSpPr/>
          <p:nvPr/>
        </p:nvSpPr>
        <p:spPr>
          <a:xfrm>
            <a:off x="4153433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9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30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4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2B63">
                    <a:alpha val="8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estructura clara: dirección ejecutiva, 5 áreas de apoyo y 8 coordinadores de zona</a:t>
            </a:r>
            <a:endParaRPr lang="en-US" sz="2800" dirty="0"/>
          </a:p>
        </p:txBody>
      </p:sp>
      <p:sp>
        <p:nvSpPr>
          <p:cNvPr id="4" name="Direccion ejecutiva"/>
          <p:cNvSpPr/>
          <p:nvPr/>
        </p:nvSpPr>
        <p:spPr>
          <a:xfrm>
            <a:off x="4498848" y="1508760"/>
            <a:ext cx="32004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98848" y="1508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Dirección ejecutiva</a:t>
            </a:r>
            <a:endParaRPr lang="en-US" sz="1800" dirty="0"/>
          </a:p>
        </p:txBody>
      </p:sp>
      <p:sp>
        <p:nvSpPr>
          <p:cNvPr id="6" name="Seccional PRM"/>
          <p:cNvSpPr/>
          <p:nvPr/>
        </p:nvSpPr>
        <p:spPr>
          <a:xfrm>
            <a:off x="8412480" y="1554480"/>
            <a:ext cx="322783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503920" y="155448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Coordinación con la Seccional PRM Pennsylvania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99248" y="1874520"/>
            <a:ext cx="71323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9048" y="2240280"/>
            <a:ext cx="0" cy="27432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2514600"/>
            <a:ext cx="9034272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2" name="Area Asuntos Electorales"/>
          <p:cNvSpPr/>
          <p:nvPr/>
        </p:nvSpPr>
        <p:spPr>
          <a:xfrm>
            <a:off x="548640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Asuntos Electorales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04488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5" name="Area Tecnología y Datos"/>
          <p:cNvSpPr/>
          <p:nvPr/>
        </p:nvSpPr>
        <p:spPr>
          <a:xfrm>
            <a:off x="2807208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07208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Tecnología y Datos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63056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8" name="Area Comunicaciones"/>
          <p:cNvSpPr/>
          <p:nvPr/>
        </p:nvSpPr>
        <p:spPr>
          <a:xfrm>
            <a:off x="5065776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65776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Comunicaciones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21624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1" name="Area Logística y Movilización"/>
          <p:cNvSpPr/>
          <p:nvPr/>
        </p:nvSpPr>
        <p:spPr>
          <a:xfrm>
            <a:off x="7324344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24344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Logística y Movilización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680192" y="2514600"/>
            <a:ext cx="0" cy="1828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4" name="Area Finanzas y Legal"/>
          <p:cNvSpPr/>
          <p:nvPr/>
        </p:nvSpPr>
        <p:spPr>
          <a:xfrm>
            <a:off x="9582912" y="2697480"/>
            <a:ext cx="21945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82912" y="2697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Finanzas y Legal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Áreas de apoyo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8 coordinadores de zona · líderes por zona, con 20 % de margen (si vota el 70 % de los comprometidos)</a:t>
            </a:r>
            <a:endParaRPr lang="en-US" sz="1300" dirty="0"/>
          </a:p>
        </p:txBody>
      </p:sp>
      <p:sp>
        <p:nvSpPr>
          <p:cNvPr id="28" name="Zona Phila. Noreste"/>
          <p:cNvSpPr/>
          <p:nvPr/>
        </p:nvSpPr>
        <p:spPr>
          <a:xfrm>
            <a:off x="548640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126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Phila. Noreste</a:t>
            </a:r>
            <a:endParaRPr lang="en-US" sz="2200" dirty="0"/>
          </a:p>
        </p:txBody>
      </p:sp>
      <p:sp>
        <p:nvSpPr>
          <p:cNvPr id="30" name="Zona Phila. Kensington"/>
          <p:cNvSpPr/>
          <p:nvPr/>
        </p:nvSpPr>
        <p:spPr>
          <a:xfrm>
            <a:off x="1947672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02536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89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Phila. Kensington</a:t>
            </a:r>
            <a:endParaRPr lang="en-US" sz="2200" dirty="0"/>
          </a:p>
        </p:txBody>
      </p:sp>
      <p:sp>
        <p:nvSpPr>
          <p:cNvPr id="32" name="Zona Reading"/>
          <p:cNvSpPr/>
          <p:nvPr/>
        </p:nvSpPr>
        <p:spPr>
          <a:xfrm>
            <a:off x="3346704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01568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100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Reading</a:t>
            </a:r>
            <a:endParaRPr lang="en-US" sz="2200" dirty="0"/>
          </a:p>
        </p:txBody>
      </p:sp>
      <p:sp>
        <p:nvSpPr>
          <p:cNvPr id="34" name="Zona Allentown"/>
          <p:cNvSpPr/>
          <p:nvPr/>
        </p:nvSpPr>
        <p:spPr>
          <a:xfrm>
            <a:off x="4745736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101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Allentown</a:t>
            </a:r>
            <a:endParaRPr lang="en-US" sz="2200" dirty="0"/>
          </a:p>
        </p:txBody>
      </p:sp>
      <p:sp>
        <p:nvSpPr>
          <p:cNvPr id="36" name="Zona Hazleton"/>
          <p:cNvSpPr/>
          <p:nvPr/>
        </p:nvSpPr>
        <p:spPr>
          <a:xfrm>
            <a:off x="6144768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99632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87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Hazleton</a:t>
            </a:r>
            <a:endParaRPr lang="en-US" sz="2200" dirty="0"/>
          </a:p>
        </p:txBody>
      </p:sp>
      <p:sp>
        <p:nvSpPr>
          <p:cNvPr id="38" name="Zona W-Barre / Scranton"/>
          <p:cNvSpPr/>
          <p:nvPr/>
        </p:nvSpPr>
        <p:spPr>
          <a:xfrm>
            <a:off x="7543800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98664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24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W-Barre / Scranton</a:t>
            </a:r>
            <a:endParaRPr lang="en-US" sz="2200" dirty="0"/>
          </a:p>
        </p:txBody>
      </p:sp>
      <p:sp>
        <p:nvSpPr>
          <p:cNvPr id="40" name="Zona Harrisburg, Lancaster, York y Lebanon"/>
          <p:cNvSpPr/>
          <p:nvPr/>
        </p:nvSpPr>
        <p:spPr>
          <a:xfrm>
            <a:off x="8942832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97696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66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Harrisburg, Lancaster, York y Lebanon</a:t>
            </a:r>
            <a:endParaRPr lang="en-US" sz="2200" dirty="0"/>
          </a:p>
        </p:txBody>
      </p:sp>
      <p:sp>
        <p:nvSpPr>
          <p:cNvPr id="42" name="Zona Delaware"/>
          <p:cNvSpPr/>
          <p:nvPr/>
        </p:nvSpPr>
        <p:spPr>
          <a:xfrm>
            <a:off x="10341864" y="3931920"/>
            <a:ext cx="12984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396728" y="395935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14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Delaware</a:t>
            </a:r>
            <a:endParaRPr lang="en-US" sz="2200" dirty="0"/>
          </a:p>
        </p:txBody>
      </p:sp>
      <p:sp>
        <p:nvSpPr>
          <p:cNvPr id="44" name="Base"/>
          <p:cNvSpPr/>
          <p:nvPr/>
        </p:nvSpPr>
        <p:spPr>
          <a:xfrm>
            <a:off x="548640" y="5120640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51206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607 líderes</a:t>
            </a:r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(486 activos + reserva)</a:t>
            </a:r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  →  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4,857 votantes comprometidos</a:t>
            </a:r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  →  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≈ 3,400 votos</a:t>
            </a:r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  →   </a:t>
            </a:r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84 mesas con delegado</a:t>
            </a:r>
            <a:endParaRPr lang="en-US" sz="1600" dirty="0"/>
          </a:p>
        </p:txBody>
      </p:sp>
      <p:sp>
        <p:nvSpPr>
          <p:cNvPr id="47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49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50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51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PLAN Y RECOMENDACIÓN</a:t>
            </a:r>
            <a:endParaRPr lang="en-US" sz="1000" dirty="0"/>
          </a:p>
        </p:txBody>
      </p:sp>
      <p:sp>
        <p:nvSpPr>
          <p:cNvPr id="52" name="Sección actual"/>
          <p:cNvSpPr/>
          <p:nvPr/>
        </p:nvSpPr>
        <p:spPr>
          <a:xfrm>
            <a:off x="6926351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53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2B63">
                    <a:alpha val="8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Primeros 30 días: estructura instalada y primer corte del tablero en la semana 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556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00200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Nombrar a los 8 coordinadores de zona y a los responsables de las 5 áreas de apoyo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25496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2549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70048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2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Formar el equipo de cada zona y pedir a la JCE y a los consulados el dato de cédulas renovadas en PA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739896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Verificar quién en la red ya tiene la cédula nueva y quién necesita cita; primeros líderes reclutados; reunión de coordinación con la Seccional PRM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965192"/>
            <a:ext cx="621792" cy="6217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9651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09744"/>
            <a:ext cx="5760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Semana 4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Primer corte del tablero por zona: al menos 140 líderes reclutados; informe a la dirección de campaña</a:t>
            </a:r>
            <a:endParaRPr lang="en-US" sz="1600" dirty="0"/>
          </a:p>
        </p:txBody>
      </p:sp>
      <p:sp>
        <p:nvSpPr>
          <p:cNvPr id="16" name="Ruta 2028"/>
          <p:cNvSpPr/>
          <p:nvPr/>
        </p:nvSpPr>
        <p:spPr>
          <a:xfrm>
            <a:off x="7498080" y="1600200"/>
            <a:ext cx="4142232" cy="4224528"/>
          </a:xfrm>
          <a:prstGeom prst="roundRect">
            <a:avLst>
              <a:gd name="adj" fmla="val 176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Después: ruta hasta mayo de 2028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240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Instalar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nov 2026 – feb 2027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Estructura completa; red de líderes con cédula nueva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1272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Habilitar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mar – sep 2027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607 líderes y 4,857 comprometidos; 60 % del padrón renovado; recién llegados trasladados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01421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Consolidar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oct 2027 – ene 2028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Proceso interno del partido; 90 % renovado antes del cierre del padrón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26680" y="490118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Movilizar  </a:t>
            </a:r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feb – may 2028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Delegados en las 84 mesas, transporte y día de la elección</a:t>
            </a:r>
            <a:endParaRPr lang="en-US" sz="1400" dirty="0"/>
          </a:p>
        </p:txBody>
      </p:sp>
      <p:sp>
        <p:nvSpPr>
          <p:cNvPr id="23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25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26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27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PLAN Y RECOMENDACIÓN</a:t>
            </a:r>
            <a:endParaRPr lang="en-US" sz="1000" dirty="0"/>
          </a:p>
        </p:txBody>
      </p:sp>
      <p:sp>
        <p:nvSpPr>
          <p:cNvPr id="28" name="Sección actual"/>
          <p:cNvSpPr/>
          <p:nvPr/>
        </p:nvSpPr>
        <p:spPr>
          <a:xfrm>
            <a:off x="6926351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9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FFFFF">
                    <a:alpha val="10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itulo"/>
          <p:cNvSpPr txBox="1"/>
          <p:nvPr/>
        </p:nvSpPr>
        <p:spPr>
          <a:xfrm>
            <a:off x="548640" y="502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ganar Pennsylvania con David Collado: primero habilitar, después convencer y finalmente movilizar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4"/>
                </a:solidFill>
              </a:rPr>
              <a:t>En 2024 el PRM y aliados sacaron el 63 % en la seccional, 6 puntos más que en el país. Collado encabeza las preferencias internas del PRM (48.8 %, oct. 2026).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768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057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 cédula como puerta de entrada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Citas, viajes en grupo y traslado de los recién llegados al padrón de Pennsylvania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0449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9125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98448" y="2971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Agenda de la diáspora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Consulados, remesas, vivienda e inversión; validarla en 8 encuentros de escucha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959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0565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98448" y="3886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Priorizar donde rinde más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Convencer en Reading (PRM 59.5 %); movilizar en Kensington, Wilkes-Barre y Harrisburg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48737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2005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98448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Líderes con credibilidad local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Iglesias, asociaciones y comercios dominicanos: de ahí salen los líderes de cada zona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6217920" y="21305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276856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967728" y="20574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Una sola estructura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Coordinar con la Seccional PRM Pennsylvania; la división interna resta votos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6217920" y="30449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191256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967728" y="29718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Medir cada semana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CRM con registros únicos y cédula verificada; corte semanal por zona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6217920" y="3959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4105656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967728" y="3886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Cumplir la ley en todo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Leyes 20-23 y 33-18, sin recursos públicos, datos con consentimiento expreso</a:t>
            </a:r>
            <a:endParaRPr lang="en-US" sz="1600" dirty="0"/>
          </a:p>
        </p:txBody>
      </p:sp>
      <p:sp>
        <p:nvSpPr>
          <p:cNvPr id="27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01F4A"/>
          </a:solidFill>
          <a:ln w="12700">
            <a:solidFill>
              <a:srgbClr val="001F4A"/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2E4C7A"/>
            </a:solidFill>
            <a:prstDash val="solid"/>
          </a:ln>
        </p:spPr>
      </p:sp>
      <p:sp>
        <p:nvSpPr>
          <p:cNvPr id="29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8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30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9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31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PLAN Y RECOMENDACIÓN</a:t>
            </a:r>
            <a:endParaRPr lang="en-US" sz="1000" dirty="0"/>
          </a:p>
        </p:txBody>
      </p:sp>
      <p:sp>
        <p:nvSpPr>
          <p:cNvPr id="32" name="Sección actual"/>
          <p:cNvSpPr/>
          <p:nvPr/>
        </p:nvSpPr>
        <p:spPr>
          <a:xfrm>
            <a:off x="6926351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33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AFC0DA"/>
                </a:solidFill>
                <a:hlinkClick r:id="rId10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2B63">
                    <a:alpha val="8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Resumen: con 8 zonas y una red de 607 líderes, David Collado puede superar en 10 % al PRM y aliados de 2024</a:t>
            </a:r>
            <a:endParaRPr lang="en-US" sz="2800" dirty="0"/>
          </a:p>
        </p:txBody>
      </p:sp>
      <p:sp>
        <p:nvSpPr>
          <p:cNvPr id="4" name="Cifra 1"/>
          <p:cNvSpPr/>
          <p:nvPr/>
        </p:nvSpPr>
        <p:spPr>
          <a:xfrm>
            <a:off x="548640" y="1600200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47,529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inscritos en 2024 (13 ciudades)</a:t>
            </a:r>
            <a:endParaRPr lang="en-US" sz="3400" dirty="0"/>
          </a:p>
        </p:txBody>
      </p:sp>
      <p:sp>
        <p:nvSpPr>
          <p:cNvPr id="6" name="Cifra 2"/>
          <p:cNvSpPr/>
          <p:nvPr/>
        </p:nvSpPr>
        <p:spPr>
          <a:xfrm>
            <a:off x="548640" y="3044952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136392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18.8 %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votó en 2024</a:t>
            </a:r>
            <a:endParaRPr lang="en-US" sz="3400" dirty="0"/>
          </a:p>
        </p:txBody>
      </p:sp>
      <p:sp>
        <p:nvSpPr>
          <p:cNvPr id="8" name="Cifra 3"/>
          <p:cNvSpPr/>
          <p:nvPr/>
        </p:nvSpPr>
        <p:spPr>
          <a:xfrm>
            <a:off x="548640" y="4489704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581144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227,647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dominicanos en PA: el mayor aumento de EE. UU.</a:t>
            </a:r>
            <a:endParaRPr lang="en-US" sz="3400" dirty="0"/>
          </a:p>
        </p:txBody>
      </p:sp>
      <p:sp>
        <p:nvSpPr>
          <p:cNvPr id="10" name="El problema"/>
          <p:cNvSpPr/>
          <p:nvPr/>
        </p:nvSpPr>
        <p:spPr>
          <a:xfrm>
            <a:off x="4160520" y="1600200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600200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problema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600200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 de cada 10 inscritos no votaron y la nueva cédula puede dejar fuera a miles de electores más.</a:t>
            </a:r>
            <a:endParaRPr lang="en-US" sz="1500" dirty="0"/>
          </a:p>
        </p:txBody>
      </p:sp>
      <p:sp>
        <p:nvSpPr>
          <p:cNvPr id="13" name="El plan"/>
          <p:cNvSpPr/>
          <p:nvPr/>
        </p:nvSpPr>
        <p:spPr>
          <a:xfrm>
            <a:off x="4160520" y="2670048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2670048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El plan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670048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8 zonas, 8 coordinadores y 607 líderes con 10 personas cada uno (incluye 20 % de margen). La cédula y el traslado son la puerta de entrada.</a:t>
            </a:r>
            <a:endParaRPr lang="en-US" sz="1500" dirty="0"/>
          </a:p>
        </p:txBody>
      </p:sp>
      <p:sp>
        <p:nvSpPr>
          <p:cNvPr id="16" name="La meta"/>
          <p:cNvSpPr/>
          <p:nvPr/>
        </p:nvSpPr>
        <p:spPr>
          <a:xfrm>
            <a:off x="4160520" y="3739896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3739896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 meta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739896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6,140 votos para David Collado: un 10 % más que el PRM y aliados en 2024 (5,581, dato oficial JCE).</a:t>
            </a:r>
            <a:endParaRPr lang="en-US" sz="1500" dirty="0"/>
          </a:p>
        </p:txBody>
      </p:sp>
      <p:sp>
        <p:nvSpPr>
          <p:cNvPr id="19" name="Próximo paso"/>
          <p:cNvSpPr/>
          <p:nvPr/>
        </p:nvSpPr>
        <p:spPr>
          <a:xfrm>
            <a:off x="4160520" y="4809744"/>
            <a:ext cx="7479792" cy="932688"/>
          </a:xfrm>
          <a:prstGeom prst="roundRect">
            <a:avLst>
              <a:gd name="adj" fmla="val 78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0" y="4809744"/>
            <a:ext cx="17373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Próximo paso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809744"/>
            <a:ext cx="5303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Nombrar a los 8 coordinadores de zona e iniciar en noviembre.</a:t>
            </a:r>
            <a:endParaRPr lang="en-US" sz="1500" dirty="0"/>
          </a:p>
        </p:txBody>
      </p:sp>
      <p:sp>
        <p:nvSpPr>
          <p:cNvPr id="22" name="Fuente"/>
          <p:cNvSpPr txBox="1"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Fuentes: Seccional PRM Pennsylvania (padrón electoral); JCE 2024; INDEX, Registro Sociodemográfico de los Dominicanos en el Exterior (5.ª edición, 2026). Meta: proyección propia.</a:t>
            </a:r>
            <a:endParaRPr lang="en-US" sz="1000" dirty="0"/>
          </a:p>
        </p:txBody>
      </p:sp>
      <p:sp>
        <p:nvSpPr>
          <p:cNvPr id="24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26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27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28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PLAN Y RECOMENDACIÓN</a:t>
            </a:r>
            <a:endParaRPr lang="en-US" sz="1000" dirty="0"/>
          </a:p>
        </p:txBody>
      </p:sp>
      <p:sp>
        <p:nvSpPr>
          <p:cNvPr id="29" name="Sección actual"/>
          <p:cNvSpPr/>
          <p:nvPr/>
        </p:nvSpPr>
        <p:spPr>
          <a:xfrm>
            <a:off x="6926351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30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Ficha técnic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FICHA TÉCNICA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 de agua"/>
          <p:cNvSpPr txBox="1"/>
          <p:nvPr/>
        </p:nvSpPr>
        <p:spPr>
          <a:xfrm rot="-1200000">
            <a:off x="-320040" y="2743200"/>
            <a:ext cx="1280160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002B63">
                    <a:alpha val="8000"/>
                  </a:srgbClr>
                </a:solidFill>
              </a:rPr>
              <a:t>CONFIDENCIAL · USO INTERNO DEL CAD</a:t>
            </a:r>
            <a:endParaRPr lang="en-US" sz="4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029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Ficha técnica: fuentes, método y supuestos del plan</a:t>
            </a:r>
            <a:endParaRPr lang="en-US" sz="2800" dirty="0"/>
          </a:p>
        </p:txBody>
      </p:sp>
      <p:sp>
        <p:nvSpPr>
          <p:cNvPr id="4" name="Ficha Fuentes de datos"/>
          <p:cNvSpPr/>
          <p:nvPr/>
        </p:nvSpPr>
        <p:spPr>
          <a:xfrm>
            <a:off x="548640" y="160020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Fuentes de datos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063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JCE: «Resultado Presidencial por colegios», elecciones del 19 de mayo de 2024, OCLEE Philadelphia (colegios 1253–1336)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Seccional PRM Pennsylvania: padrón por recinto y lista de recintos y colegios (47,529 electores, 84 mesas)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INDEX: Registro Sociodemográfico de los Dominicanos en el Exterior, 5.ª edición (2026)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JCE: calendario de la nueva cédula en el exterior; encuestas internas del PRM (Markestrategia y RD Elige, 2026)</a:t>
            </a:r>
            <a:endParaRPr lang="en-US" sz="1300" dirty="0"/>
          </a:p>
        </p:txBody>
      </p:sp>
      <p:sp>
        <p:nvSpPr>
          <p:cNvPr id="7" name="Ficha Método"/>
          <p:cNvSpPr/>
          <p:nvPr/>
        </p:nvSpPr>
        <p:spPr>
          <a:xfrm>
            <a:off x="4334256" y="160020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2856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Método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240280"/>
            <a:ext cx="3063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Resultados por ciudad y zona: suma de los colegios de cada recinto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Participación: votos emitidos entre electores. Apoyo: porcentaje de los votos válidos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Meta 2028: votos del PRM y aliados en 2024 (5,581) más un 10 % = 6,140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Zonas: agrupación geográfica propuesta de las 13 ciudades; líderes repartidos según el potencial (abstención 2024 × voto del PRM y aliados)</a:t>
            </a:r>
            <a:endParaRPr lang="en-US" sz="1300" dirty="0"/>
          </a:p>
        </p:txBody>
      </p:sp>
      <p:sp>
        <p:nvSpPr>
          <p:cNvPr id="10" name="Ficha Supuestos y notas"/>
          <p:cNvSpPr/>
          <p:nvPr/>
        </p:nvSpPr>
        <p:spPr>
          <a:xfrm>
            <a:off x="8119872" y="1600200"/>
            <a:ext cx="3520440" cy="3703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8472" y="1737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Supuestos y notas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240280"/>
            <a:ext cx="3063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Escenarios: proyección propia con supuestos de renovación de cédula, participación y apoyo (63 % como en 2024)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Red: aporta 3,400 votos (55 % de la meta); vota el 70 % de los comprometidos; 10 por líder y 20 % de margen = 607 líderes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Padrón: 47,529 de la seccional (la JCE divulgó 47,604 en el corte preliminar)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Asignación de los 84 colegios a sus recintos confirmada con la Seccional PRM Pennsylvania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Preparado por: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Orlando Castillo · Octubre de 2026 · Documento de trabajo para el CAD, Seccional Pennsylvania</a:t>
            </a:r>
            <a:endParaRPr lang="en-US" sz="1300" dirty="0"/>
          </a:p>
        </p:txBody>
      </p:sp>
      <p:sp>
        <p:nvSpPr>
          <p:cNvPr id="15" name="Barra de navegación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6DEEA"/>
            </a:solidFill>
            <a:prstDash val="solid"/>
          </a:ln>
        </p:spPr>
      </p:sp>
      <p:sp>
        <p:nvSpPr>
          <p:cNvPr id="17" name="Pestaña Diagnóstico"/>
          <p:cNvSpPr txBox="1"/>
          <p:nvPr/>
        </p:nvSpPr>
        <p:spPr>
          <a:xfrm>
            <a:off x="548640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1" action="ppaction://hlinksldjump" tooltip="Ir a Diagnóstic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DIAGNÓSTICO</a:t>
            </a:r>
            <a:endParaRPr lang="en-US" sz="1000" dirty="0"/>
          </a:p>
        </p:txBody>
      </p:sp>
      <p:sp>
        <p:nvSpPr>
          <p:cNvPr id="18" name="Pestaña Meta"/>
          <p:cNvSpPr txBox="1"/>
          <p:nvPr/>
        </p:nvSpPr>
        <p:spPr>
          <a:xfrm>
            <a:off x="3321558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2" action="ppaction://hlinksldjump" tooltip="Ir a Met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META</a:t>
            </a:r>
            <a:endParaRPr lang="en-US" sz="1000" dirty="0"/>
          </a:p>
        </p:txBody>
      </p:sp>
      <p:sp>
        <p:nvSpPr>
          <p:cNvPr id="19" name="Pestaña Plan y recomendación"/>
          <p:cNvSpPr txBox="1"/>
          <p:nvPr/>
        </p:nvSpPr>
        <p:spPr>
          <a:xfrm>
            <a:off x="6094476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none" spc="150" kern="0" dirty="0">
                <a:solidFill>
                  <a:srgbClr val="5A6B86"/>
                </a:solidFill>
                <a:hlinkClick r:id="rId3" action="ppaction://hlinksldjump" tooltip="Ir a Plan y recomend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 Y RECOMENDACIÓN</a:t>
            </a:r>
            <a:endParaRPr lang="en-US" sz="1000" dirty="0"/>
          </a:p>
        </p:txBody>
      </p:sp>
      <p:sp>
        <p:nvSpPr>
          <p:cNvPr id="20" name="Pestaña Ficha técnica"/>
          <p:cNvSpPr txBox="1"/>
          <p:nvPr/>
        </p:nvSpPr>
        <p:spPr>
          <a:xfrm>
            <a:off x="8867394" y="0"/>
            <a:ext cx="27729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2B63"/>
                </a:solidFill>
              </a:rPr>
              <a:t>FICHA TÉCNICA</a:t>
            </a:r>
            <a:endParaRPr lang="en-US" sz="1000" dirty="0"/>
          </a:p>
        </p:txBody>
      </p:sp>
      <p:sp>
        <p:nvSpPr>
          <p:cNvPr id="21" name="Sección actual"/>
          <p:cNvSpPr/>
          <p:nvPr/>
        </p:nvSpPr>
        <p:spPr>
          <a:xfrm>
            <a:off x="9699269" y="338328"/>
            <a:ext cx="1109167" cy="45720"/>
          </a:xfrm>
          <a:prstGeom prst="rect">
            <a:avLst/>
          </a:prstGeom>
          <a:solidFill>
            <a:srgbClr val="DA1822"/>
          </a:solidFill>
          <a:ln w="12700">
            <a:solidFill>
              <a:srgbClr val="DA182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D El Proximo">
  <a:themeElements>
    <a:clrScheme name="CAD El Proximo">
      <a:dk1>
        <a:srgbClr val="1B1F2A"/>
      </a:dk1>
      <a:lt1>
        <a:srgbClr val="FFFFFF"/>
      </a:lt1>
      <a:dk2>
        <a:srgbClr val="002B63"/>
      </a:dk2>
      <a:lt2>
        <a:srgbClr val="EEF2F8"/>
      </a:lt2>
      <a:accent1>
        <a:srgbClr val="002B63"/>
      </a:accent1>
      <a:accent2>
        <a:srgbClr val="DA1822"/>
      </a:accent2>
      <a:accent3>
        <a:srgbClr val="4F75AE"/>
      </a:accent3>
      <a:accent4>
        <a:srgbClr val="9AA7BD"/>
      </a:accent4>
      <a:accent5>
        <a:srgbClr val="E9A23B"/>
      </a:accent5>
      <a:accent6>
        <a:srgbClr val="2E8B57"/>
      </a:accent6>
      <a:hlink>
        <a:srgbClr val="5A6B86"/>
      </a:hlink>
      <a:folHlink>
        <a:srgbClr val="5A6B86"/>
      </a:folHlink>
    </a:clrScheme>
    <a:fontScheme name="CAD El Proxim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Estratégico Electoral Pennsylvania 2028</dc:title>
  <dc:subject>PptxGenJS Presentation</dc:subject>
  <dc:creator>Orlando Castillo</dc:creator>
  <cp:lastModifiedBy>Orlando Castillo</cp:lastModifiedBy>
  <cp:revision>1</cp:revision>
  <dcterms:created xsi:type="dcterms:W3CDTF">2026-10-22T04:36:35Z</dcterms:created>
  <dcterms:modified xsi:type="dcterms:W3CDTF">2026-10-22T04:36:35Z</dcterms:modified>
</cp:coreProperties>
</file>