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iagnóstico" id="{149d7052-b90d-c4b0-9541-693a631c2abd}">
          <p14:sldIdLst>
            <p14:sldId id="256"/>
            <p14:sldId id="257"/>
            <p14:sldId id="258"/>
            <p14:sldId id="259"/>
          </p14:sldIdLst>
        </p14:section>
        <p14:section name="Resultados 2024" id="{68759f9d-ffb6-f557-aa94-9564408c786d}">
          <p14:sldIdLst>
            <p14:sldId id="260"/>
          </p14:sldIdLst>
        </p14:section>
        <p14:section name="Meta" id="{c9fa0979-683e-bf98-fec2-c110fe7253f7}">
          <p14:sldIdLst>
            <p14:sldId id="261"/>
          </p14:sldIdLst>
        </p14:section>
        <p14:section name="Plan y recomendación" id="{6274a623-48da-2918-6de2-e34c994f86c0}">
          <p14:sldIdLst>
            <p14:sldId id="262"/>
            <p14:sldId id="263"/>
            <p14:sldId id="264"/>
          </p14:sldIdLst>
        </p14:section>
        <p14:section name="Ficha técnica" id="{efbde180-4e54-83e7-8fe6-36d78e6c2531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A1822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4F75AE"/>
              </a:solidFill>
              <a:ln w="9525" cap="flat">
                <a:solidFill>
                  <a:srgbClr val="002B63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Votaron</c:v>
                </c:pt>
                <c:pt idx="1">
                  <c:v>No votaron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8939</c:v>
                </c:pt>
                <c:pt idx="1">
                  <c:v>38590</c:v>
                </c:pt>
              </c:numCache>
            </c:numRef>
          </c:val>
        </c:ser>
        <c:firstSliceAng val="0"/>
        <c:holeSize val="7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A"/>
                </a:solidFill>
                <a:latin typeface="+mn-lt"/>
              </a:rPr>
              <a:t>Dominicanos en Pennsylvania (INDEX): +36,553 en 2025, el mayor aumento de EE. UU.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Dominicanos registrados en Pennsylvania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INDEX, dic. 2022</c:v>
                  </c:pt>
                  <c:pt idx="1">
                    <c:v>INDEX, último informe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181156</c:v>
                </c:pt>
                <c:pt idx="1">
                  <c:v>227647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2A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2A"/>
                </a:solidFill>
                <a:latin typeface="+mn-lt"/>
              </a:rPr>
              <a:t>Votos para David Collado por escenario (63 % de apoyo, como el PRM y aliados en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Votos</c:v>
                </c:pt>
              </c:strCache>
            </c:strRef>
          </c:tx>
          <c:spPr>
            <a:solidFill>
              <a:srgbClr val="9AA7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A7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9A23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A1822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F75A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02B63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PRM y aliados 2024</c:v>
                  </c:pt>
                  <c:pt idx="1">
                    <c:v>Meta 2028 (+10 %)</c:v>
                  </c:pt>
                  <c:pt idx="2">
                    <c:v>Adverso</c:v>
                  </c:pt>
                  <c:pt idx="3">
                    <c:v>Inercial</c:v>
                  </c:pt>
                  <c:pt idx="4">
                    <c:v>Realista</c:v>
                  </c:pt>
                  <c:pt idx="5">
                    <c:v>Favorable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5581</c:v>
                </c:pt>
                <c:pt idx="1">
                  <c:v>6139</c:v>
                </c:pt>
                <c:pt idx="2">
                  <c:v>3564</c:v>
                </c:pt>
                <c:pt idx="3">
                  <c:v>5465</c:v>
                </c:pt>
                <c:pt idx="4">
                  <c:v>6534</c:v>
                </c:pt>
                <c:pt idx="5">
                  <c:v>7217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1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OCLEE Philadelphia es en realidad la Seccional Pennsylvania: incluye 12 ciudades de Pennsylvania y Wilmington (Delaware). 47,529 electores en 84 mesas (padrón de la seccional; la JCE divulgó 47,604 en el corte preliminar). Votos 2024, dato oficial JCE a nivel presidencial: 8,939 emitidos (8,810 válidos y 129 nulos). Participación: 18.8 %; no votaron 38,590. Es la 4.ª seccional más grande de la Circunscripción I, después de Nueva York, Nueva Jersey y Boston; según el INDEX, Pennsylvania tuvo en 2025 el mayor aumento de dominicanos de EE. UU. (+36,553).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diapositiva para quien solo lea una. Problema: participación de 18.8 % (8,939 de 47,529, dato oficial JCE) y riesgo de la nueva cédula. Plan: 8 zonas, 400 líderes con 10 personas cada uno (4,000 personas). Meta: 6,140 votos para David Collado, un 10 % más que los 5,581 votos del PRM y aliados en 2024 (63.4 % de los válidos). Próximo paso: nombrar coordinadores e iniciar en noviembre.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Mapa del este de Pennsylvania con las 13 ciudades de la seccional (12 en Pennsylvania y Wilmington, Delaware). El recuadro muestra la ubicación dentro del estado. Zonas: 1 Philadelphia Noreste, 2 Philadelphia Kensington, 3 Berks (Reading), 4 Lehigh Valley (Allentown), 5 Hazleton, 6 Wilkes-Barre y Scranton, 7 Harrisburg, Lancaster, York y Lebanon, 8 Delaware (Wilmington). Philadelphia, Reading y Allentown (zonas 1 a 4) suman 32,788 electores, el 69 % del padrón. Líderes: red de 400 líderes de 10 personas, repartida según los electores.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Crecimiento: el Registro Sociodemográfico del INDEX contaba 181,156 dominicanos en Pennsylvania al 31 de diciembre de 2022; el último informe del INDEX (5.ª edición, julio de 2026) reporta 227,647: +36,553 frente a 191,094 en 2024 (+19.1 %), el mayor aumento absoluto de todos los estados; Massachusetts fue segundo (+30,846) y Texas tuvo el mayor aumento porcentual (+28.3 %). Pennsylvania es el 4.º estado con más dominicanos, después de Nueva York, Nueva Jersey y Florida. El Consulado en Filadelfia atiende a más de 191 mil y afirma que llega un dominicano más cada día, muchos desde Nueva York. Hazleton ya tiene cerca de 43 % de población dominicana (Censo). Implicación: quien se mudó desde NY/NJ sigue empadronado en su OCLEE anterior; hay que trasladar su registro a Pennsylvania antes del cierre del padrón (enero de 2028), idealmente en la misma cita de la nueva cédula; confirmar el procedimiento con la JCE. Potencial: 47,529 inscritos son el 21 % de los 227,647 dominicanos que registra el INDEX en el estado (la cifra del INDEX incluye a menores de edad y a personas sin cédula, por lo que no todos pueden votar, pero muestra el tamaño del potencial). Escenarios de padrón: proyección propia (+5 %, +12 %, +26 %; el alto replica el crecimiento de la población).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Resultados oficiales de la JCE por colegio, agrupados por recinto con la lista de colegios de la Seccional PRM Pennsylvania (Nilba Sánchez y Yajaira Alcántara). Los totales coinciden con la seccional: 8,939 emitidos, 5,581 votos del PRM y aliados, 47,529 electores. Nota: la lista de la seccional asigna 4 mesas a la Asociación de Pennsylvania (Reading) pero solo enumera 1256, 1257 y 1258; el colegio 1259, el único que no aparece, se asignó a ese recinto por numeración (confirmar). Por recinto, la participación va de 13.5 % (AAR Solutions, Wilkes-Barre) a 29.4 % (Plaza San Juan Bautista, Lancaster), y el apoyo al PRM y aliados de 53.7 % (Scranton) a 68.1 % (Visitation, Philadelphia). Colegios más débiles para el PRM: 1294 y 1300 (La Senda I y II, Reading), 1281 (Hazleton), 1307 (Lancaster), 1333 (West Kensington), 1331 (Scranton), 1265 y 1269 (Allentown).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Dato oficial JCE 2024 (nivel presidencial, OCLEE Philadelphia, colegios 1253 a 1336): 8,939 votos emitidos, 8,810 válidos, 129 nulos. PRM y aliados 5,581 (63.35 % de los válidos; PRM solo 4,996), Fuerza del Pueblo y aliados 1,852 (21.02 %), PED 687 (7.80 %), PLD 540 (6.13 %). En la seccional el PRM y aliados sacaron 5.9 puntos más que su resultado nacional (57.44 %). Meta 2028: +10 % = 6,139 votos (≈6,140); techo +20 % = 6,697 (≈6,700). Escenarios con 63.4 % de apoyo sobre los votos válidos (98.6 % de los emitidos): Adverso, 60 % renueva la cédula y vota el 20 % de los habilitados (5,703 votos totales → 3,564); Inercial, 80 % y 23 % (8,745 → 5,465, por debajo de 2024); Realista, participación del 22 % sobre el padrón (10,456 → 6,534, +17 %); Favorable, 90 % y 27 % (11,550 → 7,217, +29 %). Desgaste (tercer período del PRM sin Abinader en la boleta y malestar social en las encuestas): con 58 % de apoyo la meta exige 10,740 votos totales (22.6 % de participación; 20.2 % si el padrón crece 12 %); con 53 %, 11,753 (24.7 %; 22.1 %). Red: 4,000 personas × 85 % = 3,400 votos, el 55 % de la meta.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Organigrama operativo propuesto. La dirección ejecutiva coordina con la Seccional PRM Pennsylvania y conduce 5 áreas de apoyo: Asuntos Electorales (cédula, padrón, renovación y traslado de recién llegados), Tecnología y Datos (base de datos, registros únicos y tablero), Comunicaciones (agenda de la diáspora), Logística y Movilización (transporte, delegados y día de la elección) y Finanzas y Legal (recursos y cumplimiento de las leyes 20-23 y 33-18). Cada una de las 8 zonas tiene un coordinador; los números son los líderes (de 10 personas cada uno) que necesita cada zona.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 de arranque de 30 días con entregables verificables. Ritmo de la meta: 400 líderes en unas 13 semanas, unos 31 por semana; si en la semana 4 hay menos de 90 líderes, se reasignan recursos y se replanifica. Después siguen las 4 etapas hasta mayo de 2028. La fecha legal de primarias es el 3 de octubre de 2027.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Encuestas internas PRM: Markestrategia (2–4 oct. 2026) 48.8 %; RD Elige (sept. 2026) 66.5 % entre simpatizantes. Collado ha dicho que aún no inicia recorridos como aspirante. Respetar los plazos de precampaña y campaña (Ley 20-23 de Régimen Electoral y Ley 33-18 de Partidos), no usar recursos públicos y obtener consentimiento expreso para los datos personales.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Ficha técnica del documento: fuentes de cada dato, método de cálculo y supuestos. Todos los resultados de 2024 son oficiales de la JCE; los escenarios y la meta son proyecciones propias.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Plan Estratégico Electoral Pennsylvania 2028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5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10.xml"/><Relationship Id="rId2" Type="http://schemas.openxmlformats.org/officeDocument/2006/relationships/chart" Target="/ppt/charts/chart1.xml"/><Relationship Id="rId1" Type="http://schemas.openxmlformats.org/officeDocument/2006/relationships/image" Target="../media/image-1-1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5.xml"/><Relationship Id="rId2" Type="http://schemas.openxmlformats.org/officeDocument/2006/relationships/slide" Target="slide6.xml"/><Relationship Id="rId3" Type="http://schemas.openxmlformats.org/officeDocument/2006/relationships/slide" Target="slide7.xml"/><Relationship Id="rId4" Type="http://schemas.openxmlformats.org/officeDocument/2006/relationships/slide" Target="slide10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10.xml"/><Relationship Id="rId1" Type="http://schemas.openxmlformats.org/officeDocument/2006/relationships/image" Target="../media/image-3-1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" Target="slide10.xml"/><Relationship Id="rId1" Type="http://schemas.openxmlformats.org/officeDocument/2006/relationships/chart" Target="/ppt/charts/chart2.xm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6.xml"/><Relationship Id="rId3" Type="http://schemas.openxmlformats.org/officeDocument/2006/relationships/slide" Target="slide7.xml"/><Relationship Id="rId4" Type="http://schemas.openxmlformats.org/officeDocument/2006/relationships/slide" Target="slide10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3" Type="http://schemas.openxmlformats.org/officeDocument/2006/relationships/slide" Target="slide5.xml"/><Relationship Id="rId4" Type="http://schemas.openxmlformats.org/officeDocument/2006/relationships/slide" Target="slide7.xml"/><Relationship Id="rId5" Type="http://schemas.openxmlformats.org/officeDocument/2006/relationships/slide" Target="slide10.xml"/><Relationship Id="rId1" Type="http://schemas.openxmlformats.org/officeDocument/2006/relationships/chart" Target="/ppt/charts/chart3.xml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10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10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9" Type="http://schemas.openxmlformats.org/officeDocument/2006/relationships/slide" Target="slide5.xml"/><Relationship Id="rId10" Type="http://schemas.openxmlformats.org/officeDocument/2006/relationships/slide" Target="slide6.xml"/><Relationship Id="rId11" Type="http://schemas.openxmlformats.org/officeDocument/2006/relationships/slide" Target="slide1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" Target="slide5.xml"/><Relationship Id="rId3" Type="http://schemas.openxmlformats.org/officeDocument/2006/relationships/slide" Target="slide6.xml"/><Relationship Id="rId4" Type="http://schemas.openxmlformats.org/officeDocument/2006/relationships/slide" Target="slide7.xm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r"/>
          <p:cNvSpPr txBox="1"/>
          <p:nvPr/>
        </p:nvSpPr>
        <p:spPr>
          <a:xfrm>
            <a:off x="1691640" y="749808"/>
            <a:ext cx="6080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Plan Estratégico Electoral Pennsylvania 2028</a:t>
            </a:r>
            <a:endParaRPr lang="en-US" sz="24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Preparado por Orlando Castillo</a:t>
            </a:r>
            <a:endParaRPr lang="en-US" sz="2400" dirty="0"/>
          </a:p>
        </p:txBody>
      </p:sp>
      <p:sp>
        <p:nvSpPr>
          <p:cNvPr id="3" name="Marco foto"/>
          <p:cNvSpPr/>
          <p:nvPr/>
        </p:nvSpPr>
        <p:spPr>
          <a:xfrm>
            <a:off x="521208" y="630936"/>
            <a:ext cx="1060704" cy="106070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4" name="Foto Orlando Castillo" descr="Orlando Castill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8368"/>
            <a:ext cx="1005840" cy="1005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20574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4"/>
                </a:solidFill>
              </a:rPr>
              <a:t>PROPUESTA PARA EL CAD · SECCIONAL PENNSYLVANIA</a:t>
            </a:r>
            <a:endParaRPr lang="en-US" sz="1300" dirty="0"/>
          </a:p>
        </p:txBody>
      </p:sp>
      <p:sp>
        <p:nvSpPr>
          <p:cNvPr id="6" name="Titulo"/>
          <p:cNvSpPr txBox="1"/>
          <p:nvPr/>
        </p:nvSpPr>
        <p:spPr>
          <a:xfrm>
            <a:off x="548640" y="2468880"/>
            <a:ext cx="7223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47,529 electores, solo 8,939 votaron: 8 de cada 10 se quedaron en casa</a:t>
            </a:r>
            <a:endParaRPr lang="en-US" sz="3800" dirty="0"/>
          </a:p>
        </p:txBody>
      </p:sp>
      <p:graphicFrame>
        <p:nvGraphicFramePr>
          <p:cNvPr id="7" name="Participacion" descr=""/>
          <p:cNvGraphicFramePr/>
          <p:nvPr/>
        </p:nvGraphicFramePr>
        <p:xfrm>
          <a:off x="8092440" y="822960"/>
          <a:ext cx="356616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 txBox="1"/>
          <p:nvPr/>
        </p:nvSpPr>
        <p:spPr>
          <a:xfrm>
            <a:off x="8732520" y="2057400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18.8 %</a:t>
            </a:r>
            <a:endParaRPr lang="en-US" sz="40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participación 2024</a:t>
            </a:r>
            <a:endParaRPr lang="en-US" sz="4000" dirty="0"/>
          </a:p>
        </p:txBody>
      </p:sp>
      <p:sp>
        <p:nvSpPr>
          <p:cNvPr id="9" name="Dato 1"/>
          <p:cNvSpPr/>
          <p:nvPr/>
        </p:nvSpPr>
        <p:spPr>
          <a:xfrm>
            <a:off x="548640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84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mesas electorales</a:t>
            </a:r>
            <a:endParaRPr lang="en-US" sz="3000" dirty="0"/>
          </a:p>
        </p:txBody>
      </p:sp>
      <p:sp>
        <p:nvSpPr>
          <p:cNvPr id="11" name="Dato 2"/>
          <p:cNvSpPr/>
          <p:nvPr/>
        </p:nvSpPr>
        <p:spPr>
          <a:xfrm>
            <a:off x="3364992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3593592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4.ª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seccional más grande de la Circunscripción I</a:t>
            </a:r>
            <a:endParaRPr lang="en-US" sz="3000" dirty="0"/>
          </a:p>
        </p:txBody>
      </p:sp>
      <p:sp>
        <p:nvSpPr>
          <p:cNvPr id="13" name="Dato 3"/>
          <p:cNvSpPr/>
          <p:nvPr/>
        </p:nvSpPr>
        <p:spPr>
          <a:xfrm>
            <a:off x="6181344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409944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N.º 1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en aumento de dominicanos en EE. UU. (2025)</a:t>
            </a:r>
            <a:endParaRPr lang="en-US" sz="3000" dirty="0"/>
          </a:p>
        </p:txBody>
      </p:sp>
      <p:sp>
        <p:nvSpPr>
          <p:cNvPr id="15" name="Dato 4"/>
          <p:cNvSpPr/>
          <p:nvPr/>
        </p:nvSpPr>
        <p:spPr>
          <a:xfrm>
            <a:off x="8997696" y="4709160"/>
            <a:ext cx="2606040" cy="1097280"/>
          </a:xfrm>
          <a:prstGeom prst="roundRect">
            <a:avLst>
              <a:gd name="adj" fmla="val 6667"/>
            </a:avLst>
          </a:prstGeom>
          <a:solidFill>
            <a:schemeClr val="bg1">
              <a:alpha val="10000"/>
            </a:schemeClr>
          </a:solidFill>
          <a:ln w="12700">
            <a:solidFill>
              <a:schemeClr val="bg1">
                <a:alpha val="20000"/>
              </a:scheme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9226296" y="47548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38,590</a:t>
            </a:r>
            <a:endParaRPr lang="en-US" sz="30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inscritos no votaron</a:t>
            </a:r>
            <a:endParaRPr lang="en-US" sz="30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padrón electoral, Seccional PRM Pennsylvania (2024) · JCE 2024 (OCLEE Philadelphia) · INDEX, Registro Sociodemográfico de los Dominicanos en el Exterior (5.ª edición, 2026)</a:t>
            </a:r>
            <a:endParaRPr lang="en-US" sz="1000" dirty="0"/>
          </a:p>
        </p:txBody>
      </p:sp>
      <p:sp>
        <p:nvSpPr>
          <p:cNvPr id="19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1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2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3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3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4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4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5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5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6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6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Resumen: con 8 zonas y una red de 4,000 votantes, David Collado puede superar en 10 % al PRM y aliados de 2024</a:t>
            </a:r>
            <a:endParaRPr lang="en-US" sz="2800" dirty="0"/>
          </a:p>
        </p:txBody>
      </p:sp>
      <p:sp>
        <p:nvSpPr>
          <p:cNvPr id="3" name="Cifra 1"/>
          <p:cNvSpPr/>
          <p:nvPr/>
        </p:nvSpPr>
        <p:spPr>
          <a:xfrm>
            <a:off x="548640" y="1600200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47,529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electores en 13 ciudades</a:t>
            </a:r>
            <a:endParaRPr lang="en-US" sz="3400" dirty="0"/>
          </a:p>
        </p:txBody>
      </p:sp>
      <p:sp>
        <p:nvSpPr>
          <p:cNvPr id="5" name="Cifra 2"/>
          <p:cNvSpPr/>
          <p:nvPr/>
        </p:nvSpPr>
        <p:spPr>
          <a:xfrm>
            <a:off x="548640" y="3044952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3136392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18.8 %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votó en 2024</a:t>
            </a:r>
            <a:endParaRPr lang="en-US" sz="3400" dirty="0"/>
          </a:p>
        </p:txBody>
      </p:sp>
      <p:sp>
        <p:nvSpPr>
          <p:cNvPr id="7" name="Cifra 3"/>
          <p:cNvSpPr/>
          <p:nvPr/>
        </p:nvSpPr>
        <p:spPr>
          <a:xfrm>
            <a:off x="548640" y="4489704"/>
            <a:ext cx="3291840" cy="1280160"/>
          </a:xfrm>
          <a:prstGeom prst="roundRect">
            <a:avLst>
              <a:gd name="adj" fmla="val 571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4581144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227,647</a:t>
            </a:r>
            <a:endParaRPr lang="en-US" sz="3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dominicanos en PA: el mayor aumento de EE. UU.</a:t>
            </a:r>
            <a:endParaRPr lang="en-US" sz="3400" dirty="0"/>
          </a:p>
        </p:txBody>
      </p:sp>
      <p:sp>
        <p:nvSpPr>
          <p:cNvPr id="9" name="El problema"/>
          <p:cNvSpPr/>
          <p:nvPr/>
        </p:nvSpPr>
        <p:spPr>
          <a:xfrm>
            <a:off x="4160520" y="1600200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89120" y="1600200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problema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172200" y="1600200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de cada 10 inscritos no votaron y la nueva cédula puede dejar fuera a miles de electores más.</a:t>
            </a:r>
            <a:endParaRPr lang="en-US" sz="1500" dirty="0"/>
          </a:p>
        </p:txBody>
      </p:sp>
      <p:sp>
        <p:nvSpPr>
          <p:cNvPr id="12" name="El plan"/>
          <p:cNvSpPr/>
          <p:nvPr/>
        </p:nvSpPr>
        <p:spPr>
          <a:xfrm>
            <a:off x="4160520" y="2670048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89120" y="2670048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El plan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172200" y="2670048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8 zonas, 8 coordinadores y 400 líderes con 10 personas cada uno. La cédula y el traslado de los recién llegados son la puerta de entrada.</a:t>
            </a:r>
            <a:endParaRPr lang="en-US" sz="1500" dirty="0"/>
          </a:p>
        </p:txBody>
      </p:sp>
      <p:sp>
        <p:nvSpPr>
          <p:cNvPr id="15" name="La meta"/>
          <p:cNvSpPr/>
          <p:nvPr/>
        </p:nvSpPr>
        <p:spPr>
          <a:xfrm>
            <a:off x="4160520" y="3739896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389120" y="3739896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La meta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3739896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6,140 votos para David Collado: un 10 % más que el PRM y aliados en 2024 (5,581, dato oficial JCE).</a:t>
            </a:r>
            <a:endParaRPr lang="en-US" sz="1500" dirty="0"/>
          </a:p>
        </p:txBody>
      </p:sp>
      <p:sp>
        <p:nvSpPr>
          <p:cNvPr id="18" name="Próximo paso"/>
          <p:cNvSpPr/>
          <p:nvPr/>
        </p:nvSpPr>
        <p:spPr>
          <a:xfrm>
            <a:off x="4160520" y="4809744"/>
            <a:ext cx="7479792" cy="932688"/>
          </a:xfrm>
          <a:prstGeom prst="roundRect">
            <a:avLst>
              <a:gd name="adj" fmla="val 784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9120" y="4809744"/>
            <a:ext cx="17373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Próximo paso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6172200" y="4809744"/>
            <a:ext cx="53035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Nombrar a los 8 coordinadores de zona e iniciar en noviembre.</a:t>
            </a:r>
            <a:endParaRPr lang="en-US" sz="15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Seccional PRM Pennsylvania (padrón electoral); JCE 2024; INDEX, Registro Sociodemográfico de los Dominicanos en el Exterior (5.ª edición, 2026). Meta: proyección propia.</a:t>
            </a:r>
            <a:endParaRPr lang="en-US" sz="10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26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7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8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9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30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Mapa territorial: el 66 % del padrón vive fuera de Philadelphia, repartido en 8 zonas</a:t>
            </a:r>
            <a:endParaRPr lang="en-US" sz="2800" dirty="0"/>
          </a:p>
        </p:txBody>
      </p:sp>
      <p:pic>
        <p:nvPicPr>
          <p:cNvPr id="3" name="Mapa base" descr="/tmp/claude-0/-home-user-pdf-toolkit/a67bee5e-d5f3-51b1-8612-3e4feb352169/scratchpad/img/mapa_p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949440" cy="4297680"/>
          </a:xfrm>
          <a:prstGeom prst="rect">
            <a:avLst/>
          </a:prstGeom>
        </p:spPr>
      </p:pic>
      <p:sp>
        <p:nvSpPr>
          <p:cNvPr id="4" name="Zona 1 Phila. Noreste"/>
          <p:cNvSpPr/>
          <p:nvPr/>
        </p:nvSpPr>
        <p:spPr>
          <a:xfrm>
            <a:off x="5340096" y="4517136"/>
            <a:ext cx="658368" cy="65836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340096" y="451713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Etiqueta Phila. Noreste"/>
          <p:cNvSpPr/>
          <p:nvPr/>
        </p:nvSpPr>
        <p:spPr>
          <a:xfrm>
            <a:off x="6044184" y="4722876"/>
            <a:ext cx="127101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044184" y="4722876"/>
            <a:ext cx="12710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Noreste</a:t>
            </a:r>
            <a:endParaRPr lang="en-US" sz="1100" dirty="0"/>
          </a:p>
        </p:txBody>
      </p:sp>
      <p:sp>
        <p:nvSpPr>
          <p:cNvPr id="8" name="Zona 2 Phila. Kensington"/>
          <p:cNvSpPr/>
          <p:nvPr/>
        </p:nvSpPr>
        <p:spPr>
          <a:xfrm>
            <a:off x="4868943" y="5024391"/>
            <a:ext cx="594834" cy="594834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868943" y="5024391"/>
            <a:ext cx="594834" cy="594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Etiqueta Phila. Kensington"/>
          <p:cNvSpPr/>
          <p:nvPr/>
        </p:nvSpPr>
        <p:spPr>
          <a:xfrm>
            <a:off x="5509497" y="5198364"/>
            <a:ext cx="150418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509497" y="5198364"/>
            <a:ext cx="15041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Phila. Kensington</a:t>
            </a:r>
            <a:endParaRPr lang="en-US" sz="1100" dirty="0"/>
          </a:p>
        </p:txBody>
      </p:sp>
      <p:sp>
        <p:nvSpPr>
          <p:cNvPr id="12" name="Zona 3 Reading"/>
          <p:cNvSpPr/>
          <p:nvPr/>
        </p:nvSpPr>
        <p:spPr>
          <a:xfrm>
            <a:off x="3825620" y="4008500"/>
            <a:ext cx="633225" cy="633225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25620" y="4008500"/>
            <a:ext cx="633225" cy="6332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Etiqueta Reading"/>
          <p:cNvSpPr/>
          <p:nvPr/>
        </p:nvSpPr>
        <p:spPr>
          <a:xfrm>
            <a:off x="4504564" y="4201668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504564" y="4201668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Reading</a:t>
            </a:r>
            <a:endParaRPr lang="en-US" sz="1100" dirty="0"/>
          </a:p>
        </p:txBody>
      </p:sp>
      <p:sp>
        <p:nvSpPr>
          <p:cNvPr id="16" name="Zona 4 Allentown"/>
          <p:cNvSpPr/>
          <p:nvPr/>
        </p:nvSpPr>
        <p:spPr>
          <a:xfrm>
            <a:off x="4568177" y="3443465"/>
            <a:ext cx="629438" cy="62943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568177" y="3443465"/>
            <a:ext cx="629438" cy="6294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Etiqueta Allentown"/>
          <p:cNvSpPr/>
          <p:nvPr/>
        </p:nvSpPr>
        <p:spPr>
          <a:xfrm>
            <a:off x="4441698" y="315085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441698" y="315085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Allentown</a:t>
            </a:r>
            <a:endParaRPr lang="en-US" sz="1100" dirty="0"/>
          </a:p>
        </p:txBody>
      </p:sp>
      <p:sp>
        <p:nvSpPr>
          <p:cNvPr id="20" name="Zona 5 Hazleton"/>
          <p:cNvSpPr/>
          <p:nvPr/>
        </p:nvSpPr>
        <p:spPr>
          <a:xfrm>
            <a:off x="3772445" y="2693453"/>
            <a:ext cx="593270" cy="59327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772445" y="2693453"/>
            <a:ext cx="593270" cy="5932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Etiqueta Hazleton"/>
          <p:cNvSpPr/>
          <p:nvPr/>
        </p:nvSpPr>
        <p:spPr>
          <a:xfrm>
            <a:off x="2922053" y="2866644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922053" y="2866644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Hazleton</a:t>
            </a:r>
            <a:endParaRPr lang="en-US" sz="1100" dirty="0"/>
          </a:p>
        </p:txBody>
      </p:sp>
      <p:sp>
        <p:nvSpPr>
          <p:cNvPr id="24" name="Zona 6 Wilkes-Barre"/>
          <p:cNvSpPr/>
          <p:nvPr/>
        </p:nvSpPr>
        <p:spPr>
          <a:xfrm>
            <a:off x="4001464" y="2154376"/>
            <a:ext cx="427839" cy="42783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001464" y="2154376"/>
            <a:ext cx="427839" cy="4278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Etiqueta Wilkes-Barre"/>
          <p:cNvSpPr/>
          <p:nvPr/>
        </p:nvSpPr>
        <p:spPr>
          <a:xfrm>
            <a:off x="2840176" y="2244852"/>
            <a:ext cx="111556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2840176" y="2244852"/>
            <a:ext cx="11155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Wilkes-Barre</a:t>
            </a:r>
            <a:endParaRPr lang="en-US" sz="1100" dirty="0"/>
          </a:p>
        </p:txBody>
      </p:sp>
      <p:sp>
        <p:nvSpPr>
          <p:cNvPr id="28" name="Zona 6 Scranton"/>
          <p:cNvSpPr/>
          <p:nvPr/>
        </p:nvSpPr>
        <p:spPr>
          <a:xfrm>
            <a:off x="4386290" y="1825970"/>
            <a:ext cx="371420" cy="371420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6290" y="1825970"/>
            <a:ext cx="371420" cy="371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Etiqueta Scranton"/>
          <p:cNvSpPr/>
          <p:nvPr/>
        </p:nvSpPr>
        <p:spPr>
          <a:xfrm>
            <a:off x="3535898" y="1888236"/>
            <a:ext cx="804672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535898" y="1888236"/>
            <a:ext cx="80467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Scranton</a:t>
            </a:r>
            <a:endParaRPr lang="en-US" sz="1100" dirty="0"/>
          </a:p>
        </p:txBody>
      </p:sp>
      <p:sp>
        <p:nvSpPr>
          <p:cNvPr id="32" name="Zona 7 Harrisburg"/>
          <p:cNvSpPr/>
          <p:nvPr/>
        </p:nvSpPr>
        <p:spPr>
          <a:xfrm>
            <a:off x="2356222" y="4239886"/>
            <a:ext cx="444772" cy="44477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2356222" y="4239886"/>
            <a:ext cx="444772" cy="444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4" name="Etiqueta Harrisburg"/>
          <p:cNvSpPr/>
          <p:nvPr/>
        </p:nvSpPr>
        <p:spPr>
          <a:xfrm>
            <a:off x="1350382" y="4338828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350382" y="4338828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Harrisburg</a:t>
            </a:r>
            <a:endParaRPr lang="en-US" sz="1100" dirty="0"/>
          </a:p>
        </p:txBody>
      </p:sp>
      <p:sp>
        <p:nvSpPr>
          <p:cNvPr id="36" name="Zona 7 Lebanon"/>
          <p:cNvSpPr/>
          <p:nvPr/>
        </p:nvSpPr>
        <p:spPr>
          <a:xfrm>
            <a:off x="3157249" y="4117369"/>
            <a:ext cx="397199" cy="39719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157249" y="4117369"/>
            <a:ext cx="397199" cy="397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38" name="Etiqueta Lebanon"/>
          <p:cNvSpPr/>
          <p:nvPr/>
        </p:nvSpPr>
        <p:spPr>
          <a:xfrm>
            <a:off x="2992374" y="3824761"/>
            <a:ext cx="726948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992374" y="3824761"/>
            <a:ext cx="72694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Lebanon</a:t>
            </a:r>
            <a:endParaRPr lang="en-US" sz="1100" dirty="0"/>
          </a:p>
        </p:txBody>
      </p:sp>
      <p:sp>
        <p:nvSpPr>
          <p:cNvPr id="40" name="Zona 7 Lancaster"/>
          <p:cNvSpPr/>
          <p:nvPr/>
        </p:nvSpPr>
        <p:spPr>
          <a:xfrm>
            <a:off x="3305019" y="4740627"/>
            <a:ext cx="449129" cy="449129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305019" y="4740627"/>
            <a:ext cx="449129" cy="4491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2" name="Etiqueta Lancaster"/>
          <p:cNvSpPr/>
          <p:nvPr/>
        </p:nvSpPr>
        <p:spPr>
          <a:xfrm>
            <a:off x="3088386" y="5235477"/>
            <a:ext cx="88239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088386" y="5235477"/>
            <a:ext cx="8823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Lancaster</a:t>
            </a:r>
            <a:endParaRPr lang="en-US" sz="1100" dirty="0"/>
          </a:p>
        </p:txBody>
      </p:sp>
      <p:sp>
        <p:nvSpPr>
          <p:cNvPr id="44" name="Zona 7 York"/>
          <p:cNvSpPr/>
          <p:nvPr/>
        </p:nvSpPr>
        <p:spPr>
          <a:xfrm>
            <a:off x="2623201" y="4909201"/>
            <a:ext cx="422878" cy="422878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2623201" y="4909201"/>
            <a:ext cx="422878" cy="422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46" name="Etiqueta York"/>
          <p:cNvSpPr/>
          <p:nvPr/>
        </p:nvSpPr>
        <p:spPr>
          <a:xfrm>
            <a:off x="2083705" y="4997196"/>
            <a:ext cx="493776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2083705" y="4997196"/>
            <a:ext cx="4937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York</a:t>
            </a:r>
            <a:endParaRPr lang="en-US" sz="1100" dirty="0"/>
          </a:p>
        </p:txBody>
      </p:sp>
      <p:sp>
        <p:nvSpPr>
          <p:cNvPr id="48" name="Zona 8 Wilmington"/>
          <p:cNvSpPr/>
          <p:nvPr/>
        </p:nvSpPr>
        <p:spPr>
          <a:xfrm>
            <a:off x="4567872" y="5390832"/>
            <a:ext cx="410592" cy="410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567872" y="5390832"/>
            <a:ext cx="410592" cy="410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50" name="Etiqueta Wilmington"/>
          <p:cNvSpPr/>
          <p:nvPr/>
        </p:nvSpPr>
        <p:spPr>
          <a:xfrm>
            <a:off x="3562032" y="5472684"/>
            <a:ext cx="960120" cy="246888"/>
          </a:xfrm>
          <a:prstGeom prst="roundRect">
            <a:avLst>
              <a:gd name="adj" fmla="val 22222"/>
            </a:avLst>
          </a:prstGeom>
          <a:solidFill>
            <a:schemeClr val="bg1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562032" y="5472684"/>
            <a:ext cx="9601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2"/>
                </a:solidFill>
              </a:rPr>
              <a:t>Wilmington</a:t>
            </a: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8275320" y="1554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Zona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10744200" y="1554480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Líderes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7818120" y="193852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818120" y="19385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56" name="Text 53"/>
          <p:cNvSpPr txBox="1"/>
          <p:nvPr/>
        </p:nvSpPr>
        <p:spPr>
          <a:xfrm>
            <a:off x="8275320" y="18470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Noreste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9,649 electores · votó 18.8 % · PRM 64.9 %</a:t>
            </a:r>
            <a:endParaRPr lang="en-US" sz="1200" dirty="0"/>
          </a:p>
        </p:txBody>
      </p:sp>
      <p:sp>
        <p:nvSpPr>
          <p:cNvPr id="57" name="Text 54"/>
          <p:cNvSpPr txBox="1"/>
          <p:nvPr/>
        </p:nvSpPr>
        <p:spPr>
          <a:xfrm>
            <a:off x="10744200" y="184708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81</a:t>
            </a:r>
            <a:endParaRPr lang="en-US" sz="1800" dirty="0"/>
          </a:p>
        </p:txBody>
      </p:sp>
      <p:sp>
        <p:nvSpPr>
          <p:cNvPr id="58" name="Shape 55"/>
          <p:cNvSpPr/>
          <p:nvPr/>
        </p:nvSpPr>
        <p:spPr>
          <a:xfrm>
            <a:off x="7818120" y="244602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818120" y="24460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60" name="Text 57"/>
          <p:cNvSpPr txBox="1"/>
          <p:nvPr/>
        </p:nvSpPr>
        <p:spPr>
          <a:xfrm>
            <a:off x="8275320" y="235458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Philadelphia Kensington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6,588 electores · votó 16.9 % · PRM 65.8 %</a:t>
            </a:r>
            <a:endParaRPr lang="en-US" sz="1200" dirty="0"/>
          </a:p>
        </p:txBody>
      </p:sp>
      <p:sp>
        <p:nvSpPr>
          <p:cNvPr id="61" name="Text 58"/>
          <p:cNvSpPr txBox="1"/>
          <p:nvPr/>
        </p:nvSpPr>
        <p:spPr>
          <a:xfrm>
            <a:off x="10744200" y="235458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62" name="Shape 59"/>
          <p:cNvSpPr/>
          <p:nvPr/>
        </p:nvSpPr>
        <p:spPr>
          <a:xfrm>
            <a:off x="7818120" y="295351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7818120" y="2953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64" name="Text 61"/>
          <p:cNvSpPr txBox="1"/>
          <p:nvPr/>
        </p:nvSpPr>
        <p:spPr>
          <a:xfrm>
            <a:off x="8275320" y="286207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Berks (Reading)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8,368 electores · votó 18.8 % · PRM 59.5 %</a:t>
            </a:r>
            <a:endParaRPr lang="en-US" sz="1200" dirty="0"/>
          </a:p>
        </p:txBody>
      </p:sp>
      <p:sp>
        <p:nvSpPr>
          <p:cNvPr id="65" name="Text 62"/>
          <p:cNvSpPr txBox="1"/>
          <p:nvPr/>
        </p:nvSpPr>
        <p:spPr>
          <a:xfrm>
            <a:off x="10744200" y="286207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70</a:t>
            </a:r>
            <a:endParaRPr lang="en-US" sz="1800" dirty="0"/>
          </a:p>
        </p:txBody>
      </p:sp>
      <p:sp>
        <p:nvSpPr>
          <p:cNvPr id="66" name="Shape 63"/>
          <p:cNvSpPr/>
          <p:nvPr/>
        </p:nvSpPr>
        <p:spPr>
          <a:xfrm>
            <a:off x="7818120" y="3461004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7818120" y="34610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68" name="Text 65"/>
          <p:cNvSpPr txBox="1"/>
          <p:nvPr/>
        </p:nvSpPr>
        <p:spPr>
          <a:xfrm>
            <a:off x="8275320" y="3369564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Lehigh Valley (Allentown)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8,183 electores · votó 20.7 % · PRM 63.0 %</a:t>
            </a:r>
            <a:endParaRPr lang="en-US" sz="1200" dirty="0"/>
          </a:p>
        </p:txBody>
      </p:sp>
      <p:sp>
        <p:nvSpPr>
          <p:cNvPr id="69" name="Text 66"/>
          <p:cNvSpPr txBox="1"/>
          <p:nvPr/>
        </p:nvSpPr>
        <p:spPr>
          <a:xfrm>
            <a:off x="10744200" y="3369564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69</a:t>
            </a:r>
            <a:endParaRPr lang="en-US" sz="1800" dirty="0"/>
          </a:p>
        </p:txBody>
      </p:sp>
      <p:sp>
        <p:nvSpPr>
          <p:cNvPr id="70" name="Shape 67"/>
          <p:cNvSpPr/>
          <p:nvPr/>
        </p:nvSpPr>
        <p:spPr>
          <a:xfrm>
            <a:off x="7818120" y="3968496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7818120" y="39684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5</a:t>
            </a:r>
            <a:endParaRPr lang="en-US" sz="1200" dirty="0"/>
          </a:p>
        </p:txBody>
      </p:sp>
      <p:sp>
        <p:nvSpPr>
          <p:cNvPr id="72" name="Text 69"/>
          <p:cNvSpPr txBox="1"/>
          <p:nvPr/>
        </p:nvSpPr>
        <p:spPr>
          <a:xfrm>
            <a:off x="8275320" y="3877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Hazleton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6,520 electores · votó 17.8 % · PRM 65.6 %</a:t>
            </a:r>
            <a:endParaRPr lang="en-US" sz="1200" dirty="0"/>
          </a:p>
        </p:txBody>
      </p:sp>
      <p:sp>
        <p:nvSpPr>
          <p:cNvPr id="73" name="Text 70"/>
          <p:cNvSpPr txBox="1"/>
          <p:nvPr/>
        </p:nvSpPr>
        <p:spPr>
          <a:xfrm>
            <a:off x="10744200" y="3877056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55</a:t>
            </a:r>
            <a:endParaRPr lang="en-US" sz="1800" dirty="0"/>
          </a:p>
        </p:txBody>
      </p:sp>
      <p:sp>
        <p:nvSpPr>
          <p:cNvPr id="74" name="Shape 71"/>
          <p:cNvSpPr/>
          <p:nvPr/>
        </p:nvSpPr>
        <p:spPr>
          <a:xfrm>
            <a:off x="7818120" y="4475988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818120" y="44759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6</a:t>
            </a:r>
            <a:endParaRPr lang="en-US" sz="1200" dirty="0"/>
          </a:p>
        </p:txBody>
      </p:sp>
      <p:sp>
        <p:nvSpPr>
          <p:cNvPr id="76" name="Text 73"/>
          <p:cNvSpPr txBox="1"/>
          <p:nvPr/>
        </p:nvSpPr>
        <p:spPr>
          <a:xfrm>
            <a:off x="8275320" y="438454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Wilkes-Barre y Scranton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1,767 electores · votó 15.3 % · PRM 63.5 %</a:t>
            </a:r>
            <a:endParaRPr lang="en-US" sz="1200" dirty="0"/>
          </a:p>
        </p:txBody>
      </p:sp>
      <p:sp>
        <p:nvSpPr>
          <p:cNvPr id="77" name="Text 74"/>
          <p:cNvSpPr txBox="1"/>
          <p:nvPr/>
        </p:nvSpPr>
        <p:spPr>
          <a:xfrm>
            <a:off x="10744200" y="4384548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15</a:t>
            </a:r>
            <a:endParaRPr lang="en-US" sz="1800" dirty="0"/>
          </a:p>
        </p:txBody>
      </p:sp>
      <p:sp>
        <p:nvSpPr>
          <p:cNvPr id="78" name="Shape 75"/>
          <p:cNvSpPr/>
          <p:nvPr/>
        </p:nvSpPr>
        <p:spPr>
          <a:xfrm>
            <a:off x="7818120" y="4983480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7818120" y="4983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7</a:t>
            </a:r>
            <a:endParaRPr lang="en-US" sz="1200" dirty="0"/>
          </a:p>
        </p:txBody>
      </p:sp>
      <p:sp>
        <p:nvSpPr>
          <p:cNvPr id="80" name="Text 77"/>
          <p:cNvSpPr txBox="1"/>
          <p:nvPr/>
        </p:nvSpPr>
        <p:spPr>
          <a:xfrm>
            <a:off x="8275320" y="489204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Harrisburg, Lancaster, York y Lebanon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5,450 electores · votó 20.9 % · PRM 61.6 %</a:t>
            </a:r>
            <a:endParaRPr lang="en-US" sz="1200" dirty="0"/>
          </a:p>
        </p:txBody>
      </p:sp>
      <p:sp>
        <p:nvSpPr>
          <p:cNvPr id="81" name="Text 78"/>
          <p:cNvSpPr txBox="1"/>
          <p:nvPr/>
        </p:nvSpPr>
        <p:spPr>
          <a:xfrm>
            <a:off x="10744200" y="4892040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46</a:t>
            </a:r>
            <a:endParaRPr lang="en-US" sz="1800" dirty="0"/>
          </a:p>
        </p:txBody>
      </p:sp>
      <p:sp>
        <p:nvSpPr>
          <p:cNvPr id="82" name="Shape 79"/>
          <p:cNvSpPr/>
          <p:nvPr/>
        </p:nvSpPr>
        <p:spPr>
          <a:xfrm>
            <a:off x="7818120" y="5490972"/>
            <a:ext cx="310896" cy="31089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7818120" y="54909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8</a:t>
            </a:r>
            <a:endParaRPr lang="en-US" sz="1200" dirty="0"/>
          </a:p>
        </p:txBody>
      </p:sp>
      <p:sp>
        <p:nvSpPr>
          <p:cNvPr id="84" name="Text 81"/>
          <p:cNvSpPr txBox="1"/>
          <p:nvPr/>
        </p:nvSpPr>
        <p:spPr>
          <a:xfrm>
            <a:off x="8275320" y="5399532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Delaware (Wilmington)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1,004 electores · votó 17.0 % · PRM 65.9 %</a:t>
            </a:r>
            <a:endParaRPr lang="en-US" sz="1200" dirty="0"/>
          </a:p>
        </p:txBody>
      </p:sp>
      <p:sp>
        <p:nvSpPr>
          <p:cNvPr id="85" name="Text 82"/>
          <p:cNvSpPr txBox="1"/>
          <p:nvPr/>
        </p:nvSpPr>
        <p:spPr>
          <a:xfrm>
            <a:off x="10744200" y="5399532"/>
            <a:ext cx="89611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9</a:t>
            </a:r>
            <a:endParaRPr lang="en-US" sz="1800" dirty="0"/>
          </a:p>
        </p:txBody>
      </p:sp>
      <p:sp>
        <p:nvSpPr>
          <p:cNvPr id="86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Electores: Seccional PRM Pennsylvania (2024). Cada círculo es una ciudad; el número indica su zona y el tamaño, sus electores. Versión interactiva en el enlace web.</a:t>
            </a:r>
            <a:endParaRPr lang="en-US" sz="1000" dirty="0"/>
          </a:p>
        </p:txBody>
      </p:sp>
      <p:sp>
        <p:nvSpPr>
          <p:cNvPr id="88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90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91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92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93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94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95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Pennsylvania tiene 227,647 dominicanos y solo 47,529 están inscritos para votar aquí: el potencial es enorme</a:t>
            </a:r>
            <a:endParaRPr lang="en-US" sz="2800" dirty="0"/>
          </a:p>
        </p:txBody>
      </p:sp>
      <p:graphicFrame>
        <p:nvGraphicFramePr>
          <p:cNvPr id="3" name="Crecimiento poblacion" descr=""/>
          <p:cNvGraphicFramePr/>
          <p:nvPr/>
        </p:nvGraphicFramePr>
        <p:xfrm>
          <a:off x="548640" y="1600200"/>
          <a:ext cx="530352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Oportunidad 1"/>
          <p:cNvSpPr/>
          <p:nvPr/>
        </p:nvSpPr>
        <p:spPr>
          <a:xfrm>
            <a:off x="6172200" y="160020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0" y="167335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Solo 1 de cada 5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dominicanos del estado está inscrito para votar en la seccional (21 %). Y la comunidad creció un 26 % desde 2022</a:t>
            </a:r>
            <a:endParaRPr lang="en-US" sz="2200" dirty="0"/>
          </a:p>
        </p:txBody>
      </p:sp>
      <p:sp>
        <p:nvSpPr>
          <p:cNvPr id="6" name="Oportunidad 2"/>
          <p:cNvSpPr/>
          <p:nvPr/>
        </p:nvSpPr>
        <p:spPr>
          <a:xfrm>
            <a:off x="6172200" y="306324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0" y="313639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Inscritos en NY</a:t>
            </a:r>
            <a:endParaRPr lang="en-US" sz="22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Quien llegó de Nueva York o Nueva Jersey sigue empadronado allá: si no traslada su registro, su voto no cuenta en Pennsylvania</a:t>
            </a:r>
            <a:endParaRPr lang="en-US" sz="2200" dirty="0"/>
          </a:p>
        </p:txBody>
      </p:sp>
      <p:sp>
        <p:nvSpPr>
          <p:cNvPr id="8" name="Dos tramites"/>
          <p:cNvSpPr/>
          <p:nvPr/>
        </p:nvSpPr>
        <p:spPr>
          <a:xfrm>
            <a:off x="6172200" y="4526280"/>
            <a:ext cx="5468112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400800" y="4599432"/>
            <a:ext cx="502920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Dos trámites, una sola cita</a:t>
            </a:r>
            <a:endParaRPr lang="en-US" sz="18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Cédula nueva + domicilio electoral en Pennsylvania. Aprovechar la renovación para hacer ambos (confirmar con la JCE).</a:t>
            </a:r>
            <a:endParaRPr lang="en-US" sz="1800" dirty="0"/>
          </a:p>
        </p:txBody>
      </p:sp>
      <p:sp>
        <p:nvSpPr>
          <p:cNvPr id="10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Fuentes: INDEX, Registro Sociodemográfico de los Dominicanos en el Exterior (181,156 a dic. 2022; 227,647 en la 5.ª edición, 2026); Consulado RD en Filadelfia.</a:t>
            </a:r>
            <a:endParaRPr lang="en-US" sz="1000" dirty="0"/>
          </a:p>
        </p:txBody>
      </p:sp>
      <p:sp>
        <p:nvSpPr>
          <p:cNvPr id="12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4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DIAGNÓSTICO</a:t>
            </a:r>
            <a:endParaRPr lang="en-US" sz="1000" dirty="0"/>
          </a:p>
        </p:txBody>
      </p:sp>
      <p:sp>
        <p:nvSpPr>
          <p:cNvPr id="15" name="Sección actual"/>
          <p:cNvSpPr/>
          <p:nvPr/>
        </p:nvSpPr>
        <p:spPr>
          <a:xfrm>
            <a:off x="1214140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6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17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8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19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 2024 el PRM y aliados ganaron en las 11 ciudades; Reading, con el 18 % del padrón, quedó entre las de menor apoyo</a:t>
            </a:r>
            <a:endParaRPr lang="en-US" sz="2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76809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51560"/>
                <a:gridCol w="960120"/>
                <a:gridCol w="1234440"/>
                <a:gridCol w="1234440"/>
                <a:gridCol w="1097280"/>
              </a:tblGrid>
              <a:tr h="3246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Ciudad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Electores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Votaron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Participación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PRM y aliados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% PRM y al.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Wilkes-Barre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1,319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13.5 %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Wilmington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1,004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65.9 %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Hazleton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6,520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1,159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749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65.6 %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Philadelphia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16,237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2,923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1,886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65.2 %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Harrisburg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1,670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13.6 %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144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Allentown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8,183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1,697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1,059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63.0 %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Lancaster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1,767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29.4 %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318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62.0 %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Lebanon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789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22.1 %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60.2 %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York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1,224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220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18.0 %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59.7 %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Reading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8,368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1,577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18.8 %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918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59.5 %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Scranton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448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93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20.8 %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2"/>
                          </a:solidFill>
                        </a:rPr>
                        <a:t>53.7 %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Seccional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47,529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8,939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18.8 %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5,581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chemeClr val="tx2"/>
                          </a:solidFill>
                        </a:rPr>
                        <a:t>63.4 %</a:t>
                      </a:r>
                      <a:endParaRPr lang="en-US" sz="1200" dirty="0"/>
                    </a:p>
                  </a:txBody>
                  <a:tcPr marL="73152" marR="73152" marT="0" marB="0" anchor="ctr">
                    <a:lnL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F2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84 de 84"/>
          <p:cNvSpPr/>
          <p:nvPr/>
        </p:nvSpPr>
        <p:spPr>
          <a:xfrm>
            <a:off x="8503920" y="1600200"/>
            <a:ext cx="3136392" cy="1143000"/>
          </a:xfrm>
          <a:prstGeom prst="roundRect">
            <a:avLst>
              <a:gd name="adj" fmla="val 64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64592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84 de 84 colegios</a:t>
            </a:r>
            <a:endParaRPr lang="en-US" sz="20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ganados por el PRM y aliados; 63.4 %, 6 puntos más que en el país</a:t>
            </a:r>
            <a:endParaRPr lang="en-US" sz="2000" dirty="0"/>
          </a:p>
        </p:txBody>
      </p:sp>
      <p:sp>
        <p:nvSpPr>
          <p:cNvPr id="6" name="Prioridades"/>
          <p:cNvSpPr/>
          <p:nvPr/>
        </p:nvSpPr>
        <p:spPr>
          <a:xfrm>
            <a:off x="8503920" y="2880360"/>
            <a:ext cx="3136392" cy="2971800"/>
          </a:xfrm>
          <a:prstGeom prst="roundRect">
            <a:avLst>
              <a:gd name="adj" fmla="val 24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0" y="2971800"/>
            <a:ext cx="283464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Prioridades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Convencer en Reading: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el menor apoyo entre las ciudades grandes (59.5 %), con el 18 % del padrón.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Movilizar en Wilkes-Barre, Harrisburg y Kensington (Philadelphia): 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la participación más baja (13.5 %, 13.6 % y 16.9 %).</a:t>
            </a:r>
            <a:endParaRPr lang="en-US" sz="16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Modelo a replicar: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Lancaster votó al 29 %, el doble que la seccional.</a:t>
            </a:r>
            <a:endParaRPr lang="en-US" sz="1600" dirty="0"/>
          </a:p>
        </p:txBody>
      </p:sp>
      <p:sp>
        <p:nvSpPr>
          <p:cNvPr id="8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Fuente: JCE, «Resultado Presidencial por colegios» (2024), agrupado por ciudad según la lista de la Seccional PRM Pennsylvania. Ordenado por % del PRM y aliados. En rojo: participación &lt; 17 % o apoyo &lt; 60 %.</a:t>
            </a:r>
            <a:endParaRPr lang="en-US" sz="1000" dirty="0"/>
          </a:p>
        </p:txBody>
      </p:sp>
      <p:sp>
        <p:nvSpPr>
          <p:cNvPr id="10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2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13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RESULTADOS 2024</a:t>
            </a:r>
            <a:endParaRPr lang="en-US" sz="1000" dirty="0"/>
          </a:p>
        </p:txBody>
      </p:sp>
      <p:sp>
        <p:nvSpPr>
          <p:cNvPr id="14" name="Sección actual"/>
          <p:cNvSpPr/>
          <p:nvPr/>
        </p:nvSpPr>
        <p:spPr>
          <a:xfrm>
            <a:off x="3432475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15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6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17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Meta: 6,140 votos para David Collado, un 10 % más que el PRM y aliados en 2024</a:t>
            </a:r>
            <a:endParaRPr lang="en-US" sz="2800" dirty="0"/>
          </a:p>
        </p:txBody>
      </p:sp>
      <p:graphicFrame>
        <p:nvGraphicFramePr>
          <p:cNvPr id="3" name="Comparacion PRM" descr=""/>
          <p:cNvGraphicFramePr/>
          <p:nvPr/>
        </p:nvGraphicFramePr>
        <p:xfrm>
          <a:off x="548640" y="1600200"/>
          <a:ext cx="66751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440680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Red de 4,000 votantes comprometidos: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 vota el 85 %, son unos 3,400 votos, el 55 % de la meta.</a:t>
            </a:r>
            <a:endParaRPr lang="en-US" sz="1400" dirty="0"/>
          </a:p>
        </p:txBody>
      </p:sp>
      <p:sp>
        <p:nvSpPr>
          <p:cNvPr id="5" name="Tres niveles"/>
          <p:cNvSpPr/>
          <p:nvPr/>
        </p:nvSpPr>
        <p:spPr>
          <a:xfrm>
            <a:off x="7589520" y="1600200"/>
            <a:ext cx="4050792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818120" y="169164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Tres niveles de meta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7818120" y="212140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Piso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igualar 2024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10058400" y="212140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5,581 votos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818120" y="2551176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Meta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+10 %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0058400" y="255117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6,140 votos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818120" y="2980944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Techo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+20 %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0058400" y="2980944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6,700 votos</a:t>
            </a:r>
            <a:endParaRPr lang="en-US" sz="1500" dirty="0"/>
          </a:p>
        </p:txBody>
      </p:sp>
      <p:sp>
        <p:nvSpPr>
          <p:cNvPr id="13" name="Desgaste"/>
          <p:cNvSpPr/>
          <p:nvPr/>
        </p:nvSpPr>
        <p:spPr>
          <a:xfrm>
            <a:off x="7589520" y="3657600"/>
            <a:ext cx="4050792" cy="2194560"/>
          </a:xfrm>
          <a:prstGeom prst="roundRect">
            <a:avLst>
              <a:gd name="adj" fmla="val 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18120" y="374904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 hay desgaste: participación necesaria para la meta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7818120" y="43708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63 % (como 2024)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43708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20.7 %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818120" y="48280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Collado al 58 % (desgaste)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10515600" y="48280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22.6 %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7818120" y="528523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Collado al 53 % (desgaste fuerte)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0515600" y="5285232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24.7 %</a:t>
            </a:r>
            <a:endParaRPr lang="en-US" sz="1600" dirty="0"/>
          </a:p>
        </p:txBody>
      </p:sp>
      <p:sp>
        <p:nvSpPr>
          <p:cNvPr id="21" name="Fuente"/>
          <p:cNvSpPr txBox="1"/>
          <p:nvPr/>
        </p:nvSpPr>
        <p:spPr>
          <a:xfrm>
            <a:off x="548640" y="59893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Fuente 2024: JCE, resultado presidencial por colegios, OCLEE Philadelphia (PRM y aliados 5,581 votos, 63.4 % de los válidos). Escenarios 2028: proyección propia.</a:t>
            </a:r>
            <a:endParaRPr lang="en-US" sz="1000" dirty="0"/>
          </a:p>
        </p:txBody>
      </p:sp>
      <p:sp>
        <p:nvSpPr>
          <p:cNvPr id="23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5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6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7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META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5650809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30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5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Una estructura clara: dirección ejecutiva, 5 áreas de apoyo y 8 coordinadores de zona</a:t>
            </a:r>
            <a:endParaRPr lang="en-US" sz="2800" dirty="0"/>
          </a:p>
        </p:txBody>
      </p:sp>
      <p:sp>
        <p:nvSpPr>
          <p:cNvPr id="3" name="Direccion ejecutiva"/>
          <p:cNvSpPr/>
          <p:nvPr/>
        </p:nvSpPr>
        <p:spPr>
          <a:xfrm>
            <a:off x="4498848" y="1508760"/>
            <a:ext cx="32004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498848" y="150876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Dirección ejecutiva</a:t>
            </a:r>
            <a:endParaRPr lang="en-US" sz="1800" dirty="0"/>
          </a:p>
        </p:txBody>
      </p:sp>
      <p:sp>
        <p:nvSpPr>
          <p:cNvPr id="5" name="Seccional PRM"/>
          <p:cNvSpPr/>
          <p:nvPr/>
        </p:nvSpPr>
        <p:spPr>
          <a:xfrm>
            <a:off x="8412480" y="1554480"/>
            <a:ext cx="3227832" cy="640080"/>
          </a:xfrm>
          <a:prstGeom prst="roundRect">
            <a:avLst>
              <a:gd name="adj" fmla="val 11429"/>
            </a:avLst>
          </a:prstGeom>
          <a:solidFill>
            <a:schemeClr val="bg1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8503920" y="1554480"/>
            <a:ext cx="3044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Coordinación con la Seccional PRM Pennsylvania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699248" y="1874520"/>
            <a:ext cx="71323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099048" y="2240280"/>
            <a:ext cx="0" cy="27432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514600"/>
            <a:ext cx="9034272" cy="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645920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1" name="Area Asuntos Electorales"/>
          <p:cNvSpPr/>
          <p:nvPr/>
        </p:nvSpPr>
        <p:spPr>
          <a:xfrm>
            <a:off x="548640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Asuntos Electorales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904488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4" name="Area Tecnología y Datos"/>
          <p:cNvSpPr/>
          <p:nvPr/>
        </p:nvSpPr>
        <p:spPr>
          <a:xfrm>
            <a:off x="2807208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807208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Tecnología y Datos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163056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17" name="Area Comunicaciones"/>
          <p:cNvSpPr/>
          <p:nvPr/>
        </p:nvSpPr>
        <p:spPr>
          <a:xfrm>
            <a:off x="5065776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65776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Comunicaciones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421624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0" name="Area Logística y Movilización"/>
          <p:cNvSpPr/>
          <p:nvPr/>
        </p:nvSpPr>
        <p:spPr>
          <a:xfrm>
            <a:off x="7324344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324344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Logística y Movilización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0680192" y="2514600"/>
            <a:ext cx="0" cy="18288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solid"/>
          </a:ln>
        </p:spPr>
      </p:sp>
      <p:sp>
        <p:nvSpPr>
          <p:cNvPr id="23" name="Area Finanzas y Legal"/>
          <p:cNvSpPr/>
          <p:nvPr/>
        </p:nvSpPr>
        <p:spPr>
          <a:xfrm>
            <a:off x="9582912" y="2697480"/>
            <a:ext cx="21945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582912" y="2697480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Finanzas y Legal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3"/>
                </a:solidFill>
              </a:rPr>
              <a:t>Áreas de apoyo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8 coordinadores de zona · líderes que necesita cada zona</a:t>
            </a:r>
            <a:endParaRPr lang="en-US" sz="1300" dirty="0"/>
          </a:p>
        </p:txBody>
      </p:sp>
      <p:sp>
        <p:nvSpPr>
          <p:cNvPr id="27" name="Zona Phila. Noreste"/>
          <p:cNvSpPr/>
          <p:nvPr/>
        </p:nvSpPr>
        <p:spPr>
          <a:xfrm>
            <a:off x="54864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0350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81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Noreste</a:t>
            </a:r>
            <a:endParaRPr lang="en-US" sz="2200" dirty="0"/>
          </a:p>
        </p:txBody>
      </p:sp>
      <p:sp>
        <p:nvSpPr>
          <p:cNvPr id="29" name="Zona Phila. Kensington"/>
          <p:cNvSpPr/>
          <p:nvPr/>
        </p:nvSpPr>
        <p:spPr>
          <a:xfrm>
            <a:off x="194767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00253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Phila. Kensington</a:t>
            </a:r>
            <a:endParaRPr lang="en-US" sz="2200" dirty="0"/>
          </a:p>
        </p:txBody>
      </p:sp>
      <p:sp>
        <p:nvSpPr>
          <p:cNvPr id="31" name="Zona Reading"/>
          <p:cNvSpPr/>
          <p:nvPr/>
        </p:nvSpPr>
        <p:spPr>
          <a:xfrm>
            <a:off x="334670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40156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70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Reading</a:t>
            </a:r>
            <a:endParaRPr lang="en-US" sz="2200" dirty="0"/>
          </a:p>
        </p:txBody>
      </p:sp>
      <p:sp>
        <p:nvSpPr>
          <p:cNvPr id="33" name="Zona Allentown"/>
          <p:cNvSpPr/>
          <p:nvPr/>
        </p:nvSpPr>
        <p:spPr>
          <a:xfrm>
            <a:off x="4745736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00600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69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Allentown</a:t>
            </a:r>
            <a:endParaRPr lang="en-US" sz="2200" dirty="0"/>
          </a:p>
        </p:txBody>
      </p:sp>
      <p:sp>
        <p:nvSpPr>
          <p:cNvPr id="35" name="Zona Hazleton"/>
          <p:cNvSpPr/>
          <p:nvPr/>
        </p:nvSpPr>
        <p:spPr>
          <a:xfrm>
            <a:off x="6144768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199632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55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Hazleton</a:t>
            </a:r>
            <a:endParaRPr lang="en-US" sz="2200" dirty="0"/>
          </a:p>
        </p:txBody>
      </p:sp>
      <p:sp>
        <p:nvSpPr>
          <p:cNvPr id="37" name="Zona W-Barre / Scranton"/>
          <p:cNvSpPr/>
          <p:nvPr/>
        </p:nvSpPr>
        <p:spPr>
          <a:xfrm>
            <a:off x="7543800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598664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15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W-Barre / Scranton</a:t>
            </a:r>
            <a:endParaRPr lang="en-US" sz="2200" dirty="0"/>
          </a:p>
        </p:txBody>
      </p:sp>
      <p:sp>
        <p:nvSpPr>
          <p:cNvPr id="39" name="Zona Harrisburg, Lancaster, York y Lebanon"/>
          <p:cNvSpPr/>
          <p:nvPr/>
        </p:nvSpPr>
        <p:spPr>
          <a:xfrm>
            <a:off x="8942832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97696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46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Harrisburg, Lancaster, York y Lebanon</a:t>
            </a:r>
            <a:endParaRPr lang="en-US" sz="2200" dirty="0"/>
          </a:p>
        </p:txBody>
      </p:sp>
      <p:sp>
        <p:nvSpPr>
          <p:cNvPr id="41" name="Zona Delaware"/>
          <p:cNvSpPr/>
          <p:nvPr/>
        </p:nvSpPr>
        <p:spPr>
          <a:xfrm>
            <a:off x="10341864" y="3931920"/>
            <a:ext cx="1298448" cy="960120"/>
          </a:xfrm>
          <a:prstGeom prst="roundRect">
            <a:avLst>
              <a:gd name="adj" fmla="val 7619"/>
            </a:avLst>
          </a:prstGeom>
          <a:solidFill>
            <a:schemeClr val="bg1"/>
          </a:solidFill>
          <a:ln w="15875">
            <a:solidFill>
              <a:schemeClr val="tx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10396728" y="3959352"/>
            <a:ext cx="1188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</a:t>
            </a:r>
            <a:endParaRPr lang="en-US" sz="22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Delaware</a:t>
            </a:r>
            <a:endParaRPr lang="en-US" sz="2200" dirty="0"/>
          </a:p>
        </p:txBody>
      </p:sp>
      <p:sp>
        <p:nvSpPr>
          <p:cNvPr id="43" name="Base"/>
          <p:cNvSpPr/>
          <p:nvPr/>
        </p:nvSpPr>
        <p:spPr>
          <a:xfrm>
            <a:off x="548640" y="512064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512064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400 líderes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4,000 votantes comprometidos (≈ 3,400 votos)</a:t>
            </a:r>
            <a:pPr algn="ctr"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   →   </a:t>
            </a:r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84 mesas con delegado</a:t>
            </a:r>
            <a:endParaRPr lang="en-US" sz="1600" dirty="0"/>
          </a:p>
        </p:txBody>
      </p:sp>
      <p:sp>
        <p:nvSpPr>
          <p:cNvPr id="46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48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49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50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51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52" name="Sección actual"/>
          <p:cNvSpPr/>
          <p:nvPr/>
        </p:nvSpPr>
        <p:spPr>
          <a:xfrm>
            <a:off x="7869144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53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Primeros 30 días: estructura instalada y primer corte del tablero en la semana 4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755648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5564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371600" y="1600200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Nombrar a los 8 coordinadores de zona y a los responsables de las 5 áreas de apoyo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825496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825496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670048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2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Formar el equipo de cada zona y pedir a la JCE y a los consulados el dato de cédulas renovadas en PA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895344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739896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3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Verificar quién en la red ya tiene la cédula nueva y quién necesita cita; primeros líderes reclutados; reunión de coordinación con la Seccional PRM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4965192"/>
            <a:ext cx="621792" cy="62179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96519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809744"/>
            <a:ext cx="576072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Semana 4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Primer corte del tablero por zona: al menos 90 líderes reclutados; informe a la dirección de campaña</a:t>
            </a:r>
            <a:endParaRPr lang="en-US" sz="1600" dirty="0"/>
          </a:p>
        </p:txBody>
      </p:sp>
      <p:sp>
        <p:nvSpPr>
          <p:cNvPr id="15" name="Ruta 2028"/>
          <p:cNvSpPr/>
          <p:nvPr/>
        </p:nvSpPr>
        <p:spPr>
          <a:xfrm>
            <a:off x="7498080" y="1600200"/>
            <a:ext cx="4142232" cy="4224528"/>
          </a:xfrm>
          <a:prstGeom prst="roundRect">
            <a:avLst>
              <a:gd name="adj" fmla="val 176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73736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Después: ruta hasta mayo de 2028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224028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Instalar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nov 2026 – feb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Estructura completa; red de líderes con cédula nueva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31272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Habilitar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mar – sep 2027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400 líderes y 4,000 personas; 60 % del padrón renovado; recién llegados trasladados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7726680" y="4014216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Consolidar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oct 2027 – ene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Proceso interno del partido; 90 % renovado antes del cierre del padrón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4901184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Movilizar  </a:t>
            </a:r>
            <a:pPr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feb – may 2028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Delegados en las 84 mesas, transporte y día de la elección</a:t>
            </a:r>
            <a:endParaRPr lang="en-US" sz="1400" dirty="0"/>
          </a:p>
        </p:txBody>
      </p:sp>
      <p:sp>
        <p:nvSpPr>
          <p:cNvPr id="22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24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5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26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27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28" name="Sección actual"/>
          <p:cNvSpPr/>
          <p:nvPr/>
        </p:nvSpPr>
        <p:spPr>
          <a:xfrm>
            <a:off x="7869144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9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ulo"/>
          <p:cNvSpPr txBox="1"/>
          <p:nvPr/>
        </p:nvSpPr>
        <p:spPr>
          <a:xfrm>
            <a:off x="548640" y="502920"/>
            <a:ext cx="11091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ganar Pennsylvania con David Collado: primero habilitar, después convencer y finalmente movilizar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4"/>
                </a:solidFill>
              </a:rPr>
              <a:t>En 2024 el PRM y aliados sacaron el 63 % en la seccional, 6 puntos más que en el país. Collado encabeza las preferencias internas del PRM (48.8 %, oct. 2026).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2276856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29844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cédula como puerta de entrada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Citas, viajes en grupo y traslado de los recién llegados al padrón de Pennsylvania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3191256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9844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Agenda de la diáspora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Consulados, remesas, vivienda e inversión; validarla en 8 encuentros de escucha</a:t>
            </a:r>
            <a:endParaRPr lang="en-US" sz="1600" dirty="0"/>
          </a:p>
        </p:txBody>
      </p:sp>
      <p:sp>
        <p:nvSpPr>
          <p:cNvPr id="10" name="Shape 6"/>
          <p:cNvSpPr/>
          <p:nvPr/>
        </p:nvSpPr>
        <p:spPr>
          <a:xfrm>
            <a:off x="54864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944" y="410565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29844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Priorizar donde rinde más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Convencer en Reading (PRM 59.5 %); movilizar en Kensington, Wilkes-Barre y Harrisburg</a:t>
            </a:r>
            <a:endParaRPr lang="en-US" sz="1600" dirty="0"/>
          </a:p>
        </p:txBody>
      </p:sp>
      <p:sp>
        <p:nvSpPr>
          <p:cNvPr id="13" name="Shape 8"/>
          <p:cNvSpPr/>
          <p:nvPr/>
        </p:nvSpPr>
        <p:spPr>
          <a:xfrm>
            <a:off x="548640" y="48737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" y="5020056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298448" y="48006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Líderes con credibilidad local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Iglesias, asociaciones y comercios dominicanos: de ahí salen los líderes de cada zona</a:t>
            </a:r>
            <a:endParaRPr lang="en-US" sz="1600" dirty="0"/>
          </a:p>
        </p:txBody>
      </p:sp>
      <p:sp>
        <p:nvSpPr>
          <p:cNvPr id="16" name="Shape 10"/>
          <p:cNvSpPr/>
          <p:nvPr/>
        </p:nvSpPr>
        <p:spPr>
          <a:xfrm>
            <a:off x="6217920" y="21305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4224" y="2276856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967728" y="20574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Una sola estructura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Coordinar con la Seccional PRM Pennsylvania; la división interna resta votos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217920" y="30449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224" y="3191256"/>
            <a:ext cx="274320" cy="2743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967728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Medir cada semana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CRM con registros únicos y cédula verificada; corte semanal por zona</a:t>
            </a:r>
            <a:endParaRPr lang="en-US" sz="1600" dirty="0"/>
          </a:p>
        </p:txBody>
      </p:sp>
      <p:sp>
        <p:nvSpPr>
          <p:cNvPr id="22" name="Shape 14"/>
          <p:cNvSpPr/>
          <p:nvPr/>
        </p:nvSpPr>
        <p:spPr>
          <a:xfrm>
            <a:off x="6217920" y="3959352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4224" y="4105656"/>
            <a:ext cx="274320" cy="274320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967728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Cumplir la ley en todo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</a:rPr>
              <a:t>Leyes 20-23 y 33-18, sin recursos públicos, datos con consentimiento expreso</a:t>
            </a:r>
            <a:endParaRPr lang="en-US" sz="1600" dirty="0"/>
          </a:p>
        </p:txBody>
      </p:sp>
      <p:sp>
        <p:nvSpPr>
          <p:cNvPr id="26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01F4A"/>
          </a:solidFill>
          <a:ln w="12700">
            <a:solidFill>
              <a:srgbClr val="001F4A"/>
            </a:solidFill>
            <a:prstDash val="solid"/>
          </a:ln>
        </p:spPr>
      </p:sp>
      <p:sp>
        <p:nvSpPr>
          <p:cNvPr id="27" name="Shape 17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2E4C7A"/>
            </a:solidFill>
            <a:prstDash val="solid"/>
          </a:ln>
        </p:spPr>
      </p:sp>
      <p:sp>
        <p:nvSpPr>
          <p:cNvPr id="28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8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29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9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30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10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31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FFFFFF"/>
                </a:solidFill>
              </a:rPr>
              <a:t>PLAN Y RECOMENDACIÓN</a:t>
            </a:r>
            <a:endParaRPr lang="en-US" sz="1000" dirty="0"/>
          </a:p>
        </p:txBody>
      </p:sp>
      <p:sp>
        <p:nvSpPr>
          <p:cNvPr id="32" name="Sección actual"/>
          <p:cNvSpPr/>
          <p:nvPr/>
        </p:nvSpPr>
        <p:spPr>
          <a:xfrm>
            <a:off x="7869144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33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AFC0DA"/>
                </a:solidFill>
                <a:hlinkClick r:id="rId11" action="ppaction://hlinksldjump" tooltip="Ir a Ficha técnic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FICHA TÉCNICA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50292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Ficha técnica: fuentes, método y supuestos del plan</a:t>
            </a:r>
            <a:endParaRPr lang="en-US" sz="2800" dirty="0"/>
          </a:p>
        </p:txBody>
      </p:sp>
      <p:sp>
        <p:nvSpPr>
          <p:cNvPr id="3" name="Ficha Fuentes de datos"/>
          <p:cNvSpPr/>
          <p:nvPr/>
        </p:nvSpPr>
        <p:spPr>
          <a:xfrm>
            <a:off x="548640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Fuentes de datos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«Resultado Presidencial por colegios», elecciones del 19 de mayo de 2024, OCLEE Philadelphia (colegios 1253–1336)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Seccional PRM Pennsylvania: padrón por recinto y lista de recintos y colegios (47,529 electores, 84 mesas)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INDEX: Registro Sociodemográfico de los Dominicanos en el Exterior, 5.ª edición (2026)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JCE: calendario de la nueva cédula en el exterior; encuestas internas del PRM (Markestrategia y RD Elige, 2026)</a:t>
            </a:r>
            <a:endParaRPr lang="en-US" sz="1300" dirty="0"/>
          </a:p>
        </p:txBody>
      </p:sp>
      <p:sp>
        <p:nvSpPr>
          <p:cNvPr id="6" name="Ficha Método"/>
          <p:cNvSpPr/>
          <p:nvPr/>
        </p:nvSpPr>
        <p:spPr>
          <a:xfrm>
            <a:off x="4334256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62856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Método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62856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Resultados por ciudad y zona: suma de los colegios de cada recinto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Participación: votos emitidos entre electores. Apoyo: porcentaje de los votos válidos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Meta 2028: votos del PRM y aliados en 2024 (5,581) más un 10 % = 6,140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Zonas: agrupación geográfica propuesta de las 13 ciudades; líderes repartidos según los electores</a:t>
            </a:r>
            <a:endParaRPr lang="en-US" sz="1300" dirty="0"/>
          </a:p>
        </p:txBody>
      </p:sp>
      <p:sp>
        <p:nvSpPr>
          <p:cNvPr id="9" name="Ficha Supuestos y notas"/>
          <p:cNvSpPr/>
          <p:nvPr/>
        </p:nvSpPr>
        <p:spPr>
          <a:xfrm>
            <a:off x="8119872" y="1600200"/>
            <a:ext cx="3520440" cy="3703320"/>
          </a:xfrm>
          <a:prstGeom prst="roundRect">
            <a:avLst>
              <a:gd name="adj" fmla="val 20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48472" y="173736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Supuestos y notas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8348472" y="2240280"/>
            <a:ext cx="306324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Escenarios: proyección propia con supuestos de renovación de cédula, participación y apoyo (63 % como en 2024)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Red: 400 líderes con 10 personas cada uno; se estima que vota el 85 %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Padrón: 47,529 de la seccional (la JCE divulgó 47,604 en el corte preliminar)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El colegio 1259 se asignó a la Asociación de Pennsylvania (Reading) por numeración; pendiente de confirmar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54864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Preparado por: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Orlando Castillo · Octubre de 2026 · Documento de trabajo para el CAD, Seccional Pennsylvania</a:t>
            </a:r>
            <a:endParaRPr lang="en-US" sz="1300" dirty="0"/>
          </a:p>
        </p:txBody>
      </p:sp>
      <p:sp>
        <p:nvSpPr>
          <p:cNvPr id="14" name="Barra de navegación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F4F7FB"/>
          </a:solidFill>
          <a:ln w="12700">
            <a:solidFill>
              <a:srgbClr val="F4F7F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0" y="384048"/>
            <a:ext cx="12191695" cy="0"/>
          </a:xfrm>
          <a:prstGeom prst="line">
            <a:avLst/>
          </a:prstGeom>
          <a:noFill/>
          <a:ln w="9525">
            <a:solidFill>
              <a:srgbClr val="D6DEEA"/>
            </a:solidFill>
            <a:prstDash val="solid"/>
          </a:ln>
        </p:spPr>
      </p:sp>
      <p:sp>
        <p:nvSpPr>
          <p:cNvPr id="16" name="Pestaña Diagnóstico"/>
          <p:cNvSpPr txBox="1"/>
          <p:nvPr/>
        </p:nvSpPr>
        <p:spPr>
          <a:xfrm>
            <a:off x="548640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1" action="ppaction://hlinksldjump" tooltip="Ir a Diagnóstico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DIAGNÓSTICO</a:t>
            </a:r>
            <a:endParaRPr lang="en-US" sz="1000" dirty="0"/>
          </a:p>
        </p:txBody>
      </p:sp>
      <p:sp>
        <p:nvSpPr>
          <p:cNvPr id="17" name="Pestaña Resultados 2024"/>
          <p:cNvSpPr txBox="1"/>
          <p:nvPr/>
        </p:nvSpPr>
        <p:spPr>
          <a:xfrm>
            <a:off x="2766974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2" action="ppaction://hlinksldjump" tooltip="Ir a Resultados 202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RESULTADOS 2024</a:t>
            </a:r>
            <a:endParaRPr lang="en-US" sz="1000" dirty="0"/>
          </a:p>
        </p:txBody>
      </p:sp>
      <p:sp>
        <p:nvSpPr>
          <p:cNvPr id="18" name="Pestaña Meta"/>
          <p:cNvSpPr txBox="1"/>
          <p:nvPr/>
        </p:nvSpPr>
        <p:spPr>
          <a:xfrm>
            <a:off x="4985309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3" action="ppaction://hlinksldjump" tooltip="Ir a Me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META</a:t>
            </a:r>
            <a:endParaRPr lang="en-US" sz="1000" dirty="0"/>
          </a:p>
        </p:txBody>
      </p:sp>
      <p:sp>
        <p:nvSpPr>
          <p:cNvPr id="19" name="Pestaña Plan y recomendación"/>
          <p:cNvSpPr txBox="1"/>
          <p:nvPr/>
        </p:nvSpPr>
        <p:spPr>
          <a:xfrm>
            <a:off x="7203643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u="none" spc="150" kern="0" dirty="0">
                <a:solidFill>
                  <a:srgbClr val="5A6B86"/>
                </a:solidFill>
                <a:hlinkClick r:id="rId4" action="ppaction://hlinksldjump" tooltip="Ir a Plan y recomendación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PLAN Y RECOMENDACIÓN</a:t>
            </a:r>
            <a:endParaRPr lang="en-US" sz="1000" dirty="0"/>
          </a:p>
        </p:txBody>
      </p:sp>
      <p:sp>
        <p:nvSpPr>
          <p:cNvPr id="20" name="Pestaña Ficha técnica"/>
          <p:cNvSpPr txBox="1"/>
          <p:nvPr/>
        </p:nvSpPr>
        <p:spPr>
          <a:xfrm>
            <a:off x="9421978" y="0"/>
            <a:ext cx="221833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rgbClr val="002B63"/>
                </a:solidFill>
              </a:rPr>
              <a:t>FICHA TÉCNICA</a:t>
            </a:r>
            <a:endParaRPr lang="en-US" sz="1000" dirty="0"/>
          </a:p>
        </p:txBody>
      </p:sp>
      <p:sp>
        <p:nvSpPr>
          <p:cNvPr id="21" name="Sección actual"/>
          <p:cNvSpPr/>
          <p:nvPr/>
        </p:nvSpPr>
        <p:spPr>
          <a:xfrm>
            <a:off x="10087478" y="338328"/>
            <a:ext cx="887334" cy="45720"/>
          </a:xfrm>
          <a:prstGeom prst="rect">
            <a:avLst/>
          </a:prstGeom>
          <a:solidFill>
            <a:srgbClr val="DA1822"/>
          </a:solidFill>
          <a:ln w="12700">
            <a:solidFill>
              <a:srgbClr val="DA1822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D El Proximo">
  <a:themeElements>
    <a:clrScheme name="CAD El Proximo">
      <a:dk1>
        <a:srgbClr val="1B1F2A"/>
      </a:dk1>
      <a:lt1>
        <a:srgbClr val="FFFFFF"/>
      </a:lt1>
      <a:dk2>
        <a:srgbClr val="002B63"/>
      </a:dk2>
      <a:lt2>
        <a:srgbClr val="EEF2F8"/>
      </a:lt2>
      <a:accent1>
        <a:srgbClr val="002B63"/>
      </a:accent1>
      <a:accent2>
        <a:srgbClr val="DA1822"/>
      </a:accent2>
      <a:accent3>
        <a:srgbClr val="4F75AE"/>
      </a:accent3>
      <a:accent4>
        <a:srgbClr val="9AA7BD"/>
      </a:accent4>
      <a:accent5>
        <a:srgbClr val="E9A23B"/>
      </a:accent5>
      <a:accent6>
        <a:srgbClr val="2E8B57"/>
      </a:accent6>
      <a:hlink>
        <a:srgbClr val="5A6B86"/>
      </a:hlink>
      <a:folHlink>
        <a:srgbClr val="5A6B86"/>
      </a:folHlink>
    </a:clrScheme>
    <a:fontScheme name="CAD El Proximo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Estratégico Electoral Pennsylvania 2028</dc:title>
  <dc:subject>PptxGenJS Presentation</dc:subject>
  <dc:creator>Orlando Castillo</dc:creator>
  <cp:lastModifiedBy>Orlando Castillo</cp:lastModifiedBy>
  <cp:revision>1</cp:revision>
  <dcterms:created xsi:type="dcterms:W3CDTF">2026-10-21T06:07:38Z</dcterms:created>
  <dcterms:modified xsi:type="dcterms:W3CDTF">2026-10-21T06:07:38Z</dcterms:modified>
</cp:coreProperties>
</file>