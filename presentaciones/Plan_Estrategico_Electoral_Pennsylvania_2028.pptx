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91a76df9-5fe8-bf9c-1ee8-208e22408fa5}">
          <p14:sldIdLst>
            <p14:sldId id="256"/>
            <p14:sldId id="257"/>
            <p14:sldId id="258"/>
          </p14:sldIdLst>
        </p14:section>
        <p14:section name="Meta" id="{486c7e51-3daa-bb10-e402-e86248f19759}">
          <p14:sldIdLst>
            <p14:sldId id="259"/>
          </p14:sldIdLst>
        </p14:section>
        <p14:section name="Plan y recomendación" id="{315be213-0fd6-32a7-d880-b11a87dee50a}">
          <p14:sldIdLst>
            <p14:sldId id="260"/>
            <p14:sldId id="261"/>
            <p14:sldId id="262"/>
            <p14:sldId id="263"/>
          </p14:sldIdLst>
        </p14:section>
        <p14:section name="Ficha técnica" id="{92a87ed1-d9df-9741-e983-1879b9be90a3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400 líderes con 10 personas cada uno (4,000 personas).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técnica del documento: fuentes de cada dato, método de cálculo y supuestos. Todos los resultados de 2024 son oficiales de la JCE; los escenarios y la meta son proyecciones propias.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9.xml"/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chart" Target="/ppt/charts/chart2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image" Target="../media/image-3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5.xml"/><Relationship Id="rId4" Type="http://schemas.openxmlformats.org/officeDocument/2006/relationships/slide" Target="slide9.xml"/><Relationship Id="rId1" Type="http://schemas.openxmlformats.org/officeDocument/2006/relationships/chart" Target="/ppt/charts/chart3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9" Type="http://schemas.openxmlformats.org/officeDocument/2006/relationships/slide" Target="slide4.xml"/><Relationship Id="rId10" Type="http://schemas.openxmlformats.org/officeDocument/2006/relationships/slide" Target="slide9.xm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9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>
                    <a:alpha val="10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Autor"/>
          <p:cNvSpPr txBox="1"/>
          <p:nvPr/>
        </p:nvSpPr>
        <p:spPr>
          <a:xfrm>
            <a:off x="1691640" y="749808"/>
            <a:ext cx="6080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Electoral Pennsylvania 2028</a:t>
            </a:r>
            <a:endParaRPr lang="en-US" sz="2400" dirty="0"/>
          </a:p>
        </p:txBody>
      </p:sp>
      <p:sp>
        <p:nvSpPr>
          <p:cNvPr id="4" name="Marco foto"/>
          <p:cNvSpPr/>
          <p:nvPr/>
        </p:nvSpPr>
        <p:spPr>
          <a:xfrm>
            <a:off x="521208" y="630936"/>
            <a:ext cx="1060704" cy="106070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Foto Orlando Castillo" descr="Orlando Castil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8368"/>
            <a:ext cx="1005840" cy="1005840"/>
          </a:xfrm>
          <a:prstGeom prst="rect">
            <a:avLst/>
          </a:prstGeom>
        </p:spPr>
      </p:pic>
      <p:sp>
        <p:nvSpPr>
          <p:cNvPr id="6" name="Etiqueta propuesta"/>
          <p:cNvSpPr/>
          <p:nvPr/>
        </p:nvSpPr>
        <p:spPr>
          <a:xfrm>
            <a:off x="548640" y="1810512"/>
            <a:ext cx="594360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810512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bg1"/>
                </a:solidFill>
              </a:rPr>
              <a:t>PROPUESTA PARA EL CAD</a:t>
            </a:r>
            <a:pPr algn="ctr" indent="0" marL="0">
              <a:buNone/>
            </a:pPr>
            <a:r>
              <a:rPr lang="en-US" sz="1600" spc="100" kern="0" dirty="0">
                <a:solidFill>
                  <a:srgbClr val="FFD9DB"/>
                </a:solidFill>
              </a:rPr>
              <a:t>  ·  SECCIONAL PENNSYLVANIA</a:t>
            </a:r>
            <a:endParaRPr lang="en-US" sz="1600" dirty="0"/>
          </a:p>
        </p:txBody>
      </p:sp>
      <p:sp>
        <p:nvSpPr>
          <p:cNvPr id="8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8,939 votaron: 8 de cada 10 se quedaron en casa</a:t>
            </a:r>
            <a:endParaRPr lang="en-US" sz="3800" dirty="0"/>
          </a:p>
        </p:txBody>
      </p:sp>
      <p:graphicFrame>
        <p:nvGraphicFramePr>
          <p:cNvPr id="9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11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 de 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colegios ganados por el PRM y aliados en 2024</a:t>
            </a:r>
            <a:endParaRPr lang="en-US" sz="3000" dirty="0"/>
          </a:p>
        </p:txBody>
      </p:sp>
      <p:sp>
        <p:nvSpPr>
          <p:cNvPr id="13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5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7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21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3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4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6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7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4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está inscrito para votar en la seccional (21 %). Y la comunidad creció un 26 % desde 2022</a:t>
            </a:r>
            <a:endParaRPr lang="en-US" sz="2200" dirty="0"/>
          </a:p>
        </p:txBody>
      </p:sp>
      <p:sp>
        <p:nvSpPr>
          <p:cNvPr id="7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9" name="Dos tramites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Dos trámites, una sola cita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800" dirty="0"/>
          </a:p>
        </p:txBody>
      </p:sp>
      <p:sp>
        <p:nvSpPr>
          <p:cNvPr id="1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1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16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8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4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5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9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3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7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1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5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7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9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3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5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7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9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1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3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5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7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9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1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7" name="Shape 64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1" name="Shape 68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4" name="Text 71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5" name="Shape 72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8" name="Text 75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9" name="Shape 76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2" name="Text 79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3" name="Shape 80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6" name="Text 83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7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89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91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92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93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94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95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4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4,000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votos, el 55 % de la meta.</a:t>
            </a:r>
            <a:endParaRPr lang="en-US" sz="1400" dirty="0"/>
          </a:p>
        </p:txBody>
      </p:sp>
      <p:sp>
        <p:nvSpPr>
          <p:cNvPr id="6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4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2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6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META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4153433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4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6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2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5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8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1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4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por zona con el padrón actual (47,529)</a:t>
            </a:r>
            <a:endParaRPr lang="en-US" sz="1300" dirty="0"/>
          </a:p>
        </p:txBody>
      </p:sp>
      <p:sp>
        <p:nvSpPr>
          <p:cNvPr id="28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30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2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4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6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8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40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2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4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 (≈ 3,400 votos)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4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49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50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51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52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53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6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6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7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>
                    <a:alpha val="10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itulo"/>
          <p:cNvSpPr txBox="1"/>
          <p:nvPr/>
        </p:nvSpPr>
        <p:spPr>
          <a:xfrm>
            <a:off x="548640" y="502920"/>
            <a:ext cx="11091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20" name="Shape 13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3" name="Shape 15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8" name="Shape 18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9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8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30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9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31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32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3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0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votantes, David Collado puede superar en 10 % al PRM y aliados de 2024</a:t>
            </a:r>
            <a:endParaRPr lang="en-US" sz="2800" dirty="0"/>
          </a:p>
        </p:txBody>
      </p:sp>
      <p:sp>
        <p:nvSpPr>
          <p:cNvPr id="4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6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8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10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3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6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9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2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6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8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9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 de agua"/>
          <p:cNvSpPr txBox="1"/>
          <p:nvPr/>
        </p:nvSpPr>
        <p:spPr>
          <a:xfrm rot="-1200000">
            <a:off x="-320040" y="2743200"/>
            <a:ext cx="1280160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002B63">
                    <a:alpha val="8000"/>
                  </a:srgbClr>
                </a:solidFill>
              </a:rPr>
              <a:t>CONFIDENCIAL · USO INTERNO DEL CAD</a:t>
            </a:r>
            <a:endParaRPr lang="en-US" sz="4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Ficha técnica: fuentes, método y supuestos del plan</a:t>
            </a:r>
            <a:endParaRPr lang="en-US" sz="2800" dirty="0"/>
          </a:p>
        </p:txBody>
      </p:sp>
      <p:sp>
        <p:nvSpPr>
          <p:cNvPr id="4" name="Ficha Fuentes de datos"/>
          <p:cNvSpPr/>
          <p:nvPr/>
        </p:nvSpPr>
        <p:spPr>
          <a:xfrm>
            <a:off x="548640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Fuentes de datos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«Resultado Presidencial por colegios», elecciones del 19 de mayo de 2024, OCLEE Philadelphia (colegios 1253–1336)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Seccional PRM Pennsylvania: padrón por recinto y lista de recintos y colegios (47,529 electores, 84 mesas)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INDEX: Registro Sociodemográfico de los Dominicanos en el Exterior, 5.ª edición (2026)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calendario de la nueva cédula en el exterior; encuestas internas del PRM (Markestrategia y RD Elige, 2026)</a:t>
            </a:r>
            <a:endParaRPr lang="en-US" sz="1300" dirty="0"/>
          </a:p>
        </p:txBody>
      </p:sp>
      <p:sp>
        <p:nvSpPr>
          <p:cNvPr id="7" name="Ficha Método"/>
          <p:cNvSpPr/>
          <p:nvPr/>
        </p:nvSpPr>
        <p:spPr>
          <a:xfrm>
            <a:off x="4334256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2856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Método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Resultados por ciudad y zona: suma de los colegios de cada recinto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Participación: votos emitidos entre electores. Apoyo: porcentaje de los votos válidos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Meta 2028: votos del PRM y aliados en 2024 (5,581) más un 10 % = 6,140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Zonas: agrupación geográfica propuesta de las 13 ciudades; líderes repartidos según los electores</a:t>
            </a:r>
            <a:endParaRPr lang="en-US" sz="1300" dirty="0"/>
          </a:p>
        </p:txBody>
      </p:sp>
      <p:sp>
        <p:nvSpPr>
          <p:cNvPr id="10" name="Ficha Supuestos y notas"/>
          <p:cNvSpPr/>
          <p:nvPr/>
        </p:nvSpPr>
        <p:spPr>
          <a:xfrm>
            <a:off x="8119872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48472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Supuestos y notas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48472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Escenarios: proyección propia con supuestos de renovación de cédula, participación y apoyo (63 % como en 2024)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Red: 400 líderes con 10 personas cada uno; se estima que vota el 85 %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Padrón: 47,529 de la seccional (la JCE divulgó 47,604 en el corte preliminar)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Asignación de los 84 colegios a sus recintos confirmada con la Seccional PRM Pennsylvania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Preparado por: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Orlando Castillo · Octubre de 2026 · Documento de trabajo para el CAD, Seccional Pennsylvania</a:t>
            </a:r>
            <a:endParaRPr lang="en-US" sz="1300" dirty="0"/>
          </a:p>
        </p:txBody>
      </p:sp>
      <p:sp>
        <p:nvSpPr>
          <p:cNvPr id="15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7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8" name="Pestaña Meta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9" name="Pestaña Plan y recomendación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0" name="Pestaña Ficha técnica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FICHA TÉCNICA</a:t>
            </a:r>
            <a:endParaRPr lang="en-US" sz="1000" dirty="0"/>
          </a:p>
        </p:txBody>
      </p:sp>
      <p:sp>
        <p:nvSpPr>
          <p:cNvPr id="21" name="Sección actual"/>
          <p:cNvSpPr/>
          <p:nvPr/>
        </p:nvSpPr>
        <p:spPr>
          <a:xfrm>
            <a:off x="9699269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5A6B86"/>
      </a:hlink>
      <a:folHlink>
        <a:srgbClr val="5A6B86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Estratégico Electoral Pennsylvania 2028</dc:title>
  <dc:subject>PptxGenJS Presentation</dc:subject>
  <dc:creator>Orlando Castillo</dc:creator>
  <cp:lastModifiedBy>Orlando Castillo</cp:lastModifiedBy>
  <cp:revision>1</cp:revision>
  <dcterms:created xsi:type="dcterms:W3CDTF">2026-10-22T03:44:06Z</dcterms:created>
  <dcterms:modified xsi:type="dcterms:W3CDTF">2026-10-22T03:44:06Z</dcterms:modified>
</cp:coreProperties>
</file>