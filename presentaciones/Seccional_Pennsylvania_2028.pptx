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agnóstico" id="{0bcd7cfe-d963-1189-4036-76355e579cd1}">
          <p14:sldIdLst>
            <p14:sldId id="256"/>
            <p14:sldId id="257"/>
          </p14:sldIdLst>
        </p14:section>
        <p14:section name="Desafíos" id="{ae533edc-ce01-77c9-833e-1d1056d913bb}">
          <p14:sldIdLst>
            <p14:sldId id="258"/>
            <p14:sldId id="259"/>
          </p14:sldIdLst>
        </p14:section>
        <p14:section name="Escenarios y meta" id="{82bf7aed-5048-27a6-e230-548c8db8a41d}">
          <p14:sldIdLst>
            <p14:sldId id="260"/>
            <p14:sldId id="261"/>
            <p14:sldId id="262"/>
          </p14:sldIdLst>
        </p14:section>
        <p14:section name="Plan y recomendación" id="{bf1c604d-ea4c-5984-426e-c23e4bcb79f3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1822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75AE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Votaron</c:v>
                </c:pt>
                <c:pt idx="1">
                  <c:v>No votaron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8731</c:v>
                </c:pt>
                <c:pt idx="1">
                  <c:v>38798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Electores por ciudad (2024)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Electores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Philadelphia</c:v>
                  </c:pt>
                  <c:pt idx="1">
                    <c:v>Reading</c:v>
                  </c:pt>
                  <c:pt idx="2">
                    <c:v>Allentown</c:v>
                  </c:pt>
                  <c:pt idx="3">
                    <c:v>Hazleton</c:v>
                  </c:pt>
                  <c:pt idx="4">
                    <c:v>Resto (9 ciudades)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16237</c:v>
                </c:pt>
                <c:pt idx="1">
                  <c:v>8368</c:v>
                </c:pt>
                <c:pt idx="2">
                  <c:v>8183</c:v>
                </c:pt>
                <c:pt idx="3">
                  <c:v>6520</c:v>
                </c:pt>
                <c:pt idx="4">
                  <c:v>8221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Votos proyectados 2028 en la seccional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Votos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75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 real</c:v>
                  </c:pt>
                  <c:pt idx="1">
                    <c:v>Adverso</c:v>
                  </c:pt>
                  <c:pt idx="2">
                    <c:v>Inercial</c:v>
                  </c:pt>
                  <c:pt idx="3">
                    <c:v>Favorable (plan CAD)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8731</c:v>
                </c:pt>
                <c:pt idx="1">
                  <c:v>5703</c:v>
                </c:pt>
                <c:pt idx="2">
                  <c:v>8745</c:v>
                </c:pt>
                <c:pt idx="3">
                  <c:v>11550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OCLEE Philadelphia es en realidad la Seccional Pennsylvania: incluye 13 ciudades de PA y Wilmington (DE). 47,529 electores en 84 mesas y 18 recintos (documento de apoyo de la seccional; coincide con los 84 colegios del CAD y con el corte preliminar JCE de 47,604). Votaron 8,731 (dato CAD; confirmar en la Relación de votación JCE, OCLEE 614). Participación 18.4 %.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Concentrar el esfuerzo solo en la ciudad deja fuera al 66 % del padrón. Reading suma 4 recintos (La Senda I, II, III y Asociación de Pennsylvania). Allentown concentra 14 mesas en Castle of Events. Hazleton, 11 mesas en el Community Center Integration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Desafección: la abstención en el exterior pasó de 51 % (2016) a 81 % (2024); el estudio IIDH/CAPEL para la JCE analiza desafección, desinformación y logística. Nueva cédula: según la JCE, quien no renueve no podrá votar; en el exterior es por cita y culmina en enero de 2028. Centros: Philadelphia (1500 JFK Blvd, 2.º piso) y Consulado de Allentown (1710 Union Blvd). Dispersión: Reading, Noreste y Centro-Sur suman unos 22,100 electores a 40 millas o más de un centro (aproximado).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Ritmo: 47,529 electores entre ~65 semanas = unas 730 renovaciones semanales. Escenarios de habilitación: proyección propia sobre el padrón de la seccional. La JCE ya hizo operativos de empadronamiento en Lancaster y Lebanon en 2023; la entrega en el exterior se ampliará a más locales cuando los consulados obtengan autorización del Departamento de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Cálculo: Adverso 47,529 × 60 % × 20 % ≈ 5,700. Inercial 47,529 × 80 % × 23 % ≈ 8,750. Favorable 47,529 × 90 % × 27 % ≈ 11,550. Referencia 2024: 8,731 votos. Son supuestos de trabajo, no datos de la JCE.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Votos 2024 por zona: estimados al repartir los 8,731 votos reales de la seccional en proporción a los electores; por eso la abstención aparece igual (81.6 %) en todas las zonas. Para medir la abstención real de cada zona hacen falta los votos por mesa: actas de los delegados del partido o la Relación de votación JCE (OCLEE 614). Meta realista: participación del 22 % (abstención 78 %), +1,725 votos (≈ 21 por mesa). Meta ambiciosa: 25 % (abstención 75 %), +3,151 votos (≈ 38 por mesa). Referencias: abstención en el exterior 51 % en 2016; Canadá 2024 con 29 %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1+10 de la seccional (CAD): 362 comités = 3,982 personas, calculada como 40 % de los votos emitidos por colegio, redondeado al comité completo. El reparto por zona es proporcional a los electores porque no hay votos por recinto; con los votos JCE por colegio se puede afinar. La agrupación en 6 zonas es una propuesta: ajustar si la seccional usa otra división.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Ritmo de la meta: 362 comités en ~13 semanas = 28 comités por semana. Semáforo semanal: verde 28 o más, amarillo 18–27, rojo menos de 18. La fecha del 3 de octubre de 2027 es la fecha legal para primarias; el método del PRM para escoger candidato presidencial aún no está aprobado formalmente.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Encuestas internas PRM: Markestrategia (2–4 oct. 2026) 48.8 %; RD Elige (sept. 2026) 66.5 % entre simpatizantes. Collado ha dicho que aún no inicia recorridos como aspirante. Respetar los plazos de precampaña y campaña (Ley 20-23 de Régimen Electoral y Ley 33-18 de Partidos), no usar recursos públicos y obtener consentimiento expreso para los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CAD El Próximo · Seccional Pennsylvania · Circunscripción 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df-toolkit/a67bee5e-d5f3-51b1-8612-3e4feb352169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530352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CAD El Próximo · Seccional Pennsylvania · Circunscripción I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fondo"/>
          <p:cNvSpPr/>
          <p:nvPr/>
        </p:nvSpPr>
        <p:spPr>
          <a:xfrm>
            <a:off x="548640" y="457200"/>
            <a:ext cx="210312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/tmp/claude-0/-home-user-pdf-toolkit/a67bee5e-d5f3-51b1-8612-3e4feb352169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883664" cy="11064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4"/>
                </a:solidFill>
              </a:rPr>
              <a:t>SECCIONAL PENNSYLVANIA · CIRCUNSCRIPCIÓN I · RUMBO A MAYO 2028</a:t>
            </a:r>
            <a:endParaRPr lang="en-US" sz="13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24688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47,529 electores, solo 8,731 votaron: 8 de cada 10 se quedaron en casa</a:t>
            </a:r>
            <a:endParaRPr lang="en-US" sz="3800" dirty="0"/>
          </a:p>
        </p:txBody>
      </p:sp>
      <p:graphicFrame>
        <p:nvGraphicFramePr>
          <p:cNvPr id="6" name="Participacion" descr=""/>
          <p:cNvGraphicFramePr/>
          <p:nvPr/>
        </p:nvGraphicFramePr>
        <p:xfrm>
          <a:off x="8092440" y="8229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73252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18.4 %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participación 2024</a:t>
            </a:r>
            <a:endParaRPr lang="en-US" sz="4000" dirty="0"/>
          </a:p>
        </p:txBody>
      </p:sp>
      <p:sp>
        <p:nvSpPr>
          <p:cNvPr id="8" name="Dato 1"/>
          <p:cNvSpPr/>
          <p:nvPr/>
        </p:nvSpPr>
        <p:spPr>
          <a:xfrm>
            <a:off x="548640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84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mesas electorales</a:t>
            </a:r>
            <a:endParaRPr lang="en-US" sz="3000" dirty="0"/>
          </a:p>
        </p:txBody>
      </p:sp>
      <p:sp>
        <p:nvSpPr>
          <p:cNvPr id="10" name="Dato 2"/>
          <p:cNvSpPr/>
          <p:nvPr/>
        </p:nvSpPr>
        <p:spPr>
          <a:xfrm>
            <a:off x="3364992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93592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18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recintos</a:t>
            </a:r>
            <a:endParaRPr lang="en-US" sz="3000" dirty="0"/>
          </a:p>
        </p:txBody>
      </p:sp>
      <p:sp>
        <p:nvSpPr>
          <p:cNvPr id="12" name="Dato 3"/>
          <p:cNvSpPr/>
          <p:nvPr/>
        </p:nvSpPr>
        <p:spPr>
          <a:xfrm>
            <a:off x="6181344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9944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13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ciudades (PA y DE)</a:t>
            </a:r>
            <a:endParaRPr lang="en-US" sz="3000" dirty="0"/>
          </a:p>
        </p:txBody>
      </p:sp>
      <p:sp>
        <p:nvSpPr>
          <p:cNvPr id="14" name="Dato 4"/>
          <p:cNvSpPr/>
          <p:nvPr/>
        </p:nvSpPr>
        <p:spPr>
          <a:xfrm>
            <a:off x="8997696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226296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38,798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inscritos no votaron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Fuente: padrón por recinto, Seccional PRM Pennsylvania (2024) · Votos emitidos JCE 2024 (OCLEE Philadelphia)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66 % del electorado vive fuera de Philadelphia: Reading, Allentown y Hazleton deciden la seccional</a:t>
            </a:r>
            <a:endParaRPr lang="en-US" sz="2800" dirty="0"/>
          </a:p>
        </p:txBody>
      </p:sp>
      <p:graphicFrame>
        <p:nvGraphicFramePr>
          <p:cNvPr id="3" name="Electores por ciudad" descr=""/>
          <p:cNvGraphicFramePr/>
          <p:nvPr/>
        </p:nvGraphicFramePr>
        <p:xfrm>
          <a:off x="548640" y="16002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1"/>
          <p:cNvSpPr/>
          <p:nvPr/>
        </p:nvSpPr>
        <p:spPr>
          <a:xfrm>
            <a:off x="7726680" y="1691640"/>
            <a:ext cx="391363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801368"/>
            <a:ext cx="3474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48.5 %</a:t>
            </a:r>
            <a:endParaRPr lang="en-US" sz="3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del padrón está en Reading, Allentown y Hazleton: 23,071 electores, más que toda la ciudad de Philadelphia</a:t>
            </a:r>
            <a:endParaRPr lang="en-US" sz="3600" dirty="0"/>
          </a:p>
        </p:txBody>
      </p:sp>
      <p:sp>
        <p:nvSpPr>
          <p:cNvPr id="6" name="Tarjeta 2"/>
          <p:cNvSpPr/>
          <p:nvPr/>
        </p:nvSpPr>
        <p:spPr>
          <a:xfrm>
            <a:off x="7726680" y="3794760"/>
            <a:ext cx="391363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3904488"/>
            <a:ext cx="3474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25 mesas</a:t>
            </a:r>
            <a:endParaRPr lang="en-US" sz="3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solo 2 recintos: Allentown (14) y Hazleton (11). Máxima cobertura con mínima estructura</a:t>
            </a:r>
            <a:endParaRPr lang="en-US" sz="36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Fuente: Seccional PRM Pennsylvania, Recintos y Colegios Electorales 2024 (18 recintos, 84 mesas, 47,529 electores)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Tres obstáculos pueden reducir el voto de 2028: desafección, nueva cédula y dispersión</a:t>
            </a:r>
            <a:endParaRPr lang="en-US" sz="2800" dirty="0"/>
          </a:p>
        </p:txBody>
      </p:sp>
      <p:sp>
        <p:nvSpPr>
          <p:cNvPr id="3" name="Desafio 1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Desafección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51 % → 81 %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abstención en el exterior, 2016 frente a 2024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la seccional, el 81.6 % no votó en 2024. El votante no ve relación entre su voto y su vida en EE. UU.</a:t>
            </a:r>
            <a:endParaRPr lang="en-US" sz="1500" dirty="0"/>
          </a:p>
        </p:txBody>
      </p:sp>
      <p:sp>
        <p:nvSpPr>
          <p:cNvPr id="9" name="Desafio 2"/>
          <p:cNvSpPr/>
          <p:nvPr/>
        </p:nvSpPr>
        <p:spPr>
          <a:xfrm>
            <a:off x="4334256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8576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933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2976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Nueva cédula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7889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Enero 2028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 de la renovación en el exterior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 cédula nueva no se vota. Solo por cita y con 2 centros en la zona: Philadelphia y Allentown.</a:t>
            </a:r>
            <a:endParaRPr lang="en-US" sz="1500" dirty="0"/>
          </a:p>
        </p:txBody>
      </p:sp>
      <p:sp>
        <p:nvSpPr>
          <p:cNvPr id="15" name="Desafio 3"/>
          <p:cNvSpPr/>
          <p:nvPr/>
        </p:nvSpPr>
        <p:spPr>
          <a:xfrm>
            <a:off x="8119872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94192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99339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08592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Dispersión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7889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46 %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 padrón vive a 40 millas o más de un centro de cedulación</a:t>
            </a:r>
            <a:endParaRPr lang="en-US" sz="3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 ciudades en unas 150 millas. Cada voto cuesta más tiempo y más transporte.</a:t>
            </a:r>
            <a:endParaRPr lang="en-US" sz="1500" dirty="0"/>
          </a:p>
        </p:txBody>
      </p:sp>
      <p:sp>
        <p:nvSpPr>
          <p:cNvPr id="21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estudio IIDH/CAPEL para la JCE (abstención 2024); JCE, calendario de la nueva cédula en el exterior; distancias aproximadas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Cada elector sin cédula nueva es un voto perdido: quedan 15 meses para habilitar a 47,529 personas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80160" y="1965960"/>
            <a:ext cx="96926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144" y="1837944"/>
            <a:ext cx="256032" cy="256032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May 2026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Inicia la renovación en el exterior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5304" y="1837944"/>
            <a:ext cx="256032" cy="256032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Oct 2026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Arranque del plan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98464" y="1837944"/>
            <a:ext cx="256032" cy="256032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Abr 2027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Cédula antigua deja de aceptarse en RD*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21624" y="183794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Ene 2028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Cierre de la renovación en el exterior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844784" y="1837944"/>
            <a:ext cx="256032" cy="256032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May 2028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Elecciones generales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91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Escenarios de habilitación (proyección)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6309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Renovación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Habilitados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No podrán votar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90 %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42,776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4,753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70 %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33,270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14,259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50 %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23,765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23,764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Acciones cedula"/>
          <p:cNvSpPr/>
          <p:nvPr/>
        </p:nvSpPr>
        <p:spPr>
          <a:xfrm>
            <a:off x="7223760" y="3291840"/>
            <a:ext cx="4416552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52360" y="342900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730 renovaciones por semana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ritmo necesario hasta enero de 2028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Pedir a la JCE operativos móviles en Hazleton, Reading y Lancaster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Viajes en grupo con cita previa a Allentown y Philadelphia</a:t>
            </a:r>
            <a:endParaRPr lang="en-US" sz="2200" dirty="0"/>
          </a:p>
        </p:txBody>
      </p:sp>
      <p:sp>
        <p:nvSpPr>
          <p:cNvPr id="18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JCE, nueva cédula en el exterior (por cita, cierre en enero de 2028). *Confirmar con la JCE si el corte de abril de 2027 aplica al exterior.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Sin un plan, la seccional puede perder un tercio de sus votos; con el plan, puede crecer un 32 %</a:t>
            </a:r>
            <a:endParaRPr lang="en-US" sz="2800" dirty="0"/>
          </a:p>
        </p:txBody>
      </p:sp>
      <p:graphicFrame>
        <p:nvGraphicFramePr>
          <p:cNvPr id="3" name="Escenarios" descr=""/>
          <p:cNvGraphicFramePr/>
          <p:nvPr/>
        </p:nvGraphicFramePr>
        <p:xfrm>
          <a:off x="548640" y="1600200"/>
          <a:ext cx="60350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scenario Adverso"/>
          <p:cNvSpPr/>
          <p:nvPr/>
        </p:nvSpPr>
        <p:spPr>
          <a:xfrm>
            <a:off x="6949440" y="1691640"/>
            <a:ext cx="46908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0" y="16916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−35 %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691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Adverso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60 % renueva la cédula · vota el 20 % de los habilitados</a:t>
            </a:r>
            <a:endParaRPr lang="en-US" sz="1600" dirty="0"/>
          </a:p>
        </p:txBody>
      </p:sp>
      <p:sp>
        <p:nvSpPr>
          <p:cNvPr id="7" name="Escenario Inercial"/>
          <p:cNvSpPr/>
          <p:nvPr/>
        </p:nvSpPr>
        <p:spPr>
          <a:xfrm>
            <a:off x="6949440" y="2770632"/>
            <a:ext cx="46908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≈ 0 %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7706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Inercial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80 % renueva · vota el 23 %</a:t>
            </a:r>
            <a:endParaRPr lang="en-US" sz="1600" dirty="0"/>
          </a:p>
        </p:txBody>
      </p:sp>
      <p:sp>
        <p:nvSpPr>
          <p:cNvPr id="10" name="Escenario Favorable"/>
          <p:cNvSpPr/>
          <p:nvPr/>
        </p:nvSpPr>
        <p:spPr>
          <a:xfrm>
            <a:off x="6949440" y="3849624"/>
            <a:ext cx="46908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3849624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+32 %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84962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Favorable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90 % renueva · vota el 27 % (plan CAD en marcha)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29200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 que más separa un escenario de otro es la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renovación de la cédula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no la persuasión.</a:t>
            </a:r>
            <a:endParaRPr lang="en-US" sz="1600" dirty="0"/>
          </a:p>
        </p:txBody>
      </p:sp>
      <p:sp>
        <p:nvSpPr>
          <p:cNvPr id="14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Proyección propia sobre 47,529 electores. Supuestos de renovación y participación explícitos; actualizar con el avance real de la cédula.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Bajar la abstención de 81.6 % a 78 % suma unos 1,700 votos; llegar a 75 % suma 3,150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14400"/>
                <a:gridCol w="1051560"/>
                <a:gridCol w="1051560"/>
                <a:gridCol w="141732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Zona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Electores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Votaron 2024*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Abstención*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Realista: 78 %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Ambiciosa: 75 %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Philadelphia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16,237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2,984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3,572 (+588)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4,059 (+1,075)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Berks (Reading)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8,368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1,537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1,841 (+304)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2,092 (+555)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Noreste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8,287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1,522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1,823 (+301)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2,072 (+550)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Lehigh Valley (Allentown)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8,183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1,503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1,800 (+297)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2,046 (+543)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Centro-Sur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5,450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1,001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1,199 (+198)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1,362 (+361)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Delaware (Wilmington)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1,004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221 (+37)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251 (+67)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Seccional (real)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47,529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8,731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81.6 %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10,456 (+1,725)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11,882 (+3,151)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or que realista"/>
          <p:cNvSpPr/>
          <p:nvPr/>
        </p:nvSpPr>
        <p:spPr>
          <a:xfrm>
            <a:off x="8732520" y="1600200"/>
            <a:ext cx="290779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15400" y="169164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¿Por qué 78 % es realista?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Exterior 2016: 51 % de abstención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Canadá 2024: 71 %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Solo hay que recuperar 3.6 puntos: unos 21 votos más por mesa</a:t>
            </a:r>
            <a:endParaRPr lang="en-US" sz="1600" dirty="0"/>
          </a:p>
        </p:txBody>
      </p:sp>
      <p:sp>
        <p:nvSpPr>
          <p:cNvPr id="6" name="Dato real por zona"/>
          <p:cNvSpPr/>
          <p:nvPr/>
        </p:nvSpPr>
        <p:spPr>
          <a:xfrm>
            <a:off x="8732520" y="4023360"/>
            <a:ext cx="2907792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5400" y="41148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Para tener el dato real por zona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Usar las actas de cada mesa (delegados del partido) o la Relación de votación JCE, OCLEE 614.</a:t>
            </a:r>
            <a:endParaRPr lang="en-US" sz="15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*Por zona: estimado con la participación real de la seccional (18.4 %), a falta de actas por mesa. Total seccional: dato real JCE 2024. Metas: proyección propia.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3,982 personas en 362 comités: cada zona sabe cuántas personas debe organizar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1051560"/>
                <a:gridCol w="96012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Zona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Mesas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Electores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Comités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Personas 1+10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Philadelphia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16,237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1,364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Berks (Reading)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8,368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Noreste (Hazleton, Wilkes-Barre, Scranton)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8,287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Lehigh Valley (Allentown)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8,183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682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Centro-Sur (Harrisburg, Lancaster, York, Lebanon)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5,450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Delaware (Wilmington)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84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47,529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362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3,982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Regla nueva"/>
          <p:cNvSpPr/>
          <p:nvPr/>
        </p:nvSpPr>
        <p:spPr>
          <a:xfrm>
            <a:off x="8503920" y="1600200"/>
            <a:ext cx="3136392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73736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Regla nueva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 integrante cuenta como validado solo si tiene la cédula nueva.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La red 1+10 se convierte en el canal de renovación.</a:t>
            </a:r>
            <a:endParaRPr lang="en-US" sz="1800" dirty="0"/>
          </a:p>
        </p:txBody>
      </p:sp>
      <p:sp>
        <p:nvSpPr>
          <p:cNvPr id="6" name="Comites por mesa"/>
          <p:cNvSpPr/>
          <p:nvPr/>
        </p:nvSpPr>
        <p:spPr>
          <a:xfrm>
            <a:off x="8503920" y="4343400"/>
            <a:ext cx="313639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443484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≈ 4.3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comités de 11 personas por mesa</a:t>
            </a:r>
            <a:endParaRPr lang="en-US" sz="32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Mesas y electores: Seccional PRM Pennsylvania. Comités repartidos en proporción a los electores; zonas agrupadas por cercanía geográfica (propuesta).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Cuatro etapas hacia mayo de 2028: habilitar primero, movilizar al final</a:t>
            </a:r>
            <a:endParaRPr lang="en-US" sz="2800" dirty="0"/>
          </a:p>
        </p:txBody>
      </p:sp>
      <p:sp>
        <p:nvSpPr>
          <p:cNvPr id="3" name="Etapa 1"/>
          <p:cNvSpPr/>
          <p:nvPr/>
        </p:nvSpPr>
        <p:spPr>
          <a:xfrm>
            <a:off x="548640" y="16002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Instalar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Nov 2026 – feb 2027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coordinadores de zona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18 responsables de recinto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100 % de la red 1+10 con cédula nueva</a:t>
            </a:r>
            <a:endParaRPr lang="en-US" sz="1400" dirty="0"/>
          </a:p>
        </p:txBody>
      </p:sp>
      <p:sp>
        <p:nvSpPr>
          <p:cNvPr id="8" name="Etapa 2"/>
          <p:cNvSpPr/>
          <p:nvPr/>
        </p:nvSpPr>
        <p:spPr>
          <a:xfrm>
            <a:off x="3364992" y="16002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Habilitar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Mar – sep 2027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291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362 comités validados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60 % o más del padrón renovado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Operativos móviles en marcha</a:t>
            </a:r>
            <a:endParaRPr lang="en-US" sz="1400" dirty="0"/>
          </a:p>
        </p:txBody>
      </p:sp>
      <p:sp>
        <p:nvSpPr>
          <p:cNvPr id="13" name="Etapa 3"/>
          <p:cNvSpPr/>
          <p:nvPr/>
        </p:nvSpPr>
        <p:spPr>
          <a:xfrm>
            <a:off x="6181344" y="16002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Consolidar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Oct 2027 – ene 2028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291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Proceso interno del partido (fecha legal: 3 oct 2027)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90 % o más renovado antes del cierre del padrón</a:t>
            </a:r>
            <a:endParaRPr lang="en-US" sz="1400" dirty="0"/>
          </a:p>
        </p:txBody>
      </p:sp>
      <p:sp>
        <p:nvSpPr>
          <p:cNvPr id="18" name="Etapa 4"/>
          <p:cNvSpPr/>
          <p:nvPr/>
        </p:nvSpPr>
        <p:spPr>
          <a:xfrm>
            <a:off x="8997696" y="16002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Movilizar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Feb – may 2028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291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Delegado y suplente en las 84 mesas (168)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Transporte por zona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Plan del día de la elección</a:t>
            </a:r>
            <a:endParaRPr lang="en-US" sz="1400" dirty="0"/>
          </a:p>
        </p:txBody>
      </p:sp>
      <p:sp>
        <p:nvSpPr>
          <p:cNvPr id="23" name="Indicadores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2120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Corte semanal: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comités validados · cédulas renovadas en la red · mesas con delegado · semáforo por zona.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Alerta: menos de 80 comités en la semana 4 → reasignar recursos y replanificar.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ganar Pennsylvania con David Collado: primero habilitar, después convencer y finalmente movilizar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Collado encabeza las preferencias internas del PRM (48.8 %, Markestrategia, oct. 2026). Esa ventaja solo cuenta si los electores pueden votar.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7685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cédula como puerta de entrada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Citas, viajes en grupo y puntos de apoyo: servicio antes que petición de voto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9125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Agenda de la diáspora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Consulados, remesas, vivienda e inversión; validarla en 6 encuentros de escucha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056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9844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Priorizar donde rinde más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Allentown y Hazleton (25 mesas, 2 recintos) y Reading (18 % del padrón)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48737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98448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Líderes con credibilidad local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8 de 18 recintos son iglesias y centros comunitarios: de ahí salen los responsables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21792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7685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6772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Una sola estructura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Coordinar con la Seccional PRM Pennsylvania; la división interna resta votos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21792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9125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6772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Medir cada semana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CRM con registros únicos y cédula verificada; corte semanal por zona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621792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10565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772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Cumplir la ley en todo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Leyes 20-23 y 33-18, sin recursos públicos, datos con consentimiento expreso</a:t>
            </a:r>
            <a:endParaRPr lang="en-US" sz="1600" dirty="0"/>
          </a:p>
        </p:txBody>
      </p:sp>
      <p:sp>
        <p:nvSpPr>
          <p:cNvPr id="25" name="Decision"/>
          <p:cNvSpPr/>
          <p:nvPr/>
        </p:nvSpPr>
        <p:spPr>
          <a:xfrm>
            <a:off x="6217920" y="4800600"/>
            <a:ext cx="542239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446520" y="48463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Decisión que se pide hoy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Aprobar el plan, nombrar a los 6 coordinadores de zona e iniciar la Etapa 1 en noviembre.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 El Proximo">
  <a:themeElements>
    <a:clrScheme name="CAD El Proximo">
      <a:dk1>
        <a:srgbClr val="1B1F2A"/>
      </a:dk1>
      <a:lt1>
        <a:srgbClr val="FFFFFF"/>
      </a:lt1>
      <a:dk2>
        <a:srgbClr val="002B63"/>
      </a:dk2>
      <a:lt2>
        <a:srgbClr val="EEF2F8"/>
      </a:lt2>
      <a:accent1>
        <a:srgbClr val="002B63"/>
      </a:accent1>
      <a:accent2>
        <a:srgbClr val="DA1822"/>
      </a:accent2>
      <a:accent3>
        <a:srgbClr val="4F75AE"/>
      </a:accent3>
      <a:accent4>
        <a:srgbClr val="9AA7BD"/>
      </a:accent4>
      <a:accent5>
        <a:srgbClr val="E9A23B"/>
      </a:accent5>
      <a:accent6>
        <a:srgbClr val="2E8B57"/>
      </a:accent6>
      <a:hlink>
        <a:srgbClr val="4F75AE"/>
      </a:hlink>
      <a:folHlink>
        <a:srgbClr val="9AA7BD"/>
      </a:folHlink>
    </a:clrScheme>
    <a:fontScheme name="CAD El Proxi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Seccional Pennsylvania · Plan 2028</dc:title>
  <dc:subject>PptxGenJS Presentation</dc:subject>
  <dc:creator>CAD El Próximo</dc:creator>
  <cp:lastModifiedBy>CAD El Próximo</cp:lastModifiedBy>
  <cp:revision>1</cp:revision>
  <dcterms:created xsi:type="dcterms:W3CDTF">2026-10-21T01:26:01Z</dcterms:created>
  <dcterms:modified xsi:type="dcterms:W3CDTF">2026-10-21T01:26:01Z</dcterms:modified>
</cp:coreProperties>
</file>